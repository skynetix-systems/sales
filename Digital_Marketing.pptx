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F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822960"/>
            <a:ext cx="2103120" cy="2103120"/>
          </a:xfrm>
          <a:prstGeom prst="ellipse">
            <a:avLst/>
          </a:prstGeom>
          <a:solidFill>
            <a:srgbClr val="2A6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2468880"/>
            <a:ext cx="1188720" cy="1188720"/>
          </a:xfrm>
          <a:prstGeom prst="ellipse">
            <a:avLst/>
          </a:prstGeom>
          <a:solidFill>
            <a:srgbClr val="12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046720" y="3931920"/>
            <a:ext cx="822960" cy="822960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15600" y="4663440"/>
            <a:ext cx="640080" cy="640080"/>
          </a:xfrm>
          <a:prstGeom prst="ellipse">
            <a:avLst/>
          </a:prstGeom>
          <a:solidFill>
            <a:srgbClr val="12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731520"/>
            <a:ext cx="6400800" cy="365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200" b="1">
                <a:solidFill>
                  <a:srgbClr val="12A0A0"/>
                </a:solidFill>
                <a:latin typeface="Aptos"/>
              </a:defRPr>
            </a:pPr>
            <a:r>
              <a:t>SKILLS • STRATEGY • EXECUTION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7772400" cy="12801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ptos"/>
              </a:defRPr>
            </a:pPr>
            <a:r>
              <a:t>DIGITAL MARKETING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063240"/>
            <a:ext cx="7040880" cy="12801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2100" b="0">
                <a:solidFill>
                  <a:srgbClr val="D2DEEF"/>
                </a:solidFill>
                <a:latin typeface="Aptos"/>
              </a:defRPr>
            </a:pPr>
            <a:r>
              <a:t>A practical playbook: research, website, content, SEO, social, ads, email and analytics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080760"/>
            <a:ext cx="7315200" cy="274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000" b="0">
                <a:solidFill>
                  <a:srgbClr val="AABED7"/>
                </a:solidFill>
                <a:latin typeface="Aptos"/>
              </a:defRPr>
            </a:pPr>
            <a:r>
              <a:t>Original study deck based on public course outline • October 2026</a:t>
            </a:r>
          </a:p>
        </p:txBody>
      </p:sp>
      <p:pic>
        <p:nvPicPr>
          <p:cNvPr id="10" name="Picture 9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6144768"/>
            <a:ext cx="1783080" cy="6588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2700" b="1">
                <a:solidFill>
                  <a:srgbClr val="121F38"/>
                </a:solidFill>
                <a:latin typeface="Aptos"/>
              </a:defRPr>
            </a:pPr>
            <a:r>
              <a:t>How to use this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914400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900" b="1">
                <a:solidFill>
                  <a:srgbClr val="12A0A0"/>
                </a:solidFill>
                <a:latin typeface="Aptos"/>
              </a:defRPr>
            </a:pPr>
            <a:r>
              <a:t>START 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6400800" cy="16459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800" b="1">
                <a:solidFill>
                  <a:srgbClr val="5F6C7D"/>
                </a:solidFill>
                <a:latin typeface="Aptos"/>
              </a:defRPr>
            </a:pPr>
            <a:r>
              <a:t>DIGITAL MARKETING • PRACTICAL LEARNING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365760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800" b="0">
                <a:solidFill>
                  <a:srgbClr val="5F6C7D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Structured learning guide and workbook; pair it with hands-on practice.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47672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Core topics follow the public outline of The Complete Digital Marketing Course – 12 Courses in 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9464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Modern practice notes cover AI-assisted workflows, privacy-aware measurement and conversion testing.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91256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Platform interfaces and policies change; verify details in official documentation.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5623560"/>
            <a:ext cx="10881360" cy="566928"/>
          </a:xfrm>
          <a:prstGeom prst="roundRect">
            <a:avLst/>
          </a:prstGeom>
          <a:solidFill>
            <a:srgbClr val="E0F6F4"/>
          </a:solidFill>
          <a:ln>
            <a:solidFill>
              <a:srgbClr val="E0F6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5696712"/>
            <a:ext cx="10515600" cy="365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400" b="1">
                <a:solidFill>
                  <a:srgbClr val="121F38"/>
                </a:solidFill>
                <a:latin typeface="Aptos"/>
              </a:defRPr>
            </a:pPr>
            <a:r>
              <a:t>Learning loop: understand → build → publish → measure → improve.</a:t>
            </a:r>
          </a:p>
        </p:txBody>
      </p:sp>
      <p:pic>
        <p:nvPicPr>
          <p:cNvPr id="13" name="Picture 12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6144768"/>
            <a:ext cx="1783080" cy="6588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2700" b="1">
                <a:solidFill>
                  <a:srgbClr val="121F38"/>
                </a:solidFill>
                <a:latin typeface="Aptos"/>
              </a:defRPr>
            </a:pPr>
            <a:r>
              <a:t>Learning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914400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900" b="1">
                <a:solidFill>
                  <a:srgbClr val="12A0A0"/>
                </a:solidFill>
                <a:latin typeface="Aptos"/>
              </a:defRPr>
            </a:pPr>
            <a:r>
              <a:t>START 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6400800" cy="16459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800" b="1">
                <a:solidFill>
                  <a:srgbClr val="5F6C7D"/>
                </a:solidFill>
                <a:latin typeface="Aptos"/>
              </a:defRPr>
            </a:pPr>
            <a:r>
              <a:t>DIGITAL MARKETING • PRACTICAL LEARNING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365760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800" b="0">
                <a:solidFill>
                  <a:srgbClr val="5F6C7D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Define a target audience, validate demand and map a customer journey.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47672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Plan a website or landing page with a clear call to action.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9464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Create copy and content for search, email, social and video.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91256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Understand SEO, paid search, paid social, LinkedIn and app promotion.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13048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Measure performance and build a 30-day launch plan.</a:t>
            </a:r>
          </a:p>
        </p:txBody>
      </p:sp>
      <p:pic>
        <p:nvPicPr>
          <p:cNvPr id="12" name="Picture 1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6144768"/>
            <a:ext cx="1783080" cy="6588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2700" b="1">
                <a:solidFill>
                  <a:srgbClr val="121F38"/>
                </a:solidFill>
                <a:latin typeface="Aptos"/>
              </a:defRPr>
            </a:pPr>
            <a:r>
              <a:t>The digital marketing growth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914400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900" b="1">
                <a:solidFill>
                  <a:srgbClr val="12A0A0"/>
                </a:solidFill>
                <a:latin typeface="Aptos"/>
              </a:defRPr>
            </a:pPr>
            <a:r>
              <a:t>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6400800" cy="16459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800" b="1">
                <a:solidFill>
                  <a:srgbClr val="5F6C7D"/>
                </a:solidFill>
                <a:latin typeface="Aptos"/>
              </a:defRPr>
            </a:pPr>
            <a:r>
              <a:t>DIGITAL MARKETING • PRACTICAL LEARNING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365760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800" b="0">
                <a:solidFill>
                  <a:srgbClr val="5F6C7D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Research: learn who has the problem and what they need.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47672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Position: explain why your offer is relevant and different.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9464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Attract: earn attention through search, social, video and partnerships.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91256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Convert: turn visits into enquiries, sign-ups, purchases or bookings.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13048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Nurture: follow up with useful, permission-based communication.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434840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Measure: connect activity to leads, revenue and retention.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5623560"/>
            <a:ext cx="10881360" cy="566928"/>
          </a:xfrm>
          <a:prstGeom prst="roundRect">
            <a:avLst/>
          </a:prstGeom>
          <a:solidFill>
            <a:srgbClr val="E0F6F4"/>
          </a:solidFill>
          <a:ln>
            <a:solidFill>
              <a:srgbClr val="E0F6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5696712"/>
            <a:ext cx="10515600" cy="365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400" b="1">
                <a:solidFill>
                  <a:srgbClr val="121F38"/>
                </a:solidFill>
                <a:latin typeface="Aptos"/>
              </a:defRPr>
            </a:pPr>
            <a:r>
              <a:t>Start with the customer and a measurable goal—not with random posting.</a:t>
            </a:r>
          </a:p>
        </p:txBody>
      </p:sp>
      <p:pic>
        <p:nvPicPr>
          <p:cNvPr id="15" name="Picture 14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6144768"/>
            <a:ext cx="1783080" cy="6588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F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822960"/>
            <a:ext cx="1188720" cy="640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3400" b="1">
                <a:solidFill>
                  <a:srgbClr val="F4B400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74519"/>
            <a:ext cx="10058400" cy="10972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"/>
              </a:defRPr>
            </a:pPr>
            <a:r>
              <a:t>01 | Market research &amp; positioning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200400"/>
            <a:ext cx="9144000" cy="10972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2000" b="0">
                <a:solidFill>
                  <a:srgbClr val="D2DEEF"/>
                </a:solidFill>
                <a:latin typeface="Aptos"/>
              </a:defRPr>
            </a:pPr>
            <a:r>
              <a:t>Find a real customer problem before investing time or advertising budget.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4937760"/>
            <a:ext cx="1828800" cy="73152"/>
          </a:xfrm>
          <a:prstGeom prst="rect">
            <a:avLst/>
          </a:prstGeom>
          <a:solidFill>
            <a:srgbClr val="12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6400800" cy="16459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800" b="1">
                <a:solidFill>
                  <a:srgbClr val="AABED7"/>
                </a:solidFill>
                <a:latin typeface="Aptos"/>
              </a:defRPr>
            </a:pPr>
            <a:r>
              <a:t>DIGITAL MARKETING • PRACTICAL LEARNING DECK</a:t>
            </a:r>
          </a:p>
        </p:txBody>
      </p:sp>
      <p:pic>
        <p:nvPicPr>
          <p:cNvPr id="7" name="Picture 6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6144768"/>
            <a:ext cx="1783080" cy="6588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2700" b="1">
                <a:solidFill>
                  <a:srgbClr val="121F38"/>
                </a:solidFill>
                <a:latin typeface="Aptos"/>
              </a:defRPr>
            </a:pPr>
            <a:r>
              <a:t>Define a specific audience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914400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900" b="1">
                <a:solidFill>
                  <a:srgbClr val="12A0A0"/>
                </a:solidFill>
                <a:latin typeface="Aptos"/>
              </a:defRPr>
            </a:pPr>
            <a:r>
              <a:t>MARKET 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6400800" cy="16459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800" b="1">
                <a:solidFill>
                  <a:srgbClr val="5F6C7D"/>
                </a:solidFill>
                <a:latin typeface="Aptos"/>
              </a:defRPr>
            </a:pPr>
            <a:r>
              <a:t>DIGITAL MARKETING • PRACTICAL LEARNING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365760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800" b="0">
                <a:solidFill>
                  <a:srgbClr val="5F6C7D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Segment by problem, role, location, budget, urgency and buying situation.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47672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Avoid “everyone” as the target audience; narrow segments improve message clarity.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9464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Separate users, buyers, influencers and decision-makers where needed.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91256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Positioning template: “We help [audience] achieve [outcome] without [frustration].”</a:t>
            </a:r>
          </a:p>
        </p:txBody>
      </p:sp>
      <p:pic>
        <p:nvPicPr>
          <p:cNvPr id="11" name="Picture 10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6144768"/>
            <a:ext cx="1783080" cy="6588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2700" b="1">
                <a:solidFill>
                  <a:srgbClr val="121F38"/>
                </a:solidFill>
                <a:latin typeface="Aptos"/>
              </a:defRPr>
            </a:pPr>
            <a:r>
              <a:t>Validate demand with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914400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900" b="1">
                <a:solidFill>
                  <a:srgbClr val="12A0A0"/>
                </a:solidFill>
                <a:latin typeface="Aptos"/>
              </a:defRPr>
            </a:pPr>
            <a:r>
              <a:t>MARKET 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6400800" cy="16459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800" b="1">
                <a:solidFill>
                  <a:srgbClr val="5F6C7D"/>
                </a:solidFill>
                <a:latin typeface="Aptos"/>
              </a:defRPr>
            </a:pPr>
            <a:r>
              <a:t>DIGITAL MARKETING • PRACTICAL LEARNING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365760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800" b="0">
                <a:solidFill>
                  <a:srgbClr val="5F6C7D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Interview 5–10 people who resemble the intended customer.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47672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Ask what they tried, what failed, what the problem costs and what they do today.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9464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Use surveys to validate patterns, not as a substitute for deeper conversations.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91256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Review customer questions, competitor reviews and community discussions.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13048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Test a simple landing page or offer before building a large product.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5623560"/>
            <a:ext cx="10881360" cy="566928"/>
          </a:xfrm>
          <a:prstGeom prst="roundRect">
            <a:avLst/>
          </a:prstGeom>
          <a:solidFill>
            <a:srgbClr val="E0F6F4"/>
          </a:solidFill>
          <a:ln>
            <a:solidFill>
              <a:srgbClr val="E0F6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696712"/>
            <a:ext cx="10515600" cy="365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400" b="1">
                <a:solidFill>
                  <a:srgbClr val="121F38"/>
                </a:solidFill>
                <a:latin typeface="Aptos"/>
              </a:defRPr>
            </a:pPr>
            <a:r>
              <a:t>Evidence beats enthusiasm: validate the problem, buyer and willingness to act.</a:t>
            </a:r>
          </a:p>
        </p:txBody>
      </p:sp>
      <p:pic>
        <p:nvPicPr>
          <p:cNvPr id="14" name="Picture 13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6144768"/>
            <a:ext cx="1783080" cy="6588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2700" b="1">
                <a:solidFill>
                  <a:srgbClr val="121F38"/>
                </a:solidFill>
                <a:latin typeface="Aptos"/>
              </a:defRPr>
            </a:pPr>
            <a:r>
              <a:t>Buyer persona essentials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914400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900" b="1">
                <a:solidFill>
                  <a:srgbClr val="12A0A0"/>
                </a:solidFill>
                <a:latin typeface="Aptos"/>
              </a:defRPr>
            </a:pPr>
            <a:r>
              <a:t>MARKET 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6400800" cy="16459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800" b="1">
                <a:solidFill>
                  <a:srgbClr val="5F6C7D"/>
                </a:solidFill>
                <a:latin typeface="Aptos"/>
              </a:defRPr>
            </a:pPr>
            <a:r>
              <a:t>DIGITAL MARKETING • PRACTICAL LEARNING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365760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800" b="0">
                <a:solidFill>
                  <a:srgbClr val="5F6C7D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Context: role, industry, location, company size or life stage.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47672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Goal: the outcome the customer wants to achieve.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9464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Pain and objections: what blocks progress; price, trust, effort or timing concerns.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91256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Trigger: what event makes the problem urgent now.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13048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Preferred channels: where the audience researches and asks for advice.</a:t>
            </a:r>
          </a:p>
        </p:txBody>
      </p:sp>
      <p:pic>
        <p:nvPicPr>
          <p:cNvPr id="12" name="Picture 1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6144768"/>
            <a:ext cx="1783080" cy="6588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2700" b="1">
                <a:solidFill>
                  <a:srgbClr val="121F38"/>
                </a:solidFill>
                <a:latin typeface="Aptos"/>
              </a:defRPr>
            </a:pPr>
            <a:r>
              <a:t>Positioning and competitor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914400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900" b="1">
                <a:solidFill>
                  <a:srgbClr val="12A0A0"/>
                </a:solidFill>
                <a:latin typeface="Aptos"/>
              </a:defRPr>
            </a:pPr>
            <a:r>
              <a:t>MARKET 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6400800" cy="16459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800" b="1">
                <a:solidFill>
                  <a:srgbClr val="5F6C7D"/>
                </a:solidFill>
                <a:latin typeface="Aptos"/>
              </a:defRPr>
            </a:pPr>
            <a:r>
              <a:t>DIGITAL MARKETING • PRACTICAL LEARNING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365760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800" b="0">
                <a:solidFill>
                  <a:srgbClr val="5F6C7D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Compare 3–5 alternatives customers already consider.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47672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Record audience, promise, proof, price, channel and review themes.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9464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Look for underserved segments or clearer ways to explain value.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91256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Differentiate through outcomes, specialization, service or experience.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13048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Make claims you can substantiate; create a proof bank.</a:t>
            </a:r>
          </a:p>
        </p:txBody>
      </p:sp>
      <p:pic>
        <p:nvPicPr>
          <p:cNvPr id="12" name="Picture 1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6144768"/>
            <a:ext cx="1783080" cy="6588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F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822960"/>
            <a:ext cx="1188720" cy="640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3400" b="1">
                <a:solidFill>
                  <a:srgbClr val="F4B400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74519"/>
            <a:ext cx="10058400" cy="10972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"/>
              </a:defRPr>
            </a:pPr>
            <a:r>
              <a:t>02 | Website &amp; landing pages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200400"/>
            <a:ext cx="9144000" cy="10972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2000" b="0">
                <a:solidFill>
                  <a:srgbClr val="D2DEEF"/>
                </a:solidFill>
                <a:latin typeface="Aptos"/>
              </a:defRPr>
            </a:pPr>
            <a:r>
              <a:t>Create a trustworthy destination that turns attention into a measurable next step.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4937760"/>
            <a:ext cx="1828800" cy="73152"/>
          </a:xfrm>
          <a:prstGeom prst="rect">
            <a:avLst/>
          </a:prstGeom>
          <a:solidFill>
            <a:srgbClr val="12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6400800" cy="16459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800" b="1">
                <a:solidFill>
                  <a:srgbClr val="AABED7"/>
                </a:solidFill>
                <a:latin typeface="Aptos"/>
              </a:defRPr>
            </a:pPr>
            <a:r>
              <a:t>DIGITAL MARKETING • PRACTICAL LEARNING DECK</a:t>
            </a:r>
          </a:p>
        </p:txBody>
      </p:sp>
      <p:pic>
        <p:nvPicPr>
          <p:cNvPr id="7" name="Picture 6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6144768"/>
            <a:ext cx="1783080" cy="6588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2700" b="1">
                <a:solidFill>
                  <a:srgbClr val="121F38"/>
                </a:solidFill>
                <a:latin typeface="Aptos"/>
              </a:defRPr>
            </a:pPr>
            <a:r>
              <a:t>Website essentials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914400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900" b="1">
                <a:solidFill>
                  <a:srgbClr val="12A0A0"/>
                </a:solidFill>
                <a:latin typeface="Aptos"/>
              </a:defRPr>
            </a:pPr>
            <a:r>
              <a:t>WEBSITE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6400800" cy="16459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800" b="1">
                <a:solidFill>
                  <a:srgbClr val="5F6C7D"/>
                </a:solidFill>
                <a:latin typeface="Aptos"/>
              </a:defRPr>
            </a:pPr>
            <a:r>
              <a:t>DIGITAL MARKETING • PRACTICAL LEARNING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365760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800" b="0">
                <a:solidFill>
                  <a:srgbClr val="5F6C7D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Clear value proposition above the fold: who you help, what you do and why it matters.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47672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Simple navigation and mobile-first layout; readable typography and fast loading.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9464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Trust signals: real contact details, relevant credentials, reviews and transparent policies.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91256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Secure HTTPS, working forms, privacy notice and consent where required.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13048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Measure meaningful conversions such as enquiries, calls, bookings and purchases.</a:t>
            </a:r>
          </a:p>
        </p:txBody>
      </p:sp>
      <p:pic>
        <p:nvPicPr>
          <p:cNvPr id="12" name="Picture 1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6144768"/>
            <a:ext cx="1783080" cy="6588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2700" b="1">
                <a:solidFill>
                  <a:srgbClr val="121F38"/>
                </a:solidFill>
                <a:latin typeface="Aptos"/>
              </a:defRPr>
            </a:pPr>
            <a:r>
              <a:t>Landing page anatomy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914400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900" b="1">
                <a:solidFill>
                  <a:srgbClr val="12A0A0"/>
                </a:solidFill>
                <a:latin typeface="Aptos"/>
              </a:defRPr>
            </a:pPr>
            <a:r>
              <a:t>WEBSITE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6400800" cy="16459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800" b="1">
                <a:solidFill>
                  <a:srgbClr val="5F6C7D"/>
                </a:solidFill>
                <a:latin typeface="Aptos"/>
              </a:defRPr>
            </a:pPr>
            <a:r>
              <a:t>DIGITAL MARKETING • PRACTICAL LEARNING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365760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800" b="0">
                <a:solidFill>
                  <a:srgbClr val="5F6C7D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Headline: the outcome or problem solved.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47672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Supporting line: audience, method or differentiator.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9464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Proof: results, testimonials, examples or credible credentials.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91256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Benefits: explain outcomes rather than listing only features.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13048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Offer and CTA: state what is included and what happens next.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5623560"/>
            <a:ext cx="10881360" cy="566928"/>
          </a:xfrm>
          <a:prstGeom prst="roundRect">
            <a:avLst/>
          </a:prstGeom>
          <a:solidFill>
            <a:srgbClr val="E0F6F4"/>
          </a:solidFill>
          <a:ln>
            <a:solidFill>
              <a:srgbClr val="E0F6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696712"/>
            <a:ext cx="10515600" cy="365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400" b="1">
                <a:solidFill>
                  <a:srgbClr val="121F38"/>
                </a:solidFill>
                <a:latin typeface="Aptos"/>
              </a:defRPr>
            </a:pPr>
            <a:r>
              <a:t>One audience, one offer, one primary conversion.</a:t>
            </a:r>
          </a:p>
        </p:txBody>
      </p:sp>
      <p:pic>
        <p:nvPicPr>
          <p:cNvPr id="14" name="Picture 13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6144768"/>
            <a:ext cx="1783080" cy="65887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2700" b="1">
                <a:solidFill>
                  <a:srgbClr val="121F38"/>
                </a:solidFill>
                <a:latin typeface="Aptos"/>
              </a:defRPr>
            </a:pPr>
            <a:r>
              <a:t>Website launch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914400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900" b="1">
                <a:solidFill>
                  <a:srgbClr val="12A0A0"/>
                </a:solidFill>
                <a:latin typeface="Aptos"/>
              </a:defRPr>
            </a:pPr>
            <a:r>
              <a:t>WEBSITE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6400800" cy="16459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800" b="1">
                <a:solidFill>
                  <a:srgbClr val="5F6C7D"/>
                </a:solidFill>
                <a:latin typeface="Aptos"/>
              </a:defRPr>
            </a:pPr>
            <a:r>
              <a:t>DIGITAL MARKETING • PRACTICAL LEARNING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365760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800" b="0">
                <a:solidFill>
                  <a:srgbClr val="5F6C7D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Test desktop and mobile layouts, forms, CTAs and email notifications.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47672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Check HTTPS, backups, basic security and page speed.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9464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Proofread copy and verify phone/email links.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91256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Set titles, descriptions, sitemap and indexing settings.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13048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Install analytics and test conversion events with a real visitor.</a:t>
            </a:r>
          </a:p>
        </p:txBody>
      </p:sp>
      <p:pic>
        <p:nvPicPr>
          <p:cNvPr id="12" name="Picture 1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6144768"/>
            <a:ext cx="1783080" cy="65887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F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822960"/>
            <a:ext cx="1188720" cy="640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3400" b="1">
                <a:solidFill>
                  <a:srgbClr val="F4B400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74519"/>
            <a:ext cx="10058400" cy="10972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"/>
              </a:defRPr>
            </a:pPr>
            <a:r>
              <a:t>03 | Content, copywriting &amp;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200400"/>
            <a:ext cx="9144000" cy="10972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2000" b="0">
                <a:solidFill>
                  <a:srgbClr val="D2DEEF"/>
                </a:solidFill>
                <a:latin typeface="Aptos"/>
              </a:defRPr>
            </a:pPr>
            <a:r>
              <a:t>Use useful content and persuasive, honest copy to earn attention and action.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4937760"/>
            <a:ext cx="1828800" cy="73152"/>
          </a:xfrm>
          <a:prstGeom prst="rect">
            <a:avLst/>
          </a:prstGeom>
          <a:solidFill>
            <a:srgbClr val="12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6400800" cy="16459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800" b="1">
                <a:solidFill>
                  <a:srgbClr val="AABED7"/>
                </a:solidFill>
                <a:latin typeface="Aptos"/>
              </a:defRPr>
            </a:pPr>
            <a:r>
              <a:t>DIGITAL MARKETING • PRACTICAL LEARNING DECK</a:t>
            </a:r>
          </a:p>
        </p:txBody>
      </p:sp>
      <p:pic>
        <p:nvPicPr>
          <p:cNvPr id="7" name="Picture 6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6144768"/>
            <a:ext cx="1783080" cy="65887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2700" b="1">
                <a:solidFill>
                  <a:srgbClr val="121F38"/>
                </a:solidFill>
                <a:latin typeface="Aptos"/>
              </a:defRPr>
            </a:pPr>
            <a:r>
              <a:t>Content strategy: useful before promotional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914400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900" b="1">
                <a:solidFill>
                  <a:srgbClr val="12A0A0"/>
                </a:solidFill>
                <a:latin typeface="Aptos"/>
              </a:defRPr>
            </a:pPr>
            <a:r>
              <a:t>CONTENT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6400800" cy="16459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800" b="1">
                <a:solidFill>
                  <a:srgbClr val="5F6C7D"/>
                </a:solidFill>
                <a:latin typeface="Aptos"/>
              </a:defRPr>
            </a:pPr>
            <a:r>
              <a:t>DIGITAL MARKETING • PRACTICAL LEARNING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365760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800" b="0">
                <a:solidFill>
                  <a:srgbClr val="5F6C7D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Teach: answer a question the audience is already asking.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47672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Demonstrate: show the product, process or result in action.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9464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Prove: explain a case study, customer result or lesson learned.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91256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Compare: help buyers understand options and trade-offs fairly.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13048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Repurpose one strong idea into a blog, video, carousel, email and FAQ.</a:t>
            </a:r>
          </a:p>
        </p:txBody>
      </p:sp>
      <p:pic>
        <p:nvPicPr>
          <p:cNvPr id="12" name="Picture 1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6144768"/>
            <a:ext cx="1783080" cy="65887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2700" b="1">
                <a:solidFill>
                  <a:srgbClr val="121F38"/>
                </a:solidFill>
                <a:latin typeface="Aptos"/>
              </a:defRPr>
            </a:pPr>
            <a:r>
              <a:t>Copywriting with AIDA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914400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900" b="1">
                <a:solidFill>
                  <a:srgbClr val="12A0A0"/>
                </a:solidFill>
                <a:latin typeface="Aptos"/>
              </a:defRPr>
            </a:pPr>
            <a:r>
              <a:t>COPYWRITING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6400800" cy="16459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800" b="1">
                <a:solidFill>
                  <a:srgbClr val="5F6C7D"/>
                </a:solidFill>
                <a:latin typeface="Aptos"/>
              </a:defRPr>
            </a:pPr>
            <a:r>
              <a:t>DIGITAL MARKETING • PRACTICAL LEARNING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365760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800" b="0">
                <a:solidFill>
                  <a:srgbClr val="5F6C7D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Attention: relevant headline, question or problem statement.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47672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Interest: show you understand the customer's context.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9464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Desire: connect the offer to benefits and credible proof.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91256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Action: make the next step clear and low-friction.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13048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Translate features into outcomes; avoid fake urgency and unsupported guarantees.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5623560"/>
            <a:ext cx="10881360" cy="566928"/>
          </a:xfrm>
          <a:prstGeom prst="roundRect">
            <a:avLst/>
          </a:prstGeom>
          <a:solidFill>
            <a:srgbClr val="E0F6F4"/>
          </a:solidFill>
          <a:ln>
            <a:solidFill>
              <a:srgbClr val="E0F6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696712"/>
            <a:ext cx="10515600" cy="365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400" b="1">
                <a:solidFill>
                  <a:srgbClr val="121F38"/>
                </a:solidFill>
                <a:latin typeface="Aptos"/>
              </a:defRPr>
            </a:pPr>
            <a:r>
              <a:t>Write for the customer's decision—not internal company jargon.</a:t>
            </a:r>
          </a:p>
        </p:txBody>
      </p:sp>
      <p:pic>
        <p:nvPicPr>
          <p:cNvPr id="14" name="Picture 13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6144768"/>
            <a:ext cx="1783080" cy="65887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2700" b="1">
                <a:solidFill>
                  <a:srgbClr val="121F38"/>
                </a:solidFill>
                <a:latin typeface="Aptos"/>
              </a:defRPr>
            </a:pPr>
            <a:r>
              <a:t>Create a content 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914400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900" b="1">
                <a:solidFill>
                  <a:srgbClr val="12A0A0"/>
                </a:solidFill>
                <a:latin typeface="Aptos"/>
              </a:defRPr>
            </a:pPr>
            <a:r>
              <a:t>CONTENT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6400800" cy="16459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800" b="1">
                <a:solidFill>
                  <a:srgbClr val="5F6C7D"/>
                </a:solidFill>
                <a:latin typeface="Aptos"/>
              </a:defRPr>
            </a:pPr>
            <a:r>
              <a:t>DIGITAL MARKETING • PRACTICAL LEARNING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365760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800" b="0">
                <a:solidFill>
                  <a:srgbClr val="5F6C7D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Audience and search/social intent.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47672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One question or problem the content will solve.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9464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Primary takeaway and supporting evidence.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91256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Format, channel, length and call to action.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13048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Owner, review date, publish date and success metric.</a:t>
            </a:r>
          </a:p>
        </p:txBody>
      </p:sp>
      <p:pic>
        <p:nvPicPr>
          <p:cNvPr id="12" name="Picture 1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6144768"/>
            <a:ext cx="1783080" cy="65887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2700" b="1">
                <a:solidFill>
                  <a:srgbClr val="121F38"/>
                </a:solidFill>
                <a:latin typeface="Aptos"/>
              </a:defRPr>
            </a:pPr>
            <a:r>
              <a:t>AI-assisted content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914400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900" b="1">
                <a:solidFill>
                  <a:srgbClr val="12A0A0"/>
                </a:solidFill>
                <a:latin typeface="Aptos"/>
              </a:defRPr>
            </a:pPr>
            <a:r>
              <a:t>CONTENT +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6400800" cy="16459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800" b="1">
                <a:solidFill>
                  <a:srgbClr val="5F6C7D"/>
                </a:solidFill>
                <a:latin typeface="Aptos"/>
              </a:defRPr>
            </a:pPr>
            <a:r>
              <a:t>DIGITAL MARKETING • PRACTICAL LEARNING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365760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800" b="0">
                <a:solidFill>
                  <a:srgbClr val="5F6C7D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Use AI to brainstorm angles, outline articles and generate headline variations.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47672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Repurpose drafts for different channels and reading levels.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9464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Verify facts, statistics, quotes and source links; remove invented testimonials.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91256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Do not paste confidential customer data into unapproved tools.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13048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Review for originality, brand voice, bias, privacy and audience fit.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5623560"/>
            <a:ext cx="10881360" cy="566928"/>
          </a:xfrm>
          <a:prstGeom prst="roundRect">
            <a:avLst/>
          </a:prstGeom>
          <a:solidFill>
            <a:srgbClr val="E0F6F4"/>
          </a:solidFill>
          <a:ln>
            <a:solidFill>
              <a:srgbClr val="E0F6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696712"/>
            <a:ext cx="10515600" cy="365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400" b="1">
                <a:solidFill>
                  <a:srgbClr val="121F38"/>
                </a:solidFill>
                <a:latin typeface="Aptos"/>
              </a:defRPr>
            </a:pPr>
            <a:r>
              <a:t>AI accelerates drafting; it does not replace expertise or verification.</a:t>
            </a:r>
          </a:p>
        </p:txBody>
      </p:sp>
      <p:pic>
        <p:nvPicPr>
          <p:cNvPr id="14" name="Picture 13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6144768"/>
            <a:ext cx="1783080" cy="65887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F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822960"/>
            <a:ext cx="1188720" cy="640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3400" b="1">
                <a:solidFill>
                  <a:srgbClr val="F4B400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74519"/>
            <a:ext cx="10058400" cy="10972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"/>
              </a:defRPr>
            </a:pPr>
            <a:r>
              <a:t>04 | SEO &amp; organic discovery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200400"/>
            <a:ext cx="9144000" cy="10972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2000" b="0">
                <a:solidFill>
                  <a:srgbClr val="D2DEEF"/>
                </a:solidFill>
                <a:latin typeface="Aptos"/>
              </a:defRPr>
            </a:pPr>
            <a:r>
              <a:t>Help the right people discover relevant pages through search.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4937760"/>
            <a:ext cx="1828800" cy="73152"/>
          </a:xfrm>
          <a:prstGeom prst="rect">
            <a:avLst/>
          </a:prstGeom>
          <a:solidFill>
            <a:srgbClr val="12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6400800" cy="16459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800" b="1">
                <a:solidFill>
                  <a:srgbClr val="AABED7"/>
                </a:solidFill>
                <a:latin typeface="Aptos"/>
              </a:defRPr>
            </a:pPr>
            <a:r>
              <a:t>DIGITAL MARKETING • PRACTICAL LEARNING DECK</a:t>
            </a:r>
          </a:p>
        </p:txBody>
      </p:sp>
      <p:pic>
        <p:nvPicPr>
          <p:cNvPr id="7" name="Picture 6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6144768"/>
            <a:ext cx="1783080" cy="65887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2700" b="1">
                <a:solidFill>
                  <a:srgbClr val="121F38"/>
                </a:solidFill>
                <a:latin typeface="Aptos"/>
              </a:defRPr>
            </a:pPr>
            <a:r>
              <a:t>SEO: core building blocks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914400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900" b="1">
                <a:solidFill>
                  <a:srgbClr val="12A0A0"/>
                </a:solidFill>
                <a:latin typeface="Aptos"/>
              </a:defRPr>
            </a:pPr>
            <a:r>
              <a:t>SEO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6400800" cy="16459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800" b="1">
                <a:solidFill>
                  <a:srgbClr val="5F6C7D"/>
                </a:solidFill>
                <a:latin typeface="Aptos"/>
              </a:defRPr>
            </a:pPr>
            <a:r>
              <a:t>DIGITAL MARKETING • PRACTICAL LEARNING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365760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800" b="0">
                <a:solidFill>
                  <a:srgbClr val="5F6C7D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Technical: crawlability, indexability, HTTPS, mobile usability and performance.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47672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On-page: descriptive titles, headings, useful content and internal links.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9464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Search intent: match the page to what the searcher wants to do.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91256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Authority: earn relevant mentions and links through genuinely useful work.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13048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Measure Search Console performance and meaningful conversions.</a:t>
            </a:r>
          </a:p>
        </p:txBody>
      </p:sp>
      <p:pic>
        <p:nvPicPr>
          <p:cNvPr id="12" name="Picture 1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6144768"/>
            <a:ext cx="1783080" cy="65887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2700" b="1">
                <a:solidFill>
                  <a:srgbClr val="121F38"/>
                </a:solidFill>
                <a:latin typeface="Aptos"/>
              </a:defRPr>
            </a:pPr>
            <a:r>
              <a:t>Keyword research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914400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900" b="1">
                <a:solidFill>
                  <a:srgbClr val="12A0A0"/>
                </a:solidFill>
                <a:latin typeface="Aptos"/>
              </a:defRPr>
            </a:pPr>
            <a:r>
              <a:t>SEO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6400800" cy="16459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800" b="1">
                <a:solidFill>
                  <a:srgbClr val="5F6C7D"/>
                </a:solidFill>
                <a:latin typeface="Aptos"/>
              </a:defRPr>
            </a:pPr>
            <a:r>
              <a:t>DIGITAL MARKETING • PRACTICAL LEARNING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365760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800" b="0">
                <a:solidFill>
                  <a:srgbClr val="5F6C7D"/>
                </a:solidFill>
                <a:latin typeface="Aptos"/>
              </a:defRPr>
            </a:pPr>
            <a: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Start with customer questions, services, problems and buying language.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47672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Group terms by informational, commercial, transactional and navigational intent.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9464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Assess relevance, competition, intent and the page you can credibly create.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91256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Prioritize topic clusters rather than isolated keyword stuffing.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13048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Map one primary intent to each page and refresh content as needs change.</a:t>
            </a:r>
          </a:p>
        </p:txBody>
      </p:sp>
      <p:pic>
        <p:nvPicPr>
          <p:cNvPr id="12" name="Picture 1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6144768"/>
            <a:ext cx="1783080" cy="65887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2700" b="1">
                <a:solidFill>
                  <a:srgbClr val="121F38"/>
                </a:solidFill>
                <a:latin typeface="Aptos"/>
              </a:defRPr>
            </a:pPr>
            <a:r>
              <a:t>On-page SEO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914400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900" b="1">
                <a:solidFill>
                  <a:srgbClr val="12A0A0"/>
                </a:solidFill>
                <a:latin typeface="Aptos"/>
              </a:defRPr>
            </a:pPr>
            <a:r>
              <a:t>SEO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6400800" cy="16459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800" b="1">
                <a:solidFill>
                  <a:srgbClr val="5F6C7D"/>
                </a:solidFill>
                <a:latin typeface="Aptos"/>
              </a:defRPr>
            </a:pPr>
            <a:r>
              <a:t>DIGITAL MARKETING • PRACTICAL LEARNING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365760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800" b="0">
                <a:solidFill>
                  <a:srgbClr val="5F6C7D"/>
                </a:solidFill>
                <a:latin typeface="Aptos"/>
              </a:defRPr>
            </a:pPr>
            <a:r>
              <a:t>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Unique, descriptive title and useful meta description.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47672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One clear page topic with logical headings and original helpful copy.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9464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Descriptive URLs, compressed media and meaningful image alt text.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91256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Relevant internal links and clear next steps.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13048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Use structured data only when appropriate and supported by visible content.</a:t>
            </a:r>
          </a:p>
        </p:txBody>
      </p:sp>
      <p:pic>
        <p:nvPicPr>
          <p:cNvPr id="12" name="Picture 1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6144768"/>
            <a:ext cx="1783080" cy="65887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2700" b="1">
                <a:solidFill>
                  <a:srgbClr val="121F38"/>
                </a:solidFill>
                <a:latin typeface="Aptos"/>
              </a:defRPr>
            </a:pPr>
            <a:r>
              <a:t>Local SEO for service businesses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914400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900" b="1">
                <a:solidFill>
                  <a:srgbClr val="12A0A0"/>
                </a:solidFill>
                <a:latin typeface="Aptos"/>
              </a:defRPr>
            </a:pPr>
            <a:r>
              <a:t>SEO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6400800" cy="16459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800" b="1">
                <a:solidFill>
                  <a:srgbClr val="5F6C7D"/>
                </a:solidFill>
                <a:latin typeface="Aptos"/>
              </a:defRPr>
            </a:pPr>
            <a:r>
              <a:t>DIGITAL MARKETING • PRACTICAL LEARNING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365760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800" b="0">
                <a:solidFill>
                  <a:srgbClr val="5F6C7D"/>
                </a:solidFill>
                <a:latin typeface="Aptos"/>
              </a:defRPr>
            </a:pPr>
            <a:r>
              <a:t>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Keep business name, service area, phone and hours accurate and consistent.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47672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Complete relevant business profile fields and categories.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9464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Request honest reviews after real interactions; respond professionally.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91256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Create location pages only when they add distinct value.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13048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Track calls, qualified enquiries and booked work—not only views.</a:t>
            </a:r>
          </a:p>
        </p:txBody>
      </p:sp>
      <p:pic>
        <p:nvPicPr>
          <p:cNvPr id="12" name="Picture 1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6144768"/>
            <a:ext cx="1783080" cy="65887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F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822960"/>
            <a:ext cx="1188720" cy="640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3400" b="1">
                <a:solidFill>
                  <a:srgbClr val="F4B400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74519"/>
            <a:ext cx="10058400" cy="10972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"/>
              </a:defRPr>
            </a:pPr>
            <a:r>
              <a:t>05 | Social media &amp; video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200400"/>
            <a:ext cx="9144000" cy="10972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2000" b="0">
                <a:solidFill>
                  <a:srgbClr val="D2DEEF"/>
                </a:solidFill>
                <a:latin typeface="Aptos"/>
              </a:defRPr>
            </a:pPr>
            <a:r>
              <a:t>Choose channels based on audience behaviour and the format you can sustain.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4937760"/>
            <a:ext cx="1828800" cy="73152"/>
          </a:xfrm>
          <a:prstGeom prst="rect">
            <a:avLst/>
          </a:prstGeom>
          <a:solidFill>
            <a:srgbClr val="12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6400800" cy="16459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800" b="1">
                <a:solidFill>
                  <a:srgbClr val="AABED7"/>
                </a:solidFill>
                <a:latin typeface="Aptos"/>
              </a:defRPr>
            </a:pPr>
            <a:r>
              <a:t>DIGITAL MARKETING • PRACTICAL LEARNING DECK</a:t>
            </a:r>
          </a:p>
        </p:txBody>
      </p:sp>
      <p:pic>
        <p:nvPicPr>
          <p:cNvPr id="7" name="Picture 6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6144768"/>
            <a:ext cx="1783080" cy="65887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2700" b="1">
                <a:solidFill>
                  <a:srgbClr val="121F38"/>
                </a:solidFill>
                <a:latin typeface="Aptos"/>
              </a:defRPr>
            </a:pPr>
            <a:r>
              <a:t>Choose channels deliberately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914400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900" b="1">
                <a:solidFill>
                  <a:srgbClr val="12A0A0"/>
                </a:solidFill>
                <a:latin typeface="Aptos"/>
              </a:defRPr>
            </a:pPr>
            <a:r>
              <a:t>SOCIAL MEDIA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6400800" cy="16459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800" b="1">
                <a:solidFill>
                  <a:srgbClr val="5F6C7D"/>
                </a:solidFill>
                <a:latin typeface="Aptos"/>
              </a:defRPr>
            </a:pPr>
            <a:r>
              <a:t>DIGITAL MARKETING • PRACTICAL LEARNING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365760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800" b="0">
                <a:solidFill>
                  <a:srgbClr val="5F6C7D"/>
                </a:solidFill>
                <a:latin typeface="Aptos"/>
              </a:defRPr>
            </a:pPr>
            <a:r>
              <a:t>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Instagram/Facebook: visual storytelling, community and paid reach.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47672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LinkedIn: B2B expertise, professional trust and relationships.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9464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YouTube: searchable demonstrations, explainers and deeper education.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91256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Email: owned audience and repeat communication; search captures active demand.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13048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Choose one or two primary channels instead of joining every platform.</a:t>
            </a:r>
          </a:p>
        </p:txBody>
      </p:sp>
      <p:pic>
        <p:nvPicPr>
          <p:cNvPr id="12" name="Picture 1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6144768"/>
            <a:ext cx="1783080" cy="65887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2700" b="1">
                <a:solidFill>
                  <a:srgbClr val="121F38"/>
                </a:solidFill>
                <a:latin typeface="Aptos"/>
              </a:defRPr>
            </a:pPr>
            <a:r>
              <a:t>Create a repeatable social calendar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914400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900" b="1">
                <a:solidFill>
                  <a:srgbClr val="12A0A0"/>
                </a:solidFill>
                <a:latin typeface="Aptos"/>
              </a:defRPr>
            </a:pPr>
            <a:r>
              <a:t>SOCIAL MEDIA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6400800" cy="16459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800" b="1">
                <a:solidFill>
                  <a:srgbClr val="5F6C7D"/>
                </a:solidFill>
                <a:latin typeface="Aptos"/>
              </a:defRPr>
            </a:pPr>
            <a:r>
              <a:t>DIGITAL MARKETING • PRACTICAL LEARNING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365760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800" b="0">
                <a:solidFill>
                  <a:srgbClr val="5F6C7D"/>
                </a:solidFill>
                <a:latin typeface="Aptos"/>
              </a:defRPr>
            </a:pPr>
            <a:r>
              <a:t>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Choose 3–4 content pillars: teach, demonstrate, prove and invite.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47672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Plan a sustainable cadence instead of posting randomly.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9464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Use a strong opening hook and one central message per post.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91256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Use captions/subtitles and reply to genuine questions.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13048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Review saves, meaningful comments, qualified clicks and conversions.</a:t>
            </a:r>
          </a:p>
        </p:txBody>
      </p:sp>
      <p:pic>
        <p:nvPicPr>
          <p:cNvPr id="12" name="Picture 1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6144768"/>
            <a:ext cx="1783080" cy="65887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2700" b="1">
                <a:solidFill>
                  <a:srgbClr val="121F38"/>
                </a:solidFill>
                <a:latin typeface="Aptos"/>
              </a:defRPr>
            </a:pPr>
            <a:r>
              <a:t>YouTube marketing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914400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900" b="1">
                <a:solidFill>
                  <a:srgbClr val="12A0A0"/>
                </a:solidFill>
                <a:latin typeface="Aptos"/>
              </a:defRPr>
            </a:pPr>
            <a:r>
              <a:t>VIDEO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6400800" cy="16459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800" b="1">
                <a:solidFill>
                  <a:srgbClr val="5F6C7D"/>
                </a:solidFill>
                <a:latin typeface="Aptos"/>
              </a:defRPr>
            </a:pPr>
            <a:r>
              <a:t>DIGITAL MARKETING • PRACTICAL LEARNING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365760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800" b="0">
                <a:solidFill>
                  <a:srgbClr val="5F6C7D"/>
                </a:solidFill>
                <a:latin typeface="Aptos"/>
              </a:defRPr>
            </a:pPr>
            <a:r>
              <a:t>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Choose a specific audience question or demonstration topic.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47672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Write a clear title and thumbnail concept before recording.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9464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Structure: context → steps/demo → recap → next action.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91256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Use accurate captions, useful description links and chapters where helpful.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13048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Study click-through rate, retention and downstream actions together.</a:t>
            </a:r>
          </a:p>
        </p:txBody>
      </p:sp>
      <p:pic>
        <p:nvPicPr>
          <p:cNvPr id="12" name="Picture 1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6144768"/>
            <a:ext cx="1783080" cy="65887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2700" b="1">
                <a:solidFill>
                  <a:srgbClr val="121F38"/>
                </a:solidFill>
                <a:latin typeface="Aptos"/>
              </a:defRPr>
            </a:pPr>
            <a:r>
              <a:t>Repurpose one idea into many assets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914400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900" b="1">
                <a:solidFill>
                  <a:srgbClr val="12A0A0"/>
                </a:solidFill>
                <a:latin typeface="Aptos"/>
              </a:defRPr>
            </a:pPr>
            <a:r>
              <a:t>CONTENT DISTRIBUTION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6400800" cy="16459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800" b="1">
                <a:solidFill>
                  <a:srgbClr val="5F6C7D"/>
                </a:solidFill>
                <a:latin typeface="Aptos"/>
              </a:defRPr>
            </a:pPr>
            <a:r>
              <a:t>DIGITAL MARKETING • PRACTICAL LEARNING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365760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800" b="0">
                <a:solidFill>
                  <a:srgbClr val="5F6C7D"/>
                </a:solidFill>
                <a:latin typeface="Aptos"/>
              </a:defRPr>
            </a:pPr>
            <a:r>
              <a:t>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Start with a tutorial or detailed guide.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47672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Turn it into an article, three short clips, a carousel and an email.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9464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Extract FAQs, common objections and a checklist.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91256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Adapt the opening and format for each channel.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13048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Link assets to one relevant landing page and track results.</a:t>
            </a:r>
          </a:p>
        </p:txBody>
      </p:sp>
      <p:pic>
        <p:nvPicPr>
          <p:cNvPr id="12" name="Picture 1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6144768"/>
            <a:ext cx="1783080" cy="65887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F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822960"/>
            <a:ext cx="1188720" cy="640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3400" b="1">
                <a:solidFill>
                  <a:srgbClr val="F4B400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74519"/>
            <a:ext cx="10058400" cy="10972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"/>
              </a:defRPr>
            </a:pPr>
            <a:r>
              <a:t>06 | Email marketing &amp; lead nurturing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200400"/>
            <a:ext cx="9144000" cy="10972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2000" b="0">
                <a:solidFill>
                  <a:srgbClr val="D2DEEF"/>
                </a:solidFill>
                <a:latin typeface="Aptos"/>
              </a:defRPr>
            </a:pPr>
            <a:r>
              <a:t>Build permission-based relationships and make follow-up useful.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4937760"/>
            <a:ext cx="1828800" cy="73152"/>
          </a:xfrm>
          <a:prstGeom prst="rect">
            <a:avLst/>
          </a:prstGeom>
          <a:solidFill>
            <a:srgbClr val="12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6400800" cy="16459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800" b="1">
                <a:solidFill>
                  <a:srgbClr val="AABED7"/>
                </a:solidFill>
                <a:latin typeface="Aptos"/>
              </a:defRPr>
            </a:pPr>
            <a:r>
              <a:t>DIGITAL MARKETING • PRACTICAL LEARNING DECK</a:t>
            </a:r>
          </a:p>
        </p:txBody>
      </p:sp>
      <p:pic>
        <p:nvPicPr>
          <p:cNvPr id="7" name="Picture 6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6144768"/>
            <a:ext cx="1783080" cy="658875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2700" b="1">
                <a:solidFill>
                  <a:srgbClr val="121F38"/>
                </a:solidFill>
                <a:latin typeface="Aptos"/>
              </a:defRPr>
            </a:pPr>
            <a:r>
              <a:t>Email list growth and permission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914400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900" b="1">
                <a:solidFill>
                  <a:srgbClr val="12A0A0"/>
                </a:solidFill>
                <a:latin typeface="Aptos"/>
              </a:defRPr>
            </a:pPr>
            <a:r>
              <a:t>EMAIL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6400800" cy="16459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800" b="1">
                <a:solidFill>
                  <a:srgbClr val="5F6C7D"/>
                </a:solidFill>
                <a:latin typeface="Aptos"/>
              </a:defRPr>
            </a:pPr>
            <a:r>
              <a:t>DIGITAL MARKETING • PRACTICAL LEARNING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365760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800" b="0">
                <a:solidFill>
                  <a:srgbClr val="5F6C7D"/>
                </a:solidFill>
                <a:latin typeface="Aptos"/>
              </a:defRPr>
            </a:pPr>
            <a:r>
              <a:t>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Offer a useful reason to subscribe: guide, checklist, webinar, demo or updates.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47672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Explain what subscribers will receive and how often.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9464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Collect only necessary data and respect consent and unsubscribe requirements.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91256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Never buy lists or add people without a lawful, appropriate basis.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13048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Keep consent records where required.</a:t>
            </a:r>
          </a:p>
        </p:txBody>
      </p:sp>
      <p:pic>
        <p:nvPicPr>
          <p:cNvPr id="12" name="Picture 1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6144768"/>
            <a:ext cx="1783080" cy="658875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2700" b="1">
                <a:solidFill>
                  <a:srgbClr val="121F38"/>
                </a:solidFill>
                <a:latin typeface="Aptos"/>
              </a:defRPr>
            </a:pPr>
            <a:r>
              <a:t>A simple welcome sequence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914400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900" b="1">
                <a:solidFill>
                  <a:srgbClr val="12A0A0"/>
                </a:solidFill>
                <a:latin typeface="Aptos"/>
              </a:defRPr>
            </a:pPr>
            <a:r>
              <a:t>EMAIL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6400800" cy="16459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800" b="1">
                <a:solidFill>
                  <a:srgbClr val="5F6C7D"/>
                </a:solidFill>
                <a:latin typeface="Aptos"/>
              </a:defRPr>
            </a:pPr>
            <a:r>
              <a:t>DIGITAL MARKETING • PRACTICAL LEARNING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365760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800" b="0">
                <a:solidFill>
                  <a:srgbClr val="5F6C7D"/>
                </a:solidFill>
                <a:latin typeface="Aptos"/>
              </a:defRPr>
            </a:pPr>
            <a:r>
              <a:t>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Email 1: deliver the promised resource and set expectations.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47672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Email 2: teach one useful idea and link to a relevant resource.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9464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Email 3: explain a common mistake and how to avoid 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91256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Email 4: show proof, a case study or demonstration.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13048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Email 5: invite a low-friction next step; measure clicks, replies and conversions.</a:t>
            </a:r>
          </a:p>
        </p:txBody>
      </p:sp>
      <p:pic>
        <p:nvPicPr>
          <p:cNvPr id="12" name="Picture 1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6144768"/>
            <a:ext cx="1783080" cy="658875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2700" b="1">
                <a:solidFill>
                  <a:srgbClr val="121F38"/>
                </a:solidFill>
                <a:latin typeface="Aptos"/>
              </a:defRPr>
            </a:pPr>
            <a:r>
              <a:t>Email copy and deliverability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914400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900" b="1">
                <a:solidFill>
                  <a:srgbClr val="12A0A0"/>
                </a:solidFill>
                <a:latin typeface="Aptos"/>
              </a:defRPr>
            </a:pPr>
            <a:r>
              <a:t>EMAIL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6400800" cy="16459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800" b="1">
                <a:solidFill>
                  <a:srgbClr val="5F6C7D"/>
                </a:solidFill>
                <a:latin typeface="Aptos"/>
              </a:defRPr>
            </a:pPr>
            <a:r>
              <a:t>DIGITAL MARKETING • PRACTICAL LEARNING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365760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800" b="0">
                <a:solidFill>
                  <a:srgbClr val="5F6C7D"/>
                </a:solidFill>
                <a:latin typeface="Aptos"/>
              </a:defRPr>
            </a:pPr>
            <a:r>
              <a:t>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Use a recognizable sender name and a subject line that matches the email.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47672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Lead with one purpose and one primary CTA.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9464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Segment by interest, lifecycle stage or expressed need.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91256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Authenticate sending domains with SPF, DKIM and DMARC as appropriate.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13048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Make unsubscribe easy and monitor bounces and complaints.</a:t>
            </a:r>
          </a:p>
        </p:txBody>
      </p:sp>
      <p:pic>
        <p:nvPicPr>
          <p:cNvPr id="12" name="Picture 1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6144768"/>
            <a:ext cx="1783080" cy="658875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F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822960"/>
            <a:ext cx="1188720" cy="640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3400" b="1">
                <a:solidFill>
                  <a:srgbClr val="F4B400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74519"/>
            <a:ext cx="10058400" cy="10972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"/>
              </a:defRPr>
            </a:pPr>
            <a:r>
              <a:t>07 | Paid search &amp; paid social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200400"/>
            <a:ext cx="9144000" cy="10972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2000" b="0">
                <a:solidFill>
                  <a:srgbClr val="D2DEEF"/>
                </a:solidFill>
                <a:latin typeface="Aptos"/>
              </a:defRPr>
            </a:pPr>
            <a:r>
              <a:t>Use paid media to test demand and scale what converts profitably.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4937760"/>
            <a:ext cx="1828800" cy="73152"/>
          </a:xfrm>
          <a:prstGeom prst="rect">
            <a:avLst/>
          </a:prstGeom>
          <a:solidFill>
            <a:srgbClr val="12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6400800" cy="16459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800" b="1">
                <a:solidFill>
                  <a:srgbClr val="AABED7"/>
                </a:solidFill>
                <a:latin typeface="Aptos"/>
              </a:defRPr>
            </a:pPr>
            <a:r>
              <a:t>DIGITAL MARKETING • PRACTICAL LEARNING DECK</a:t>
            </a:r>
          </a:p>
        </p:txBody>
      </p:sp>
      <p:pic>
        <p:nvPicPr>
          <p:cNvPr id="7" name="Picture 6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6144768"/>
            <a:ext cx="1783080" cy="658875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2700" b="1">
                <a:solidFill>
                  <a:srgbClr val="121F38"/>
                </a:solidFill>
                <a:latin typeface="Aptos"/>
              </a:defRPr>
            </a:pPr>
            <a:r>
              <a:t>Paid campaign planning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914400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900" b="1">
                <a:solidFill>
                  <a:srgbClr val="12A0A0"/>
                </a:solidFill>
                <a:latin typeface="Aptos"/>
              </a:defRPr>
            </a:pPr>
            <a:r>
              <a:t>PAID MEDIA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6400800" cy="16459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800" b="1">
                <a:solidFill>
                  <a:srgbClr val="5F6C7D"/>
                </a:solidFill>
                <a:latin typeface="Aptos"/>
              </a:defRPr>
            </a:pPr>
            <a:r>
              <a:t>DIGITAL MARKETING • PRACTICAL LEARNING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365760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800" b="0">
                <a:solidFill>
                  <a:srgbClr val="5F6C7D"/>
                </a:solidFill>
                <a:latin typeface="Aptos"/>
              </a:defRPr>
            </a:pPr>
            <a:r>
              <a:t>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Choose one primary objective: awareness, traffic, leads, sales or app installs.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47672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Match audience, offer and landing page to that objective.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9464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Set a test budget, duration and stop-loss rule before launch.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91256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Test a small number of meaningfully different messages.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13048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Track conversions and quality, not clicks alone.</a:t>
            </a:r>
          </a:p>
        </p:txBody>
      </p:sp>
      <p:pic>
        <p:nvPicPr>
          <p:cNvPr id="12" name="Picture 1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6144768"/>
            <a:ext cx="1783080" cy="658875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2700" b="1">
                <a:solidFill>
                  <a:srgbClr val="121F38"/>
                </a:solidFill>
                <a:latin typeface="Aptos"/>
              </a:defRPr>
            </a:pPr>
            <a:r>
              <a:t>Google Ads: search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914400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900" b="1">
                <a:solidFill>
                  <a:srgbClr val="12A0A0"/>
                </a:solidFill>
                <a:latin typeface="Aptos"/>
              </a:defRPr>
            </a:pPr>
            <a:r>
              <a:t>PAID 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6400800" cy="16459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800" b="1">
                <a:solidFill>
                  <a:srgbClr val="5F6C7D"/>
                </a:solidFill>
                <a:latin typeface="Aptos"/>
              </a:defRPr>
            </a:pPr>
            <a:r>
              <a:t>DIGITAL MARKETING • PRACTICAL LEARNING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365760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800" b="0">
                <a:solidFill>
                  <a:srgbClr val="5F6C7D"/>
                </a:solidFill>
                <a:latin typeface="Aptos"/>
              </a:defRPr>
            </a:pPr>
            <a:r>
              <a:t>35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Organize campaigns around goals, geography and budget.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47672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Group keywords by intent and create relevant ads and landing pages.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9464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Use negative keywords to reduce irrelevant searches.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91256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Review search terms, location, device and conversion quality.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13048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Confirm current platform settings and policies before publishing.</a:t>
            </a:r>
          </a:p>
        </p:txBody>
      </p:sp>
      <p:pic>
        <p:nvPicPr>
          <p:cNvPr id="12" name="Picture 1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6144768"/>
            <a:ext cx="1783080" cy="658875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2700" b="1">
                <a:solidFill>
                  <a:srgbClr val="121F38"/>
                </a:solidFill>
                <a:latin typeface="Aptos"/>
              </a:defRPr>
            </a:pPr>
            <a:r>
              <a:t>Paid social and creative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914400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900" b="1">
                <a:solidFill>
                  <a:srgbClr val="12A0A0"/>
                </a:solidFill>
                <a:latin typeface="Aptos"/>
              </a:defRPr>
            </a:pPr>
            <a:r>
              <a:t>PAID SOCIAL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6400800" cy="16459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800" b="1">
                <a:solidFill>
                  <a:srgbClr val="5F6C7D"/>
                </a:solidFill>
                <a:latin typeface="Aptos"/>
              </a:defRPr>
            </a:pPr>
            <a:r>
              <a:t>DIGITAL MARKETING • PRACTICAL LEARNING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365760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800" b="0">
                <a:solidFill>
                  <a:srgbClr val="5F6C7D"/>
                </a:solidFill>
                <a:latin typeface="Aptos"/>
              </a:defRPr>
            </a:pPr>
            <a:r>
              <a:t>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Start with a hypothesis about audience, message or offer.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47672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Test one major variable at a time where practical.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9464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Use creative showing the problem, outcome, proof or product in context.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91256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Ensure landing page content matches the ad promise.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13048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Review lead quality and acquisition cost—not just engagement.</a:t>
            </a:r>
          </a:p>
        </p:txBody>
      </p:sp>
      <p:pic>
        <p:nvPicPr>
          <p:cNvPr id="12" name="Picture 1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6144768"/>
            <a:ext cx="1783080" cy="658875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2700" b="1">
                <a:solidFill>
                  <a:srgbClr val="121F38"/>
                </a:solidFill>
                <a:latin typeface="Aptos"/>
              </a:defRPr>
            </a:pPr>
            <a:r>
              <a:t>Understand the marketing funnel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914400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900" b="1">
                <a:solidFill>
                  <a:srgbClr val="12A0A0"/>
                </a:solidFill>
                <a:latin typeface="Aptos"/>
              </a:defRPr>
            </a:pPr>
            <a:r>
              <a:t>PAID MEDIA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6400800" cy="16459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800" b="1">
                <a:solidFill>
                  <a:srgbClr val="5F6C7D"/>
                </a:solidFill>
                <a:latin typeface="Aptos"/>
              </a:defRPr>
            </a:pPr>
            <a:r>
              <a:t>DIGITAL MARKETING • PRACTICAL LEARNING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365760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800" b="0">
                <a:solidFill>
                  <a:srgbClr val="5F6C7D"/>
                </a:solidFill>
                <a:latin typeface="Aptos"/>
              </a:defRPr>
            </a:pPr>
            <a:r>
              <a:t>37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Awareness: introduce the problem or category.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47672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Consideration: offer a guide, comparison, demo or case study.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9464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Conversion: make pricing, proof, risk and next steps clear.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91256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Retention: onboard, support and communicate useful next steps.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13048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Use retargeting only where permitted and with suitable consent/frequency controls.</a:t>
            </a:r>
          </a:p>
        </p:txBody>
      </p:sp>
      <p:pic>
        <p:nvPicPr>
          <p:cNvPr id="12" name="Picture 1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6144768"/>
            <a:ext cx="1783080" cy="658875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F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822960"/>
            <a:ext cx="1188720" cy="640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3400" b="1">
                <a:solidFill>
                  <a:srgbClr val="F4B400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74519"/>
            <a:ext cx="10058400" cy="10972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"/>
              </a:defRPr>
            </a:pPr>
            <a:r>
              <a:t>08 | LinkedIn, apps &amp; affiliate marketing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200400"/>
            <a:ext cx="9144000" cy="10972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2000" b="0">
                <a:solidFill>
                  <a:srgbClr val="D2DEEF"/>
                </a:solidFill>
                <a:latin typeface="Aptos"/>
              </a:defRPr>
            </a:pPr>
            <a:r>
              <a:t>Use specialized channels when they fit the audience and business model.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4937760"/>
            <a:ext cx="1828800" cy="73152"/>
          </a:xfrm>
          <a:prstGeom prst="rect">
            <a:avLst/>
          </a:prstGeom>
          <a:solidFill>
            <a:srgbClr val="12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6400800" cy="16459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800" b="1">
                <a:solidFill>
                  <a:srgbClr val="AABED7"/>
                </a:solidFill>
                <a:latin typeface="Aptos"/>
              </a:defRPr>
            </a:pPr>
            <a:r>
              <a:t>DIGITAL MARKETING • PRACTICAL LEARNING DECK</a:t>
            </a:r>
          </a:p>
        </p:txBody>
      </p:sp>
      <p:pic>
        <p:nvPicPr>
          <p:cNvPr id="7" name="Picture 6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6144768"/>
            <a:ext cx="1783080" cy="658875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2700" b="1">
                <a:solidFill>
                  <a:srgbClr val="121F38"/>
                </a:solidFill>
                <a:latin typeface="Aptos"/>
              </a:defRPr>
            </a:pPr>
            <a:r>
              <a:t>LinkedIn for B2B marketing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914400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900" b="1">
                <a:solidFill>
                  <a:srgbClr val="12A0A0"/>
                </a:solidFill>
                <a:latin typeface="Aptos"/>
              </a:defRPr>
            </a:pPr>
            <a:r>
              <a:t>LINKEDIN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6400800" cy="16459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800" b="1">
                <a:solidFill>
                  <a:srgbClr val="5F6C7D"/>
                </a:solidFill>
                <a:latin typeface="Aptos"/>
              </a:defRPr>
            </a:pPr>
            <a:r>
              <a:t>DIGITAL MARKETING • PRACTICAL LEARNING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365760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800" b="0">
                <a:solidFill>
                  <a:srgbClr val="5F6C7D"/>
                </a:solidFill>
                <a:latin typeface="Aptos"/>
              </a:defRPr>
            </a:pPr>
            <a:r>
              <a:t>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Make profiles specific about audience and outcomes.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47672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Publish practical insights, short case studies and thoughtful commentary.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9464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Connect with relevant people using personalized, respectful messages.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91256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Offer value before asking for a meeting; avoid mass spam.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13048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Track qualified conversations, meetings and pipeline contribution.</a:t>
            </a:r>
          </a:p>
        </p:txBody>
      </p:sp>
      <p:pic>
        <p:nvPicPr>
          <p:cNvPr id="12" name="Picture 1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6144768"/>
            <a:ext cx="1783080" cy="658875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2700" b="1">
                <a:solidFill>
                  <a:srgbClr val="121F38"/>
                </a:solidFill>
                <a:latin typeface="Aptos"/>
              </a:defRPr>
            </a:pPr>
            <a:r>
              <a:t>App marketing: discovery to retention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914400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900" b="1">
                <a:solidFill>
                  <a:srgbClr val="12A0A0"/>
                </a:solidFill>
                <a:latin typeface="Aptos"/>
              </a:defRPr>
            </a:pPr>
            <a:r>
              <a:t>APP MARKETING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6400800" cy="16459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800" b="1">
                <a:solidFill>
                  <a:srgbClr val="5F6C7D"/>
                </a:solidFill>
                <a:latin typeface="Aptos"/>
              </a:defRPr>
            </a:pPr>
            <a:r>
              <a:t>DIGITAL MARKETING • PRACTICAL LEARNING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365760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800" b="0">
                <a:solidFill>
                  <a:srgbClr val="5F6C7D"/>
                </a:solidFill>
                <a:latin typeface="Aptos"/>
              </a:defRPr>
            </a:pPr>
            <a:r>
              <a:t>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Define target user and core use case.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47672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Improve store listing with clear title, description, screenshots and demo media.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9464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Help users reach the first useful outcome quickly.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91256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Measure installs, activation, retention, reviews and paid conversion.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13048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Investigate drop-off before spending more on acquisition.</a:t>
            </a:r>
          </a:p>
        </p:txBody>
      </p:sp>
      <p:pic>
        <p:nvPicPr>
          <p:cNvPr id="12" name="Picture 1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6144768"/>
            <a:ext cx="1783080" cy="658875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2700" b="1">
                <a:solidFill>
                  <a:srgbClr val="121F38"/>
                </a:solidFill>
                <a:latin typeface="Aptos"/>
              </a:defRPr>
            </a:pPr>
            <a:r>
              <a:t>Affiliate marketing 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914400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900" b="1">
                <a:solidFill>
                  <a:srgbClr val="12A0A0"/>
                </a:solidFill>
                <a:latin typeface="Aptos"/>
              </a:defRPr>
            </a:pPr>
            <a:r>
              <a:t>AFFILIATE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6400800" cy="16459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800" b="1">
                <a:solidFill>
                  <a:srgbClr val="5F6C7D"/>
                </a:solidFill>
                <a:latin typeface="Aptos"/>
              </a:defRPr>
            </a:pPr>
            <a:r>
              <a:t>DIGITAL MARKETING • PRACTICAL LEARNING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365760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800" b="0">
                <a:solidFill>
                  <a:srgbClr val="5F6C7D"/>
                </a:solidFill>
                <a:latin typeface="Aptos"/>
              </a:defRPr>
            </a:pPr>
            <a:r>
              <a:t>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Choose a niche where you can provide useful, honest recommendations.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47672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Build trust with tutorials, comparisons, reviews and real use cases.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9464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Disclose affiliate relationships clearly and follow applicable requirements.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91256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Compare clicks with downstream conversions.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13048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Treat income as uncertain; it depends on trust, demand and offer quality.</a:t>
            </a:r>
          </a:p>
        </p:txBody>
      </p:sp>
      <p:pic>
        <p:nvPicPr>
          <p:cNvPr id="12" name="Picture 1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6144768"/>
            <a:ext cx="1783080" cy="658875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F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822960"/>
            <a:ext cx="1188720" cy="640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3400" b="1">
                <a:solidFill>
                  <a:srgbClr val="F4B400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74519"/>
            <a:ext cx="10058400" cy="10972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"/>
              </a:defRPr>
            </a:pPr>
            <a:r>
              <a:t>09 | Analytics, conversion &amp;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200400"/>
            <a:ext cx="9144000" cy="10972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2000" b="0">
                <a:solidFill>
                  <a:srgbClr val="D2DEEF"/>
                </a:solidFill>
                <a:latin typeface="Aptos"/>
              </a:defRPr>
            </a:pPr>
            <a:r>
              <a:t>Turn campaign data into decisions, not just reports.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4937760"/>
            <a:ext cx="1828800" cy="73152"/>
          </a:xfrm>
          <a:prstGeom prst="rect">
            <a:avLst/>
          </a:prstGeom>
          <a:solidFill>
            <a:srgbClr val="12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6400800" cy="16459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800" b="1">
                <a:solidFill>
                  <a:srgbClr val="AABED7"/>
                </a:solidFill>
                <a:latin typeface="Aptos"/>
              </a:defRPr>
            </a:pPr>
            <a:r>
              <a:t>DIGITAL MARKETING • PRACTICAL LEARNING DECK</a:t>
            </a:r>
          </a:p>
        </p:txBody>
      </p:sp>
      <p:pic>
        <p:nvPicPr>
          <p:cNvPr id="7" name="Picture 6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6144768"/>
            <a:ext cx="1783080" cy="658875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2700" b="1">
                <a:solidFill>
                  <a:srgbClr val="121F38"/>
                </a:solidFill>
                <a:latin typeface="Aptos"/>
              </a:defRPr>
            </a:pPr>
            <a:r>
              <a:t>Measurement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914400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900" b="1">
                <a:solidFill>
                  <a:srgbClr val="12A0A0"/>
                </a:solidFill>
                <a:latin typeface="Aptos"/>
              </a:defRPr>
            </a:pPr>
            <a:r>
              <a:t>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6400800" cy="16459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800" b="1">
                <a:solidFill>
                  <a:srgbClr val="5F6C7D"/>
                </a:solidFill>
                <a:latin typeface="Aptos"/>
              </a:defRPr>
            </a:pPr>
            <a:r>
              <a:t>DIGITAL MARKETING • PRACTICAL LEARNING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365760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800" b="0">
                <a:solidFill>
                  <a:srgbClr val="5F6C7D"/>
                </a:solidFill>
                <a:latin typeface="Aptos"/>
              </a:defRPr>
            </a:pPr>
            <a:r>
              <a:t>43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Business outcome: revenue, qualified pipeline, bookings or retained customers.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47672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Conversion events: form submit, purchase, call, sign-up or activation.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9464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Leading indicators: impressions, reach, clicks, sessions and engagement.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91256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Quality indicators: qualified lead rate, sales acceptance, refunds and retention.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13048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Use consistent campaign naming and UTM parameters.</a:t>
            </a:r>
          </a:p>
        </p:txBody>
      </p:sp>
      <p:pic>
        <p:nvPicPr>
          <p:cNvPr id="12" name="Picture 1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6144768"/>
            <a:ext cx="1783080" cy="658875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2700" b="1">
                <a:solidFill>
                  <a:srgbClr val="121F38"/>
                </a:solidFill>
                <a:latin typeface="Aptos"/>
              </a:defRPr>
            </a:pPr>
            <a:r>
              <a:t>Core metrics and formulas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914400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900" b="1">
                <a:solidFill>
                  <a:srgbClr val="12A0A0"/>
                </a:solidFill>
                <a:latin typeface="Aptos"/>
              </a:defRPr>
            </a:pPr>
            <a:r>
              <a:t>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6400800" cy="16459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800" b="1">
                <a:solidFill>
                  <a:srgbClr val="5F6C7D"/>
                </a:solidFill>
                <a:latin typeface="Aptos"/>
              </a:defRPr>
            </a:pPr>
            <a:r>
              <a:t>DIGITAL MARKETING • PRACTICAL LEARNING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365760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800" b="0">
                <a:solidFill>
                  <a:srgbClr val="5F6C7D"/>
                </a:solidFill>
                <a:latin typeface="Aptos"/>
              </a:defRPr>
            </a:pPr>
            <a:r>
              <a:t>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CTR = clicks ÷ impressions × 100%.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47672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Conversion rate = conversions ÷ relevant visits or clicks × 100%.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9464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CPC = ad spend ÷ clicks; CPA = ad spend ÷ attributed conversions.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91256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ROAS = attributed revenue ÷ ad spend; it is not the same as profit.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13048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Lead-to-customer rate = customers ÷ leads × 100%.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5623560"/>
            <a:ext cx="10881360" cy="566928"/>
          </a:xfrm>
          <a:prstGeom prst="roundRect">
            <a:avLst/>
          </a:prstGeom>
          <a:solidFill>
            <a:srgbClr val="E0F6F4"/>
          </a:solidFill>
          <a:ln>
            <a:solidFill>
              <a:srgbClr val="E0F6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696712"/>
            <a:ext cx="10515600" cy="365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400" b="1">
                <a:solidFill>
                  <a:srgbClr val="121F38"/>
                </a:solidFill>
                <a:latin typeface="Aptos"/>
              </a:defRPr>
            </a:pPr>
            <a:r>
              <a:t>Always state the denominator, attribution window and data source.</a:t>
            </a:r>
          </a:p>
        </p:txBody>
      </p:sp>
      <p:pic>
        <p:nvPicPr>
          <p:cNvPr id="14" name="Picture 13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6144768"/>
            <a:ext cx="1783080" cy="658875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2700" b="1">
                <a:solidFill>
                  <a:srgbClr val="121F38"/>
                </a:solidFill>
                <a:latin typeface="Aptos"/>
              </a:defRPr>
            </a:pPr>
            <a:r>
              <a:t>Example campaign scorecard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914400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900" b="1">
                <a:solidFill>
                  <a:srgbClr val="12A0A0"/>
                </a:solidFill>
                <a:latin typeface="Aptos"/>
              </a:defRPr>
            </a:pPr>
            <a:r>
              <a:t>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6400800" cy="16459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800" b="1">
                <a:solidFill>
                  <a:srgbClr val="5F6C7D"/>
                </a:solidFill>
                <a:latin typeface="Aptos"/>
              </a:defRPr>
            </a:pPr>
            <a:r>
              <a:t>DIGITAL MARKETING • PRACTICAL LEARNING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365760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800" b="0">
                <a:solidFill>
                  <a:srgbClr val="5F6C7D"/>
                </a:solidFill>
                <a:latin typeface="Aptos"/>
              </a:defRPr>
            </a:pPr>
            <a:r>
              <a:t>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Campaign A: ₹10,000 spend, 1,000 clicks, 40 leads = ₹250 per lead.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47672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Campaign B: ₹10,000 spend, 800 clicks, 48 leads = about ₹208 per lead.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9464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If A has 12 qualified leads, cost per qualified lead is about ₹833.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91256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If B has 24 qualified leads, cost per qualified lead is about ₹417.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13048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Lead quality and revenue matter more than click volume.</a:t>
            </a:r>
          </a:p>
        </p:txBody>
      </p:sp>
      <p:pic>
        <p:nvPicPr>
          <p:cNvPr id="12" name="Picture 1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6144768"/>
            <a:ext cx="1783080" cy="658875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2700" b="1">
                <a:solidFill>
                  <a:srgbClr val="121F38"/>
                </a:solidFill>
                <a:latin typeface="Aptos"/>
              </a:defRPr>
            </a:pPr>
            <a:r>
              <a:t>Conversion rate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914400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900" b="1">
                <a:solidFill>
                  <a:srgbClr val="12A0A0"/>
                </a:solidFill>
                <a:latin typeface="Aptos"/>
              </a:defRPr>
            </a:pPr>
            <a:r>
              <a:t>OPTIMIZATION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6400800" cy="16459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800" b="1">
                <a:solidFill>
                  <a:srgbClr val="5F6C7D"/>
                </a:solidFill>
                <a:latin typeface="Aptos"/>
              </a:defRPr>
            </a:pPr>
            <a:r>
              <a:t>DIGITAL MARKETING • PRACTICAL LEARNING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365760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800" b="0">
                <a:solidFill>
                  <a:srgbClr val="5F6C7D"/>
                </a:solidFill>
                <a:latin typeface="Aptos"/>
              </a:defRPr>
            </a:pPr>
            <a:r>
              <a:t>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Find friction using analytics, support questions and usability tests.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47672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Prioritize issues by impact, confidence and effort.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9464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Improve message match, page clarity, form length, proof and mobile usability.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91256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Write a hypothesis before changing the page.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13048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Avoid declaring a winner from tiny samples or changing many variables at once.</a:t>
            </a:r>
          </a:p>
        </p:txBody>
      </p:sp>
      <p:pic>
        <p:nvPicPr>
          <p:cNvPr id="12" name="Picture 1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6144768"/>
            <a:ext cx="1783080" cy="658875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2700" b="1">
                <a:solidFill>
                  <a:srgbClr val="121F38"/>
                </a:solidFill>
                <a:latin typeface="Aptos"/>
              </a:defRPr>
            </a:pPr>
            <a:r>
              <a:t>Attribution and privacy-aware measurement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914400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900" b="1">
                <a:solidFill>
                  <a:srgbClr val="12A0A0"/>
                </a:solidFill>
                <a:latin typeface="Aptos"/>
              </a:defRPr>
            </a:pPr>
            <a:r>
              <a:t>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6400800" cy="16459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800" b="1">
                <a:solidFill>
                  <a:srgbClr val="5F6C7D"/>
                </a:solidFill>
                <a:latin typeface="Aptos"/>
              </a:defRPr>
            </a:pPr>
            <a:r>
              <a:t>DIGITAL MARKETING • PRACTICAL LEARNING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365760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800" b="0">
                <a:solidFill>
                  <a:srgbClr val="5F6C7D"/>
                </a:solidFill>
                <a:latin typeface="Aptos"/>
              </a:defRPr>
            </a:pPr>
            <a:r>
              <a:t>47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Customers may see several channels before converting; no model tells the whole story.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47672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Use platform reports, analytics and CRM outcomes together.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9464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UTMs label source, medium and campaign when links are tagged consistently.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91256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Consent and browser restrictions can create gaps in observed data.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13048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Collect only necessary data; combine attribution with experiments and business outcomes.</a:t>
            </a:r>
          </a:p>
        </p:txBody>
      </p:sp>
      <p:pic>
        <p:nvPicPr>
          <p:cNvPr id="12" name="Picture 1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6144768"/>
            <a:ext cx="1783080" cy="658875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F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822960"/>
            <a:ext cx="1188720" cy="640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3400" b="1">
                <a:solidFill>
                  <a:srgbClr val="F4B400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74519"/>
            <a:ext cx="10058400" cy="10972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"/>
              </a:defRPr>
            </a:pPr>
            <a:r>
              <a:t>10 | Practical launch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200400"/>
            <a:ext cx="9144000" cy="10972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2000" b="0">
                <a:solidFill>
                  <a:srgbClr val="D2DEEF"/>
                </a:solidFill>
                <a:latin typeface="Aptos"/>
              </a:defRPr>
            </a:pPr>
            <a:r>
              <a:t>Convert the modules into a focused 30-day experiment.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4937760"/>
            <a:ext cx="1828800" cy="73152"/>
          </a:xfrm>
          <a:prstGeom prst="rect">
            <a:avLst/>
          </a:prstGeom>
          <a:solidFill>
            <a:srgbClr val="12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6400800" cy="16459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800" b="1">
                <a:solidFill>
                  <a:srgbClr val="AABED7"/>
                </a:solidFill>
                <a:latin typeface="Aptos"/>
              </a:defRPr>
            </a:pPr>
            <a:r>
              <a:t>DIGITAL MARKETING • PRACTICAL LEARNING DECK</a:t>
            </a:r>
          </a:p>
        </p:txBody>
      </p:sp>
      <p:pic>
        <p:nvPicPr>
          <p:cNvPr id="7" name="Picture 6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6144768"/>
            <a:ext cx="1783080" cy="658875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2700" b="1">
                <a:solidFill>
                  <a:srgbClr val="121F38"/>
                </a:solidFill>
                <a:latin typeface="Aptos"/>
              </a:defRPr>
            </a:pPr>
            <a:r>
              <a:t>A 30-day starter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914400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900" b="1">
                <a:solidFill>
                  <a:srgbClr val="12A0A0"/>
                </a:solidFill>
                <a:latin typeface="Aptos"/>
              </a:defRPr>
            </a:pPr>
            <a:r>
              <a:t>EXECUTION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6400800" cy="16459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800" b="1">
                <a:solidFill>
                  <a:srgbClr val="5F6C7D"/>
                </a:solidFill>
                <a:latin typeface="Aptos"/>
              </a:defRPr>
            </a:pPr>
            <a:r>
              <a:t>DIGITAL MARKETING • PRACTICAL LEARNING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365760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800" b="0">
                <a:solidFill>
                  <a:srgbClr val="5F6C7D"/>
                </a:solidFill>
                <a:latin typeface="Aptos"/>
              </a:defRPr>
            </a:pPr>
            <a:r>
              <a:t>49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Week 1: persona, five interviews, competitor scan and offer statement.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47672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Week 2: landing page, lead offer, analytics events and tracking links.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9464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Week 3: publish 3–5 useful assets and build an email welcome flow.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91256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Week 4: run a small paid test if appropriate; review scorecard and improve one thing.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13048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Success means qualified learning and leads—not vanity metrics.</a:t>
            </a:r>
          </a:p>
        </p:txBody>
      </p:sp>
      <p:pic>
        <p:nvPicPr>
          <p:cNvPr id="12" name="Picture 1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6144768"/>
            <a:ext cx="1783080" cy="658875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2700" b="1">
                <a:solidFill>
                  <a:srgbClr val="121F38"/>
                </a:solidFill>
                <a:latin typeface="Aptos"/>
              </a:defRPr>
            </a:pPr>
            <a:r>
              <a:t>Example: market a small B2B service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914400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900" b="1">
                <a:solidFill>
                  <a:srgbClr val="12A0A0"/>
                </a:solidFill>
                <a:latin typeface="Aptos"/>
              </a:defRPr>
            </a:pPr>
            <a:r>
              <a:t>PRACTICAL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6400800" cy="16459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800" b="1">
                <a:solidFill>
                  <a:srgbClr val="5F6C7D"/>
                </a:solidFill>
                <a:latin typeface="Aptos"/>
              </a:defRPr>
            </a:pPr>
            <a:r>
              <a:t>DIGITAL MARKETING • PRACTICAL LEARNING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365760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800" b="0">
                <a:solidFill>
                  <a:srgbClr val="5F6C7D"/>
                </a:solidFill>
                <a:latin typeface="Aptos"/>
              </a:defRPr>
            </a:pPr>
            <a:r>
              <a:t>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Audience: small firms needing reliable software development support.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47672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Offer: a discovery call or technical assessment with clear scope.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9464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Landing page: problem, outcomes, proof, process, FAQ and booking CTA.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91256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Content: explain delivery risks, architecture choices and project lessons.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13048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Measure qualified enquiries, meetings, proposals and won revenue.</a:t>
            </a:r>
          </a:p>
        </p:txBody>
      </p:sp>
      <p:pic>
        <p:nvPicPr>
          <p:cNvPr id="12" name="Picture 1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6144768"/>
            <a:ext cx="1783080" cy="658875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2700" b="1">
                <a:solidFill>
                  <a:srgbClr val="121F38"/>
                </a:solidFill>
                <a:latin typeface="Aptos"/>
              </a:defRPr>
            </a:pPr>
            <a:r>
              <a:t>Budget and experiment discipline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914400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900" b="1">
                <a:solidFill>
                  <a:srgbClr val="12A0A0"/>
                </a:solidFill>
                <a:latin typeface="Aptos"/>
              </a:defRPr>
            </a:pPr>
            <a:r>
              <a:t>EXECUTION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6400800" cy="16459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800" b="1">
                <a:solidFill>
                  <a:srgbClr val="5F6C7D"/>
                </a:solidFill>
                <a:latin typeface="Aptos"/>
              </a:defRPr>
            </a:pPr>
            <a:r>
              <a:t>DIGITAL MARKETING • PRACTICAL LEARNING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365760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800" b="0">
                <a:solidFill>
                  <a:srgbClr val="5F6C7D"/>
                </a:solidFill>
                <a:latin typeface="Aptos"/>
              </a:defRPr>
            </a:pPr>
            <a:r>
              <a:t>51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Start with organic learning and low-cost validation where feasible.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47672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Separate test budget from money needed to operate the business.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9464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Document hypothesis, audience, creative, landing page and conversion event.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91256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Set a review date and rules for pausing or continuing.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13048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Do not scale until lead quality and unit economics are understood.</a:t>
            </a:r>
          </a:p>
        </p:txBody>
      </p:sp>
      <p:pic>
        <p:nvPicPr>
          <p:cNvPr id="12" name="Picture 1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6144768"/>
            <a:ext cx="1783080" cy="658875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2700" b="1">
                <a:solidFill>
                  <a:srgbClr val="121F38"/>
                </a:solidFill>
                <a:latin typeface="Aptos"/>
              </a:defRPr>
            </a:pPr>
            <a:r>
              <a:t>Common mistakes to avoid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914400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900" b="1">
                <a:solidFill>
                  <a:srgbClr val="12A0A0"/>
                </a:solidFill>
                <a:latin typeface="Aptos"/>
              </a:defRPr>
            </a:pPr>
            <a:r>
              <a:t>EXECUTION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6400800" cy="16459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800" b="1">
                <a:solidFill>
                  <a:srgbClr val="5F6C7D"/>
                </a:solidFill>
                <a:latin typeface="Aptos"/>
              </a:defRPr>
            </a:pPr>
            <a:r>
              <a:t>DIGITAL MARKETING • PRACTICAL LEARNING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365760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800" b="0">
                <a:solidFill>
                  <a:srgbClr val="5F6C7D"/>
                </a:solidFill>
                <a:latin typeface="Aptos"/>
              </a:defRPr>
            </a:pPr>
            <a:r>
              <a:t>52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Marketing to everyone and using vague promises.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47672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Launching ads before the offer, landing page and tracking are ready.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9464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Buying email lists or spamming prospects.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91256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Chasing vanity metrics without business outcomes.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13048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Publishing AI-generated claims without verification or expecting guaranteed revenue.</a:t>
            </a:r>
          </a:p>
        </p:txBody>
      </p:sp>
      <p:pic>
        <p:nvPicPr>
          <p:cNvPr id="12" name="Picture 1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6144768"/>
            <a:ext cx="1783080" cy="658875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2700" b="1">
                <a:solidFill>
                  <a:srgbClr val="121F38"/>
                </a:solidFill>
                <a:latin typeface="Aptos"/>
              </a:defRPr>
            </a:pPr>
            <a:r>
              <a:t>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914400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900" b="1">
                <a:solidFill>
                  <a:srgbClr val="12A0A0"/>
                </a:solidFill>
                <a:latin typeface="Aptos"/>
              </a:defRPr>
            </a:pPr>
            <a:r>
              <a:t>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6400800" cy="16459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800" b="1">
                <a:solidFill>
                  <a:srgbClr val="5F6C7D"/>
                </a:solidFill>
                <a:latin typeface="Aptos"/>
              </a:defRPr>
            </a:pPr>
            <a:r>
              <a:t>DIGITAL MARKETING • PRACTICAL LEARNING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365760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800" b="0">
                <a:solidFill>
                  <a:srgbClr val="5F6C7D"/>
                </a:solidFill>
                <a:latin typeface="Aptos"/>
              </a:defRPr>
            </a:pPr>
            <a:r>
              <a:t>53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Choose a business and define one target segment.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47672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Write a positioning statement and one measurable 30-day objective.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9464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Create a landing-page outline and lead offer.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91256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Build a two-week content calendar with at least five assets.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13048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Draft a three-email welcome sequence and one ad concept.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434840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Define a scorecard with 5–7 metrics and a weekly review routine.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5623560"/>
            <a:ext cx="10881360" cy="566928"/>
          </a:xfrm>
          <a:prstGeom prst="roundRect">
            <a:avLst/>
          </a:prstGeom>
          <a:solidFill>
            <a:srgbClr val="E0F6F4"/>
          </a:solidFill>
          <a:ln>
            <a:solidFill>
              <a:srgbClr val="E0F6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5696712"/>
            <a:ext cx="10515600" cy="365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400" b="1">
                <a:solidFill>
                  <a:srgbClr val="121F38"/>
                </a:solidFill>
                <a:latin typeface="Aptos"/>
              </a:defRPr>
            </a:pPr>
            <a:r>
              <a:t>Deliverable: a concise marketing plan you could present to a business owner or client.</a:t>
            </a:r>
          </a:p>
        </p:txBody>
      </p:sp>
      <p:pic>
        <p:nvPicPr>
          <p:cNvPr id="15" name="Picture 14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6144768"/>
            <a:ext cx="1783080" cy="658875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2700" b="1">
                <a:solidFill>
                  <a:srgbClr val="121F38"/>
                </a:solidFill>
                <a:latin typeface="Aptos"/>
              </a:defRPr>
            </a:pPr>
            <a:r>
              <a:t>Tools to explore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914400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900" b="1">
                <a:solidFill>
                  <a:srgbClr val="12A0A0"/>
                </a:solidFill>
                <a:latin typeface="Aptos"/>
              </a:defRPr>
            </a:pPr>
            <a:r>
              <a:t>REFERENCE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6400800" cy="16459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800" b="1">
                <a:solidFill>
                  <a:srgbClr val="5F6C7D"/>
                </a:solidFill>
                <a:latin typeface="Aptos"/>
              </a:defRPr>
            </a:pPr>
            <a:r>
              <a:t>DIGITAL MARKETING • PRACTICAL LEARNING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365760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800" b="0">
                <a:solidFill>
                  <a:srgbClr val="5F6C7D"/>
                </a:solidFill>
                <a:latin typeface="Aptos"/>
              </a:defRPr>
            </a:pPr>
            <a:r>
              <a:t>54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Research: Google Trends, Google Forms and spreadsheet tools.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47672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Website: WordPress or another suitable CMS and page-speed tools.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9464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SEO: Google Search Console and keyword research tools.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91256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Creative: Canva, a video editor and a content calendar.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13048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Email: reputable provider with consent controls; analytics: GA4 and CRM reporting.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434840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AI: approved tools for brainstorming and drafting—verify outputs.</a:t>
            </a:r>
          </a:p>
        </p:txBody>
      </p:sp>
      <p:pic>
        <p:nvPicPr>
          <p:cNvPr id="13" name="Picture 12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6144768"/>
            <a:ext cx="1783080" cy="658875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2700" b="1">
                <a:solidFill>
                  <a:srgbClr val="121F38"/>
                </a:solidFill>
                <a:latin typeface="Aptos"/>
              </a:defRPr>
            </a:pPr>
            <a:r>
              <a:t>Sources, scope and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914400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900" b="1">
                <a:solidFill>
                  <a:srgbClr val="12A0A0"/>
                </a:solidFill>
                <a:latin typeface="Aptos"/>
              </a:defRPr>
            </a:pPr>
            <a:r>
              <a:t>REFERENCE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6400800" cy="16459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800" b="1">
                <a:solidFill>
                  <a:srgbClr val="5F6C7D"/>
                </a:solidFill>
                <a:latin typeface="Aptos"/>
              </a:defRPr>
            </a:pPr>
            <a:r>
              <a:t>DIGITAL MARKETING • PRACTICAL LEARNING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365760" cy="182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800" b="0">
                <a:solidFill>
                  <a:srgbClr val="5F6C7D"/>
                </a:solidFill>
                <a:latin typeface="Aptos"/>
              </a:defRPr>
            </a:pPr>
            <a:r>
              <a:t>55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Primary source: The Complete Digital Marketing Course – 12 Courses in 1, by Rob Percival, Daragh Walsh and Codestars.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47672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Course page: https://www.udemy.com/course/learn-digital-marketing-course/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9464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This is an independently written study guide based on the public course outline—not an official Udemy slide deck or a reproduction of paid lectures.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91256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It summarizes core topics and adds modern practice notes; it does not claim to cover every lecture.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13048"/>
            <a:ext cx="10698480" cy="4389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700" b="0">
                <a:solidFill>
                  <a:srgbClr val="232D3C"/>
                </a:solidFill>
                <a:latin typeface="Aptos"/>
              </a:defRPr>
            </a:pPr>
            <a:r>
              <a:t>•  Next step: pick a business, complete the capstone and review results weekly.</a:t>
            </a:r>
          </a:p>
        </p:txBody>
      </p:sp>
      <p:pic>
        <p:nvPicPr>
          <p:cNvPr id="12" name="Picture 11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6144768"/>
            <a:ext cx="1783080" cy="658875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97280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2700" b="1">
                <a:solidFill>
                  <a:srgbClr val="121F38"/>
                </a:solidFill>
                <a:latin typeface="Aptos"/>
              </a:defRPr>
            </a:pPr>
            <a:r>
              <a:t>Quick reference: metrics to monitor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914400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900" b="1">
                <a:solidFill>
                  <a:srgbClr val="12A0A0"/>
                </a:solidFill>
                <a:latin typeface="Aptos"/>
              </a:defRPr>
            </a:pPr>
            <a:r>
              <a:t>ANALYTICS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325880"/>
          <a:ext cx="1088136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840480"/>
                <a:gridCol w="5029200"/>
              </a:tblGrid>
              <a:tr h="6400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21F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Formula / meaning</a:t>
                      </a:r>
                    </a:p>
                  </a:txBody>
                  <a:tcPr>
                    <a:solidFill>
                      <a:srgbClr val="121F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Use it to answer</a:t>
                      </a:r>
                    </a:p>
                  </a:txBody>
                  <a:tcPr>
                    <a:solidFill>
                      <a:srgbClr val="121F3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D3C"/>
                          </a:solidFill>
                          <a:latin typeface="Aptos"/>
                        </a:defRPr>
                      </a:pPr>
                      <a:r>
                        <a:t>CTR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D3C"/>
                          </a:solidFill>
                          <a:latin typeface="Aptos"/>
                        </a:defRPr>
                      </a:pPr>
                      <a:r>
                        <a:t>Clicks ÷ impressions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D3C"/>
                          </a:solidFill>
                          <a:latin typeface="Aptos"/>
                        </a:defRPr>
                      </a:pPr>
                      <a:r>
                        <a:t>Is the message earning clicks?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D3C"/>
                          </a:solidFill>
                          <a:latin typeface="Aptos"/>
                        </a:defRPr>
                      </a:pPr>
                      <a:r>
                        <a:t>Conversion rate</a:t>
                      </a:r>
                    </a:p>
                  </a:txBody>
                  <a:tcPr>
                    <a:solidFill>
                      <a:srgbClr val="E5EF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D3C"/>
                          </a:solidFill>
                          <a:latin typeface="Aptos"/>
                        </a:defRPr>
                      </a:pPr>
                      <a:r>
                        <a:t>Conversions ÷ relevant visits/clicks</a:t>
                      </a:r>
                    </a:p>
                  </a:txBody>
                  <a:tcPr>
                    <a:solidFill>
                      <a:srgbClr val="E5EF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D3C"/>
                          </a:solidFill>
                          <a:latin typeface="Aptos"/>
                        </a:defRPr>
                      </a:pPr>
                      <a:r>
                        <a:t>Does the experience convert?</a:t>
                      </a:r>
                    </a:p>
                  </a:txBody>
                  <a:tcPr>
                    <a:solidFill>
                      <a:srgbClr val="E5EFFD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D3C"/>
                          </a:solidFill>
                          <a:latin typeface="Aptos"/>
                        </a:defRPr>
                      </a:pPr>
                      <a:r>
                        <a:t>CPC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D3C"/>
                          </a:solidFill>
                          <a:latin typeface="Aptos"/>
                        </a:defRPr>
                      </a:pPr>
                      <a:r>
                        <a:t>Spend ÷ clicks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D3C"/>
                          </a:solidFill>
                          <a:latin typeface="Aptos"/>
                        </a:defRPr>
                      </a:pPr>
                      <a:r>
                        <a:t>How expensive is traffic?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D3C"/>
                          </a:solidFill>
                          <a:latin typeface="Aptos"/>
                        </a:defRPr>
                      </a:pPr>
                      <a:r>
                        <a:t>CPA</a:t>
                      </a:r>
                    </a:p>
                  </a:txBody>
                  <a:tcPr>
                    <a:solidFill>
                      <a:srgbClr val="E5EF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D3C"/>
                          </a:solidFill>
                          <a:latin typeface="Aptos"/>
                        </a:defRPr>
                      </a:pPr>
                      <a:r>
                        <a:t>Spend ÷ attributed conversions</a:t>
                      </a:r>
                    </a:p>
                  </a:txBody>
                  <a:tcPr>
                    <a:solidFill>
                      <a:srgbClr val="E5EF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D3C"/>
                          </a:solidFill>
                          <a:latin typeface="Aptos"/>
                        </a:defRPr>
                      </a:pPr>
                      <a:r>
                        <a:t>What does an action cost?</a:t>
                      </a:r>
                    </a:p>
                  </a:txBody>
                  <a:tcPr>
                    <a:solidFill>
                      <a:srgbClr val="E5EFFD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D3C"/>
                          </a:solidFill>
                          <a:latin typeface="Aptos"/>
                        </a:defRPr>
                      </a:pPr>
                      <a:r>
                        <a:t>ROAS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D3C"/>
                          </a:solidFill>
                          <a:latin typeface="Aptos"/>
                        </a:defRPr>
                      </a:pPr>
                      <a:r>
                        <a:t>Attributed revenue ÷ ad spend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D3C"/>
                          </a:solidFill>
                          <a:latin typeface="Aptos"/>
                        </a:defRPr>
                      </a:pPr>
                      <a:r>
                        <a:t>How much tracked revenue per ad rupee?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D3C"/>
                          </a:solidFill>
                          <a:latin typeface="Aptos"/>
                        </a:defRPr>
                      </a:pPr>
                      <a:r>
                        <a:t>Cost per qualified lead</a:t>
                      </a:r>
                    </a:p>
                  </a:txBody>
                  <a:tcPr>
                    <a:solidFill>
                      <a:srgbClr val="E5EF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D3C"/>
                          </a:solidFill>
                          <a:latin typeface="Aptos"/>
                        </a:defRPr>
                      </a:pPr>
                      <a:r>
                        <a:t>Spend ÷ qualified leads</a:t>
                      </a:r>
                    </a:p>
                  </a:txBody>
                  <a:tcPr>
                    <a:solidFill>
                      <a:srgbClr val="E5EF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D3C"/>
                          </a:solidFill>
                          <a:latin typeface="Aptos"/>
                        </a:defRPr>
                      </a:pPr>
                      <a:r>
                        <a:t>Are we attracting the right prospects?</a:t>
                      </a:r>
                    </a:p>
                  </a:txBody>
                  <a:tcPr>
                    <a:solidFill>
                      <a:srgbClr val="E5EFFD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510528"/>
            <a:ext cx="6400800" cy="16459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800" b="1">
                <a:solidFill>
                  <a:srgbClr val="5F6C7D"/>
                </a:solidFill>
                <a:latin typeface="Aptos"/>
              </a:defRPr>
            </a:pPr>
            <a:r>
              <a:t>DIGITAL MARKETING • PRACTICAL LEARNING DECK</a:t>
            </a:r>
          </a:p>
        </p:txBody>
      </p:sp>
      <p:pic>
        <p:nvPicPr>
          <p:cNvPr id="6" name="Picture 5" descr="skynetix_logo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6144768"/>
            <a:ext cx="1783080" cy="6588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
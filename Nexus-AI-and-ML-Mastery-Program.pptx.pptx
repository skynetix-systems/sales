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7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notesMasterIdLst>
    <p:notesMasterId r:id="rId19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</p:sldIdLst>
  <p:sldSz cx="18288000" cy="10287000"/>
  <p:notesSz cx="6858000" cy="9144000"/>
  <p:embeddedFontLst>
    <p:embeddedFont>
      <p:font typeface="Inter Bold" charset="1" panose="02000503000000020004"/>
      <p:regular r:id="rId17"/>
    </p:embeddedFont>
    <p:embeddedFont>
      <p:font typeface="Inter" charset="1" panose="02000503000000020004"/>
      <p:regular r:id="rId1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19" Target="notesMasters/notesMaster1.xml" Type="http://schemas.openxmlformats.org/officeDocument/2006/relationships/notesMaster"/><Relationship Id="rId2" Target="presProps.xml" Type="http://schemas.openxmlformats.org/officeDocument/2006/relationships/presProps"/><Relationship Id="rId20" Target="theme/theme2.xml" Type="http://schemas.openxmlformats.org/officeDocument/2006/relationships/theme"/><Relationship Id="rId21" Target="notesSlides/notesSlide1.xml" Type="http://schemas.openxmlformats.org/officeDocument/2006/relationships/notesSlide"/><Relationship Id="rId22" Target="notesSlides/notesSlide2.xml" Type="http://schemas.openxmlformats.org/officeDocument/2006/relationships/notesSlide"/><Relationship Id="rId23" Target="notesSlides/notesSlide3.xml" Type="http://schemas.openxmlformats.org/officeDocument/2006/relationships/notesSlide"/><Relationship Id="rId24" Target="notesSlides/notesSlide4.xml" Type="http://schemas.openxmlformats.org/officeDocument/2006/relationships/notesSlide"/><Relationship Id="rId25" Target="notesSlides/notesSlide5.xml" Type="http://schemas.openxmlformats.org/officeDocument/2006/relationships/notesSlide"/><Relationship Id="rId26" Target="notesSlides/notesSlide6.xml" Type="http://schemas.openxmlformats.org/officeDocument/2006/relationships/notesSlide"/><Relationship Id="rId27" Target="notesSlides/notesSlide7.xml" Type="http://schemas.openxmlformats.org/officeDocument/2006/relationships/notesSlide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.xml" Type="http://schemas.openxmlformats.org/officeDocument/2006/relationships/slide"/></Relationships>
</file>

<file path=ppt/notesSlides/_rels/notesSlide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5.xml" Type="http://schemas.openxmlformats.org/officeDocument/2006/relationships/slide"/></Relationships>
</file>

<file path=ppt/notesSlides/_rels/notesSlide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6.xml" Type="http://schemas.openxmlformats.org/officeDocument/2006/relationships/slide"/></Relationships>
</file>

<file path=ppt/notesSlides/_rels/notesSlide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7.xml" Type="http://schemas.openxmlformats.org/officeDocument/2006/relationships/slide"/></Relationships>
</file>

<file path=ppt/notesSlides/_rels/notesSlide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8.xml" Type="http://schemas.openxmlformats.org/officeDocument/2006/relationships/slide"/></Relationships>
</file>

<file path=ppt/notesSlides/_rels/notesSlide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9.xml" Type="http://schemas.openxmlformats.org/officeDocument/2006/relationships/slide"/></Relationships>
</file>

<file path=ppt/notesSlides/_rels/notesSlide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0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2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3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4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5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6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7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8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https://gamma.app/?utm_source=made-with-gamma" TargetMode="External" Type="http://schemas.openxmlformats.org/officeDocument/2006/relationships/hyperlink"/><Relationship Id="rId3" Target="../media/image1.png" Type="http://schemas.openxmlformats.org/officeDocument/2006/relationships/image"/><Relationship Id="rId4" Target="../media/image2.png" Type="http://schemas.openxmlformats.org/officeDocument/2006/relationships/image"/><Relationship Id="rId5" Target="../media/image3.png" Type="http://schemas.openxmlformats.org/officeDocument/2006/relationships/image"/><Relationship Id="rId6" Target="../media/image4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.xml" Type="http://schemas.openxmlformats.org/officeDocument/2006/relationships/notesSlide"/><Relationship Id="rId3" Target="https://gamma.app/?utm_source=made-with-gamma" TargetMode="External" Type="http://schemas.openxmlformats.org/officeDocument/2006/relationships/hyperlink"/><Relationship Id="rId4" Target="../media/image5.png" Type="http://schemas.openxmlformats.org/officeDocument/2006/relationships/image"/><Relationship Id="rId5" Target="../media/image6.png" Type="http://schemas.openxmlformats.org/officeDocument/2006/relationships/image"/><Relationship Id="rId6" Target="../media/image4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https://gamma.app/?utm_source=made-with-gamma" TargetMode="External" Type="http://schemas.openxmlformats.org/officeDocument/2006/relationships/hyperlink"/><Relationship Id="rId3" Target="../media/image1.png" Type="http://schemas.openxmlformats.org/officeDocument/2006/relationships/image"/><Relationship Id="rId4" Target="../media/image7.png" Type="http://schemas.openxmlformats.org/officeDocument/2006/relationships/image"/><Relationship Id="rId5" Target="../media/image8.png" Type="http://schemas.openxmlformats.org/officeDocument/2006/relationships/image"/><Relationship Id="rId6" Target="../media/image9.svg" Type="http://schemas.openxmlformats.org/officeDocument/2006/relationships/image"/><Relationship Id="rId7" Target="../media/image4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https://gamma.app/?utm_source=made-with-gamma" TargetMode="External" Type="http://schemas.openxmlformats.org/officeDocument/2006/relationships/hyperlink"/><Relationship Id="rId3" Target="../media/image1.png" Type="http://schemas.openxmlformats.org/officeDocument/2006/relationships/image"/><Relationship Id="rId4" Target="../media/image10.png" Type="http://schemas.openxmlformats.org/officeDocument/2006/relationships/image"/><Relationship Id="rId5" Target="../media/image11.jpeg" Type="http://schemas.openxmlformats.org/officeDocument/2006/relationships/image"/><Relationship Id="rId6" Target="../media/image4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.xml" Type="http://schemas.openxmlformats.org/officeDocument/2006/relationships/notesSlide"/><Relationship Id="rId3" Target="https://gamma.app/?utm_source=made-with-gamma" TargetMode="External" Type="http://schemas.openxmlformats.org/officeDocument/2006/relationships/hyperlink"/><Relationship Id="rId4" Target="../media/image5.png" Type="http://schemas.openxmlformats.org/officeDocument/2006/relationships/image"/><Relationship Id="rId5" Target="../media/image4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4.png" Type="http://schemas.openxmlformats.org/officeDocument/2006/relationships/image"/><Relationship Id="rId2" Target="../notesSlides/notesSlide3.xml" Type="http://schemas.openxmlformats.org/officeDocument/2006/relationships/notesSlide"/><Relationship Id="rId3" Target="https://gamma.app/?utm_source=made-with-gamma" TargetMode="External" Type="http://schemas.openxmlformats.org/officeDocument/2006/relationships/hyperlink"/><Relationship Id="rId4" Target="../media/image5.png" Type="http://schemas.openxmlformats.org/officeDocument/2006/relationships/image"/><Relationship Id="rId5" Target="../media/image12.png" Type="http://schemas.openxmlformats.org/officeDocument/2006/relationships/image"/><Relationship Id="rId6" Target="../media/image13.png" Type="http://schemas.openxmlformats.org/officeDocument/2006/relationships/image"/><Relationship Id="rId7" Target="../media/image14.svg" Type="http://schemas.openxmlformats.org/officeDocument/2006/relationships/image"/><Relationship Id="rId8" Target="../media/image15.png" Type="http://schemas.openxmlformats.org/officeDocument/2006/relationships/image"/><Relationship Id="rId9" Target="../media/image16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2.svg" Type="http://schemas.openxmlformats.org/officeDocument/2006/relationships/image"/><Relationship Id="rId11" Target="../media/image23.png" Type="http://schemas.openxmlformats.org/officeDocument/2006/relationships/image"/><Relationship Id="rId12" Target="../media/image24.svg" Type="http://schemas.openxmlformats.org/officeDocument/2006/relationships/image"/><Relationship Id="rId13" Target="../media/image25.png" Type="http://schemas.openxmlformats.org/officeDocument/2006/relationships/image"/><Relationship Id="rId14" Target="../media/image26.svg" Type="http://schemas.openxmlformats.org/officeDocument/2006/relationships/image"/><Relationship Id="rId15" Target="../media/image4.png" Type="http://schemas.openxmlformats.org/officeDocument/2006/relationships/image"/><Relationship Id="rId2" Target="../notesSlides/notesSlide4.xml" Type="http://schemas.openxmlformats.org/officeDocument/2006/relationships/notesSlide"/><Relationship Id="rId3" Target="https://gamma.app/?utm_source=made-with-gamma" TargetMode="External" Type="http://schemas.openxmlformats.org/officeDocument/2006/relationships/hyperlink"/><Relationship Id="rId4" Target="../media/image5.png" Type="http://schemas.openxmlformats.org/officeDocument/2006/relationships/image"/><Relationship Id="rId5" Target="../media/image17.png" Type="http://schemas.openxmlformats.org/officeDocument/2006/relationships/image"/><Relationship Id="rId6" Target="../media/image18.svg" Type="http://schemas.openxmlformats.org/officeDocument/2006/relationships/image"/><Relationship Id="rId7" Target="../media/image19.png" Type="http://schemas.openxmlformats.org/officeDocument/2006/relationships/image"/><Relationship Id="rId8" Target="../media/image20.svg" Type="http://schemas.openxmlformats.org/officeDocument/2006/relationships/image"/><Relationship Id="rId9" Target="../media/image21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5.xml" Type="http://schemas.openxmlformats.org/officeDocument/2006/relationships/notesSlide"/><Relationship Id="rId3" Target="https://gamma.app/?utm_source=made-with-gamma" TargetMode="External" Type="http://schemas.openxmlformats.org/officeDocument/2006/relationships/hyperlink"/><Relationship Id="rId4" Target="../media/image5.png" Type="http://schemas.openxmlformats.org/officeDocument/2006/relationships/image"/><Relationship Id="rId5" Target="../media/image27.png" Type="http://schemas.openxmlformats.org/officeDocument/2006/relationships/image"/><Relationship Id="rId6" Target="../media/image4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6.xml" Type="http://schemas.openxmlformats.org/officeDocument/2006/relationships/notesSlide"/><Relationship Id="rId3" Target="https://gamma.app/?utm_source=made-with-gamma" TargetMode="External" Type="http://schemas.openxmlformats.org/officeDocument/2006/relationships/hyperlink"/><Relationship Id="rId4" Target="../media/image5.png" Type="http://schemas.openxmlformats.org/officeDocument/2006/relationships/image"/><Relationship Id="rId5" Target="../media/image11.jpeg" Type="http://schemas.openxmlformats.org/officeDocument/2006/relationships/image"/><Relationship Id="rId6" Target="../media/image4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7.xml" Type="http://schemas.openxmlformats.org/officeDocument/2006/relationships/notesSlide"/><Relationship Id="rId3" Target="https://gamma.app/?utm_source=made-with-gamma" TargetMode="External" Type="http://schemas.openxmlformats.org/officeDocument/2006/relationships/hyperlink"/><Relationship Id="rId4" Target="../media/image5.png" Type="http://schemas.openxmlformats.org/officeDocument/2006/relationships/image"/><Relationship Id="rId5" Target="../media/image11.jpeg" Type="http://schemas.openxmlformats.org/officeDocument/2006/relationships/image"/><Relationship Id="rId6" Target="../media/image4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8.png" Type="http://schemas.openxmlformats.org/officeDocument/2006/relationships/image"/><Relationship Id="rId3" Target="../media/image4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301840" cy="10295039"/>
            <a:chOff x="0" y="0"/>
            <a:chExt cx="24402453" cy="1372671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0241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4950BC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6628307" y="9846183"/>
            <a:ext cx="1609020" cy="384353"/>
            <a:chOff x="0" y="0"/>
            <a:chExt cx="2145360" cy="512470"/>
          </a:xfrm>
        </p:grpSpPr>
        <p:sp>
          <p:nvSpPr>
            <p:cNvPr name="Freeform 5" id="5" descr="preencoded.png">
              <a:hlinkClick r:id="rId2" tooltip="https://gamma.app/?utm_source=made-with-gamma"/>
            </p:cNvPr>
            <p:cNvSpPr/>
            <p:nvPr/>
          </p:nvSpPr>
          <p:spPr>
            <a:xfrm flipH="false" flipV="false" rot="0">
              <a:off x="0" y="0"/>
              <a:ext cx="2145411" cy="512445"/>
            </a:xfrm>
            <a:custGeom>
              <a:avLst/>
              <a:gdLst/>
              <a:ahLst/>
              <a:cxnLst/>
              <a:rect r="r" b="b" t="t" l="l"/>
              <a:pathLst>
                <a:path h="512445" w="2145411">
                  <a:moveTo>
                    <a:pt x="0" y="0"/>
                  </a:moveTo>
                  <a:lnTo>
                    <a:pt x="2145411" y="0"/>
                  </a:lnTo>
                  <a:lnTo>
                    <a:pt x="2145411" y="512445"/>
                  </a:lnTo>
                  <a:lnTo>
                    <a:pt x="0" y="51244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2" b="-4"/>
              </a:stretch>
            </a:blipFill>
          </p:spPr>
        </p:sp>
      </p:grpSp>
      <p:sp>
        <p:nvSpPr>
          <p:cNvPr name="TextBox 6" id="6"/>
          <p:cNvSpPr txBox="true"/>
          <p:nvPr/>
        </p:nvSpPr>
        <p:spPr>
          <a:xfrm rot="0">
            <a:off x="1070886" y="3908098"/>
            <a:ext cx="9452677" cy="17473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931"/>
              </a:lnSpc>
            </a:pPr>
            <a:r>
              <a:rPr lang="en-US" b="true" sz="5554" spc="-166">
                <a:solidFill>
                  <a:srgbClr val="F6F4F4"/>
                </a:solidFill>
                <a:latin typeface="Inter Bold"/>
                <a:ea typeface="Inter Bold"/>
                <a:cs typeface="Inter Bold"/>
                <a:sym typeface="Inter Bold"/>
              </a:rPr>
              <a:t>Nexus AI &amp; ML Mastery</a:t>
            </a:r>
          </a:p>
          <a:p>
            <a:pPr algn="l">
              <a:lnSpc>
                <a:spcPts val="6931"/>
              </a:lnSpc>
            </a:pPr>
            <a:r>
              <a:rPr lang="en-US" b="true" sz="5554" spc="-168">
                <a:solidFill>
                  <a:srgbClr val="F6F4F4"/>
                </a:solidFill>
                <a:latin typeface="Inter Bold"/>
                <a:ea typeface="Inter Bold"/>
                <a:cs typeface="Inter Bold"/>
                <a:sym typeface="Inter Bold"/>
              </a:rPr>
              <a:t>Program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70886" y="6029340"/>
            <a:ext cx="10367762" cy="4048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74"/>
              </a:lnSpc>
            </a:pPr>
            <a:r>
              <a:rPr lang="en-US" sz="2176" spc="-45">
                <a:solidFill>
                  <a:srgbClr val="F6F4F4"/>
                </a:solidFill>
                <a:latin typeface="Inter"/>
                <a:ea typeface="Inter"/>
                <a:cs typeface="Inter"/>
                <a:sym typeface="Inter"/>
              </a:rPr>
              <a:t>Y</a:t>
            </a:r>
            <a:r>
              <a:rPr lang="en-US" sz="2176" spc="-45">
                <a:solidFill>
                  <a:srgbClr val="F6F4F4"/>
                </a:solidFill>
                <a:latin typeface="Inter"/>
                <a:ea typeface="Inter"/>
                <a:cs typeface="Inter"/>
                <a:sym typeface="Inter"/>
              </a:rPr>
              <a:t>our fast track to a high-paying data career — guar</a:t>
            </a:r>
            <a:r>
              <a:rPr lang="en-US" sz="2176" spc="-45">
                <a:solidFill>
                  <a:srgbClr val="F6F4F4"/>
                </a:solidFill>
                <a:latin typeface="Inter"/>
                <a:ea typeface="Inter"/>
                <a:cs typeface="Inter"/>
                <a:sym typeface="Inter"/>
              </a:rPr>
              <a:t>a</a:t>
            </a:r>
            <a:r>
              <a:rPr lang="en-US" sz="2176" spc="-45">
                <a:solidFill>
                  <a:srgbClr val="F6F4F4"/>
                </a:solidFill>
                <a:latin typeface="Inter"/>
                <a:ea typeface="Inter"/>
                <a:cs typeface="Inter"/>
                <a:sym typeface="Inter"/>
              </a:rPr>
              <a:t>nteed.</a:t>
            </a:r>
          </a:p>
        </p:txBody>
      </p:sp>
      <p:sp>
        <p:nvSpPr>
          <p:cNvPr name="Freeform 8" id="8"/>
          <p:cNvSpPr/>
          <p:nvPr/>
        </p:nvSpPr>
        <p:spPr>
          <a:xfrm flipH="false" flipV="false" rot="0">
            <a:off x="4200995" y="1396952"/>
            <a:ext cx="2615258" cy="683236"/>
          </a:xfrm>
          <a:custGeom>
            <a:avLst/>
            <a:gdLst/>
            <a:ahLst/>
            <a:cxnLst/>
            <a:rect r="r" b="b" t="t" l="l"/>
            <a:pathLst>
              <a:path h="683236" w="2615258">
                <a:moveTo>
                  <a:pt x="0" y="0"/>
                </a:moveTo>
                <a:lnTo>
                  <a:pt x="2615258" y="0"/>
                </a:lnTo>
                <a:lnTo>
                  <a:pt x="2615258" y="683236"/>
                </a:lnTo>
                <a:lnTo>
                  <a:pt x="0" y="68323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3582449" y="2080188"/>
            <a:ext cx="3757099" cy="3851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47"/>
              </a:lnSpc>
            </a:pPr>
            <a:r>
              <a:rPr lang="en-US" sz="2441" spc="-73">
                <a:solidFill>
                  <a:srgbClr val="F6F4F4"/>
                </a:solidFill>
                <a:latin typeface="Inter"/>
                <a:ea typeface="Inter"/>
                <a:cs typeface="Inter"/>
                <a:sym typeface="Inter"/>
              </a:rPr>
              <a:t>Corporate training center</a:t>
            </a:r>
          </a:p>
        </p:txBody>
      </p:sp>
      <p:grpSp>
        <p:nvGrpSpPr>
          <p:cNvPr name="Group 10" id="10"/>
          <p:cNvGrpSpPr/>
          <p:nvPr/>
        </p:nvGrpSpPr>
        <p:grpSpPr>
          <a:xfrm rot="0">
            <a:off x="11438649" y="0"/>
            <a:ext cx="6863191" cy="10295039"/>
            <a:chOff x="0" y="0"/>
            <a:chExt cx="9150922" cy="13726719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9150858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9150858">
                  <a:moveTo>
                    <a:pt x="0" y="0"/>
                  </a:moveTo>
                  <a:lnTo>
                    <a:pt x="9150858" y="0"/>
                  </a:lnTo>
                  <a:lnTo>
                    <a:pt x="9150858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DADBF1"/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11580438" y="760962"/>
            <a:ext cx="6579460" cy="8772982"/>
            <a:chOff x="0" y="0"/>
            <a:chExt cx="8772614" cy="11697310"/>
          </a:xfrm>
        </p:grpSpPr>
        <p:sp>
          <p:nvSpPr>
            <p:cNvPr name="Freeform 13" id="13" descr="preencoded.png"/>
            <p:cNvSpPr/>
            <p:nvPr/>
          </p:nvSpPr>
          <p:spPr>
            <a:xfrm flipH="false" flipV="false" rot="0">
              <a:off x="0" y="0"/>
              <a:ext cx="8772652" cy="11697335"/>
            </a:xfrm>
            <a:custGeom>
              <a:avLst/>
              <a:gdLst/>
              <a:ahLst/>
              <a:cxnLst/>
              <a:rect r="r" b="b" t="t" l="l"/>
              <a:pathLst>
                <a:path h="11697335" w="8772652">
                  <a:moveTo>
                    <a:pt x="0" y="0"/>
                  </a:moveTo>
                  <a:lnTo>
                    <a:pt x="8772652" y="0"/>
                  </a:lnTo>
                  <a:lnTo>
                    <a:pt x="8772652" y="11697335"/>
                  </a:lnTo>
                  <a:lnTo>
                    <a:pt x="0" y="1169733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-13" r="0" b="-13"/>
              </a:stretch>
            </a:blip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3325248" y="3538527"/>
            <a:ext cx="11896794" cy="3217985"/>
            <a:chOff x="0" y="0"/>
            <a:chExt cx="1549400" cy="4191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549400" cy="419100"/>
            </a:xfrm>
            <a:custGeom>
              <a:avLst/>
              <a:gdLst/>
              <a:ahLst/>
              <a:cxnLst/>
              <a:rect r="r" b="b" t="t" l="l"/>
              <a:pathLst>
                <a:path h="419100" w="1549400">
                  <a:moveTo>
                    <a:pt x="0" y="0"/>
                  </a:moveTo>
                  <a:lnTo>
                    <a:pt x="1549400" y="0"/>
                  </a:lnTo>
                  <a:lnTo>
                    <a:pt x="1549400" y="419100"/>
                  </a:lnTo>
                  <a:lnTo>
                    <a:pt x="0" y="4191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>
                <a:alphaModFix amt="6000"/>
              </a:blip>
              <a:stretch>
                <a:fillRect l="0" t="0" r="-8196" b="-66666"/>
              </a:stretch>
            </a:blipFill>
          </p:spPr>
        </p:sp>
      </p:grp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301840" cy="10295039"/>
            <a:chOff x="0" y="0"/>
            <a:chExt cx="24402453" cy="1372671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0241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F6F4F4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301840" cy="10295039"/>
            <a:chOff x="0" y="0"/>
            <a:chExt cx="24402453" cy="1372671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40241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16628307" y="9846183"/>
            <a:ext cx="1609020" cy="384353"/>
            <a:chOff x="0" y="0"/>
            <a:chExt cx="2145360" cy="512470"/>
          </a:xfrm>
        </p:grpSpPr>
        <p:sp>
          <p:nvSpPr>
            <p:cNvPr name="Freeform 7" id="7" descr="preencoded.png">
              <a:hlinkClick r:id="rId3" tooltip="https://gamma.app/?utm_source=made-with-gamma"/>
            </p:cNvPr>
            <p:cNvSpPr/>
            <p:nvPr/>
          </p:nvSpPr>
          <p:spPr>
            <a:xfrm flipH="false" flipV="false" rot="0">
              <a:off x="0" y="0"/>
              <a:ext cx="2145411" cy="512445"/>
            </a:xfrm>
            <a:custGeom>
              <a:avLst/>
              <a:gdLst/>
              <a:ahLst/>
              <a:cxnLst/>
              <a:rect r="r" b="b" t="t" l="l"/>
              <a:pathLst>
                <a:path h="512445" w="2145411">
                  <a:moveTo>
                    <a:pt x="0" y="0"/>
                  </a:moveTo>
                  <a:lnTo>
                    <a:pt x="2145411" y="0"/>
                  </a:lnTo>
                  <a:lnTo>
                    <a:pt x="2145411" y="512445"/>
                  </a:lnTo>
                  <a:lnTo>
                    <a:pt x="0" y="51244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2" b="-4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0" y="0"/>
            <a:ext cx="6863191" cy="10295039"/>
            <a:chOff x="0" y="0"/>
            <a:chExt cx="9150922" cy="13726719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9150858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9150858">
                  <a:moveTo>
                    <a:pt x="0" y="0"/>
                  </a:moveTo>
                  <a:lnTo>
                    <a:pt x="9150858" y="0"/>
                  </a:lnTo>
                  <a:lnTo>
                    <a:pt x="9150858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DADBF1"/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104108" y="710765"/>
            <a:ext cx="6654975" cy="8873519"/>
            <a:chOff x="0" y="0"/>
            <a:chExt cx="8873300" cy="11831358"/>
          </a:xfrm>
        </p:grpSpPr>
        <p:sp>
          <p:nvSpPr>
            <p:cNvPr name="Freeform 11" id="11" descr="preencoded.png"/>
            <p:cNvSpPr/>
            <p:nvPr/>
          </p:nvSpPr>
          <p:spPr>
            <a:xfrm flipH="false" flipV="false" rot="0">
              <a:off x="0" y="0"/>
              <a:ext cx="8873236" cy="11831320"/>
            </a:xfrm>
            <a:custGeom>
              <a:avLst/>
              <a:gdLst/>
              <a:ahLst/>
              <a:cxnLst/>
              <a:rect r="r" b="b" t="t" l="l"/>
              <a:pathLst>
                <a:path h="11831320" w="8873236">
                  <a:moveTo>
                    <a:pt x="0" y="0"/>
                  </a:moveTo>
                  <a:lnTo>
                    <a:pt x="8873236" y="0"/>
                  </a:lnTo>
                  <a:lnTo>
                    <a:pt x="8873236" y="11831320"/>
                  </a:lnTo>
                  <a:lnTo>
                    <a:pt x="0" y="1183132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-14" r="0" b="-14"/>
              </a:stretch>
            </a:blipFill>
          </p:spPr>
        </p:sp>
      </p:grpSp>
      <p:sp>
        <p:nvSpPr>
          <p:cNvPr name="TextBox 12" id="12"/>
          <p:cNvSpPr txBox="true"/>
          <p:nvPr/>
        </p:nvSpPr>
        <p:spPr>
          <a:xfrm rot="0">
            <a:off x="7856182" y="795080"/>
            <a:ext cx="9452677" cy="6702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58"/>
              </a:lnSpc>
            </a:pPr>
            <a:r>
              <a:rPr lang="en-US" b="true" sz="4053" spc="-123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Your Journey Starts Here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7856182" y="1913249"/>
            <a:ext cx="9452677" cy="5733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382"/>
              </a:lnSpc>
            </a:pPr>
            <a:r>
              <a:rPr lang="en-US" b="true" sz="5404" spc="-162">
                <a:solidFill>
                  <a:srgbClr val="272525"/>
                </a:solidFill>
                <a:latin typeface="Inter Bold"/>
                <a:ea typeface="Inter Bold"/>
                <a:cs typeface="Inter Bold"/>
                <a:sym typeface="Inter Bold"/>
              </a:rPr>
              <a:t>12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7856182" y="2686374"/>
            <a:ext cx="9452677" cy="3446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9"/>
              </a:lnSpc>
            </a:pPr>
            <a:r>
              <a:rPr lang="en-US" b="true" sz="2026" spc="-61">
                <a:solidFill>
                  <a:srgbClr val="272525"/>
                </a:solidFill>
                <a:latin typeface="Inter Bold"/>
                <a:ea typeface="Inter Bold"/>
                <a:cs typeface="Inter Bold"/>
                <a:sym typeface="Inter Bold"/>
              </a:rPr>
              <a:t>Weeks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7856182" y="3094196"/>
            <a:ext cx="9452677" cy="3176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94"/>
              </a:lnSpc>
            </a:pPr>
            <a:r>
              <a:rPr lang="en-US" sz="1576" spc="-33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of intensive, hands-on learning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7856182" y="3936216"/>
            <a:ext cx="9452677" cy="5733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382"/>
              </a:lnSpc>
            </a:pPr>
            <a:r>
              <a:rPr lang="en-US" b="true" sz="5404" spc="-162">
                <a:solidFill>
                  <a:srgbClr val="272525"/>
                </a:solidFill>
                <a:latin typeface="Inter Bold"/>
                <a:ea typeface="Inter Bold"/>
                <a:cs typeface="Inter Bold"/>
                <a:sym typeface="Inter Bold"/>
              </a:rPr>
              <a:t>6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7856182" y="4709341"/>
            <a:ext cx="9452677" cy="3446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9"/>
              </a:lnSpc>
            </a:pPr>
            <a:r>
              <a:rPr lang="en-US" b="true" sz="2026" spc="-61">
                <a:solidFill>
                  <a:srgbClr val="272525"/>
                </a:solidFill>
                <a:latin typeface="Inter Bold"/>
                <a:ea typeface="Inter Bold"/>
                <a:cs typeface="Inter Bold"/>
                <a:sym typeface="Inter Bold"/>
              </a:rPr>
              <a:t>Projects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7856182" y="5117154"/>
            <a:ext cx="9452677" cy="3176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94"/>
              </a:lnSpc>
            </a:pPr>
            <a:r>
              <a:rPr lang="en-US" sz="1576" spc="-33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progressive builds leading to a production capstone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7856182" y="5959183"/>
            <a:ext cx="9452677" cy="5733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382"/>
              </a:lnSpc>
            </a:pPr>
            <a:r>
              <a:rPr lang="en-US" b="true" sz="5404" spc="-162">
                <a:solidFill>
                  <a:srgbClr val="272525"/>
                </a:solidFill>
                <a:latin typeface="Inter Bold"/>
                <a:ea typeface="Inter Bold"/>
                <a:cs typeface="Inter Bold"/>
                <a:sym typeface="Inter Bold"/>
              </a:rPr>
              <a:t>20+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7856182" y="6732308"/>
            <a:ext cx="9452677" cy="3446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9"/>
              </a:lnSpc>
            </a:pPr>
            <a:r>
              <a:rPr lang="en-US" b="true" sz="2026" spc="-61">
                <a:solidFill>
                  <a:srgbClr val="272525"/>
                </a:solidFill>
                <a:latin typeface="Inter Bold"/>
                <a:ea typeface="Inter Bold"/>
                <a:cs typeface="Inter Bold"/>
                <a:sym typeface="Inter Bold"/>
              </a:rPr>
              <a:t>Tools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7856182" y="7140121"/>
            <a:ext cx="9452677" cy="3176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94"/>
              </a:lnSpc>
            </a:pPr>
            <a:r>
              <a:rPr lang="en-US" sz="1576" spc="-33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industry-standard technologies and real-world practices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7856182" y="7982140"/>
            <a:ext cx="9452677" cy="5733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382"/>
              </a:lnSpc>
            </a:pPr>
            <a:r>
              <a:rPr lang="en-US" b="true" sz="5404" spc="-162">
                <a:solidFill>
                  <a:srgbClr val="272525"/>
                </a:solidFill>
                <a:latin typeface="Inter Bold"/>
                <a:ea typeface="Inter Bold"/>
                <a:cs typeface="Inter Bold"/>
                <a:sym typeface="Inter Bold"/>
              </a:rPr>
              <a:t>1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7856182" y="8755266"/>
            <a:ext cx="9452677" cy="3446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9"/>
              </a:lnSpc>
            </a:pPr>
            <a:r>
              <a:rPr lang="en-US" b="true" sz="2026" spc="-61">
                <a:solidFill>
                  <a:srgbClr val="272525"/>
                </a:solidFill>
                <a:latin typeface="Inter Bold"/>
                <a:ea typeface="Inter Bold"/>
                <a:cs typeface="Inter Bold"/>
                <a:sym typeface="Inter Bold"/>
              </a:rPr>
              <a:t>Portfolio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7856182" y="9163088"/>
            <a:ext cx="9452677" cy="3176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94"/>
              </a:lnSpc>
            </a:pPr>
            <a:r>
              <a:rPr lang="en-US" sz="1576" spc="-33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portfolio-ready deliverables upon completion</a:t>
            </a:r>
          </a:p>
        </p:txBody>
      </p:sp>
      <p:grpSp>
        <p:nvGrpSpPr>
          <p:cNvPr name="Group 25" id="25"/>
          <p:cNvGrpSpPr/>
          <p:nvPr/>
        </p:nvGrpSpPr>
        <p:grpSpPr>
          <a:xfrm rot="0">
            <a:off x="3325248" y="3538527"/>
            <a:ext cx="11896794" cy="3217985"/>
            <a:chOff x="0" y="0"/>
            <a:chExt cx="1549400" cy="41910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1549400" cy="419100"/>
            </a:xfrm>
            <a:custGeom>
              <a:avLst/>
              <a:gdLst/>
              <a:ahLst/>
              <a:cxnLst/>
              <a:rect r="r" b="b" t="t" l="l"/>
              <a:pathLst>
                <a:path h="419100" w="1549400">
                  <a:moveTo>
                    <a:pt x="0" y="0"/>
                  </a:moveTo>
                  <a:lnTo>
                    <a:pt x="1549400" y="0"/>
                  </a:lnTo>
                  <a:lnTo>
                    <a:pt x="1549400" y="419100"/>
                  </a:lnTo>
                  <a:lnTo>
                    <a:pt x="0" y="4191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>
                <a:alphaModFix amt="6000"/>
              </a:blip>
              <a:stretch>
                <a:fillRect l="0" t="0" r="-8196" b="-66666"/>
              </a:stretch>
            </a:blipFill>
          </p:spPr>
        </p:sp>
      </p:grp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301840" cy="10295039"/>
            <a:chOff x="0" y="0"/>
            <a:chExt cx="24402453" cy="1372671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0241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F6F4F4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301840" cy="10295039"/>
            <a:chOff x="0" y="0"/>
            <a:chExt cx="24402453" cy="1372671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40241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16628307" y="9846183"/>
            <a:ext cx="1609020" cy="384353"/>
            <a:chOff x="0" y="0"/>
            <a:chExt cx="2145360" cy="512470"/>
          </a:xfrm>
        </p:grpSpPr>
        <p:sp>
          <p:nvSpPr>
            <p:cNvPr name="Freeform 7" id="7" descr="preencoded.png">
              <a:hlinkClick r:id="rId2" tooltip="https://gamma.app/?utm_source=made-with-gamma"/>
            </p:cNvPr>
            <p:cNvSpPr/>
            <p:nvPr/>
          </p:nvSpPr>
          <p:spPr>
            <a:xfrm flipH="false" flipV="false" rot="0">
              <a:off x="0" y="0"/>
              <a:ext cx="2145411" cy="512445"/>
            </a:xfrm>
            <a:custGeom>
              <a:avLst/>
              <a:gdLst/>
              <a:ahLst/>
              <a:cxnLst/>
              <a:rect r="r" b="b" t="t" l="l"/>
              <a:pathLst>
                <a:path h="512445" w="2145411">
                  <a:moveTo>
                    <a:pt x="0" y="0"/>
                  </a:moveTo>
                  <a:lnTo>
                    <a:pt x="2145411" y="0"/>
                  </a:lnTo>
                  <a:lnTo>
                    <a:pt x="2145411" y="512445"/>
                  </a:lnTo>
                  <a:lnTo>
                    <a:pt x="0" y="51244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2" b="-4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992991" y="2517162"/>
            <a:ext cx="5260438" cy="5260572"/>
            <a:chOff x="0" y="0"/>
            <a:chExt cx="7013918" cy="7014096"/>
          </a:xfrm>
        </p:grpSpPr>
        <p:sp>
          <p:nvSpPr>
            <p:cNvPr name="Freeform 9" id="9" descr="preencoded.png"/>
            <p:cNvSpPr/>
            <p:nvPr/>
          </p:nvSpPr>
          <p:spPr>
            <a:xfrm flipH="false" flipV="false" rot="0">
              <a:off x="0" y="0"/>
              <a:ext cx="7013956" cy="7014083"/>
            </a:xfrm>
            <a:custGeom>
              <a:avLst/>
              <a:gdLst/>
              <a:ahLst/>
              <a:cxnLst/>
              <a:rect r="r" b="b" t="t" l="l"/>
              <a:pathLst>
                <a:path h="7014083" w="7013956">
                  <a:moveTo>
                    <a:pt x="0" y="0"/>
                  </a:moveTo>
                  <a:lnTo>
                    <a:pt x="7013956" y="0"/>
                  </a:lnTo>
                  <a:lnTo>
                    <a:pt x="7013956" y="7014083"/>
                  </a:lnTo>
                  <a:lnTo>
                    <a:pt x="0" y="701408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1" t="0" r="0" b="0"/>
              </a:stretch>
            </a:blip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6955231" y="1285113"/>
            <a:ext cx="10363000" cy="9152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931"/>
              </a:lnSpc>
            </a:pPr>
            <a:r>
              <a:rPr lang="en-US" b="true" sz="5554" spc="-168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Who Should Enroll?</a:t>
            </a:r>
          </a:p>
        </p:txBody>
      </p:sp>
      <p:sp>
        <p:nvSpPr>
          <p:cNvPr name="Freeform 11" id="11" descr="preencoded.png"/>
          <p:cNvSpPr/>
          <p:nvPr/>
        </p:nvSpPr>
        <p:spPr>
          <a:xfrm flipH="false" flipV="false" rot="0">
            <a:off x="7061578" y="2528335"/>
            <a:ext cx="425520" cy="425539"/>
          </a:xfrm>
          <a:custGeom>
            <a:avLst/>
            <a:gdLst/>
            <a:ahLst/>
            <a:cxnLst/>
            <a:rect r="r" b="b" t="t" l="l"/>
            <a:pathLst>
              <a:path h="425539" w="425520">
                <a:moveTo>
                  <a:pt x="0" y="0"/>
                </a:moveTo>
                <a:lnTo>
                  <a:pt x="425520" y="0"/>
                </a:lnTo>
                <a:lnTo>
                  <a:pt x="425520" y="425539"/>
                </a:lnTo>
                <a:lnTo>
                  <a:pt x="0" y="425539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-8891" t="0" r="-8891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7877327" y="2500493"/>
            <a:ext cx="9440913" cy="4623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65"/>
              </a:lnSpc>
            </a:pPr>
            <a:r>
              <a:rPr lang="en-US" b="true" sz="2777" spc="-84">
                <a:solidFill>
                  <a:srgbClr val="272525"/>
                </a:solidFill>
                <a:latin typeface="Inter Bold"/>
                <a:ea typeface="Inter Bold"/>
                <a:cs typeface="Inter Bold"/>
                <a:sym typeface="Inter Bold"/>
              </a:rPr>
              <a:t>Data Analysts &amp; Business Professionals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7877327" y="3170339"/>
            <a:ext cx="9440913" cy="5301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74"/>
              </a:lnSpc>
            </a:pPr>
            <a:r>
              <a:rPr lang="en-US" sz="2176" spc="-45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Upskill and command higher salaries in your field</a:t>
            </a:r>
          </a:p>
        </p:txBody>
      </p:sp>
      <p:sp>
        <p:nvSpPr>
          <p:cNvPr name="Freeform 14" id="14" descr="preencoded.png"/>
          <p:cNvSpPr/>
          <p:nvPr/>
        </p:nvSpPr>
        <p:spPr>
          <a:xfrm flipH="false" flipV="false" rot="0">
            <a:off x="7061578" y="4276792"/>
            <a:ext cx="425520" cy="425539"/>
          </a:xfrm>
          <a:custGeom>
            <a:avLst/>
            <a:gdLst/>
            <a:ahLst/>
            <a:cxnLst/>
            <a:rect r="r" b="b" t="t" l="l"/>
            <a:pathLst>
              <a:path h="425539" w="425520">
                <a:moveTo>
                  <a:pt x="0" y="0"/>
                </a:moveTo>
                <a:lnTo>
                  <a:pt x="425520" y="0"/>
                </a:lnTo>
                <a:lnTo>
                  <a:pt x="425520" y="425539"/>
                </a:lnTo>
                <a:lnTo>
                  <a:pt x="0" y="425539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-8891" t="0" r="-8891" b="0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7877327" y="4248950"/>
            <a:ext cx="9440913" cy="4623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65"/>
              </a:lnSpc>
            </a:pPr>
            <a:r>
              <a:rPr lang="en-US" b="true" sz="2777" spc="-84">
                <a:solidFill>
                  <a:srgbClr val="272525"/>
                </a:solidFill>
                <a:latin typeface="Inter Bold"/>
                <a:ea typeface="Inter Bold"/>
                <a:cs typeface="Inter Bold"/>
                <a:sym typeface="Inter Bold"/>
              </a:rPr>
              <a:t>IT Staff &amp; Aspiring Tech Professionals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7877327" y="4918805"/>
            <a:ext cx="9440913" cy="5301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74"/>
              </a:lnSpc>
            </a:pPr>
            <a:r>
              <a:rPr lang="en-US" sz="2176" spc="-45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Transition into high-demand BI and analytics roles</a:t>
            </a:r>
          </a:p>
        </p:txBody>
      </p:sp>
      <p:sp>
        <p:nvSpPr>
          <p:cNvPr name="Freeform 17" id="17" descr="preencoded.png"/>
          <p:cNvSpPr/>
          <p:nvPr/>
        </p:nvSpPr>
        <p:spPr>
          <a:xfrm flipH="false" flipV="false" rot="0">
            <a:off x="7061578" y="6025248"/>
            <a:ext cx="425520" cy="425539"/>
          </a:xfrm>
          <a:custGeom>
            <a:avLst/>
            <a:gdLst/>
            <a:ahLst/>
            <a:cxnLst/>
            <a:rect r="r" b="b" t="t" l="l"/>
            <a:pathLst>
              <a:path h="425539" w="425520">
                <a:moveTo>
                  <a:pt x="0" y="0"/>
                </a:moveTo>
                <a:lnTo>
                  <a:pt x="425520" y="0"/>
                </a:lnTo>
                <a:lnTo>
                  <a:pt x="425520" y="425539"/>
                </a:lnTo>
                <a:lnTo>
                  <a:pt x="0" y="425539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-8891" t="0" r="-8891" b="0"/>
            </a:stretch>
          </a:blipFill>
        </p:spPr>
      </p:sp>
      <p:sp>
        <p:nvSpPr>
          <p:cNvPr name="TextBox 18" id="18"/>
          <p:cNvSpPr txBox="true"/>
          <p:nvPr/>
        </p:nvSpPr>
        <p:spPr>
          <a:xfrm rot="0">
            <a:off x="7877327" y="5997416"/>
            <a:ext cx="9440913" cy="4623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65"/>
              </a:lnSpc>
            </a:pPr>
            <a:r>
              <a:rPr lang="en-US" b="true" sz="2777" spc="-84">
                <a:solidFill>
                  <a:srgbClr val="272525"/>
                </a:solidFill>
                <a:latin typeface="Inter Bold"/>
                <a:ea typeface="Inter Bold"/>
                <a:cs typeface="Inter Bold"/>
                <a:sym typeface="Inter Bold"/>
              </a:rPr>
              <a:t>Beginners to Advanced Users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7877327" y="6667262"/>
            <a:ext cx="9440913" cy="5301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74"/>
              </a:lnSpc>
            </a:pPr>
            <a:r>
              <a:rPr lang="en-US" sz="2176" spc="-45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Curriculum designed to meet you at your current level</a:t>
            </a:r>
          </a:p>
        </p:txBody>
      </p:sp>
      <p:sp>
        <p:nvSpPr>
          <p:cNvPr name="Freeform 20" id="20" descr="preencoded.png"/>
          <p:cNvSpPr/>
          <p:nvPr/>
        </p:nvSpPr>
        <p:spPr>
          <a:xfrm flipH="false" flipV="false" rot="0">
            <a:off x="7061578" y="7773714"/>
            <a:ext cx="425520" cy="425539"/>
          </a:xfrm>
          <a:custGeom>
            <a:avLst/>
            <a:gdLst/>
            <a:ahLst/>
            <a:cxnLst/>
            <a:rect r="r" b="b" t="t" l="l"/>
            <a:pathLst>
              <a:path h="425539" w="425520">
                <a:moveTo>
                  <a:pt x="0" y="0"/>
                </a:moveTo>
                <a:lnTo>
                  <a:pt x="425520" y="0"/>
                </a:lnTo>
                <a:lnTo>
                  <a:pt x="425520" y="425539"/>
                </a:lnTo>
                <a:lnTo>
                  <a:pt x="0" y="425539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-8891" t="0" r="-8891" b="0"/>
            </a:stretch>
          </a:blipFill>
        </p:spPr>
      </p:sp>
      <p:sp>
        <p:nvSpPr>
          <p:cNvPr name="TextBox 21" id="21"/>
          <p:cNvSpPr txBox="true"/>
          <p:nvPr/>
        </p:nvSpPr>
        <p:spPr>
          <a:xfrm rot="0">
            <a:off x="7877327" y="7745873"/>
            <a:ext cx="9440913" cy="4623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65"/>
              </a:lnSpc>
            </a:pPr>
            <a:r>
              <a:rPr lang="en-US" b="true" sz="2777" spc="-84">
                <a:solidFill>
                  <a:srgbClr val="272525"/>
                </a:solidFill>
                <a:latin typeface="Inter Bold"/>
                <a:ea typeface="Inter Bold"/>
                <a:cs typeface="Inter Bold"/>
                <a:sym typeface="Inter Bold"/>
              </a:rPr>
              <a:t>No Coding Required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7877327" y="8415718"/>
            <a:ext cx="9440913" cy="5301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74"/>
              </a:lnSpc>
            </a:pPr>
            <a:r>
              <a:rPr lang="en-US" sz="2176" spc="-45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Basic Excel knowledge is helpful — nothing more needed</a:t>
            </a:r>
          </a:p>
        </p:txBody>
      </p:sp>
      <p:grpSp>
        <p:nvGrpSpPr>
          <p:cNvPr name="Group 23" id="23"/>
          <p:cNvGrpSpPr/>
          <p:nvPr/>
        </p:nvGrpSpPr>
        <p:grpSpPr>
          <a:xfrm rot="0">
            <a:off x="15994363" y="305662"/>
            <a:ext cx="2042156" cy="552386"/>
            <a:chOff x="0" y="0"/>
            <a:chExt cx="1549400" cy="41910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1549400" cy="419100"/>
            </a:xfrm>
            <a:custGeom>
              <a:avLst/>
              <a:gdLst/>
              <a:ahLst/>
              <a:cxnLst/>
              <a:rect r="r" b="b" t="t" l="l"/>
              <a:pathLst>
                <a:path h="419100" w="1549400">
                  <a:moveTo>
                    <a:pt x="0" y="0"/>
                  </a:moveTo>
                  <a:lnTo>
                    <a:pt x="1549400" y="0"/>
                  </a:lnTo>
                  <a:lnTo>
                    <a:pt x="1549400" y="419100"/>
                  </a:lnTo>
                  <a:lnTo>
                    <a:pt x="0" y="4191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0" r="-8196" b="-66666"/>
              </a:stretch>
            </a:blipFill>
          </p:spPr>
        </p:sp>
      </p:grpSp>
      <p:grpSp>
        <p:nvGrpSpPr>
          <p:cNvPr name="Group 25" id="25"/>
          <p:cNvGrpSpPr/>
          <p:nvPr/>
        </p:nvGrpSpPr>
        <p:grpSpPr>
          <a:xfrm rot="0">
            <a:off x="3325248" y="3538527"/>
            <a:ext cx="11896794" cy="3217985"/>
            <a:chOff x="0" y="0"/>
            <a:chExt cx="1549400" cy="41910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1549400" cy="419100"/>
            </a:xfrm>
            <a:custGeom>
              <a:avLst/>
              <a:gdLst/>
              <a:ahLst/>
              <a:cxnLst/>
              <a:rect r="r" b="b" t="t" l="l"/>
              <a:pathLst>
                <a:path h="419100" w="1549400">
                  <a:moveTo>
                    <a:pt x="0" y="0"/>
                  </a:moveTo>
                  <a:lnTo>
                    <a:pt x="1549400" y="0"/>
                  </a:lnTo>
                  <a:lnTo>
                    <a:pt x="1549400" y="419100"/>
                  </a:lnTo>
                  <a:lnTo>
                    <a:pt x="0" y="4191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>
                <a:alphaModFix amt="6000"/>
              </a:blip>
              <a:stretch>
                <a:fillRect l="0" t="0" r="-8196" b="-66666"/>
              </a:stretch>
            </a:blipFill>
          </p:spPr>
        </p:sp>
      </p:grp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301840" cy="10295039"/>
            <a:chOff x="0" y="0"/>
            <a:chExt cx="24402453" cy="1372671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0241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F6F4F4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301840" cy="10295039"/>
            <a:chOff x="0" y="0"/>
            <a:chExt cx="24402453" cy="1372671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40241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16628307" y="9846183"/>
            <a:ext cx="1609020" cy="384353"/>
            <a:chOff x="0" y="0"/>
            <a:chExt cx="2145360" cy="512470"/>
          </a:xfrm>
        </p:grpSpPr>
        <p:sp>
          <p:nvSpPr>
            <p:cNvPr name="Freeform 7" id="7" descr="preencoded.png">
              <a:hlinkClick r:id="rId2" tooltip="https://gamma.app/?utm_source=made-with-gamma"/>
            </p:cNvPr>
            <p:cNvSpPr/>
            <p:nvPr/>
          </p:nvSpPr>
          <p:spPr>
            <a:xfrm flipH="false" flipV="false" rot="0">
              <a:off x="0" y="0"/>
              <a:ext cx="2145411" cy="512445"/>
            </a:xfrm>
            <a:custGeom>
              <a:avLst/>
              <a:gdLst/>
              <a:ahLst/>
              <a:cxnLst/>
              <a:rect r="r" b="b" t="t" l="l"/>
              <a:pathLst>
                <a:path h="512445" w="2145411">
                  <a:moveTo>
                    <a:pt x="0" y="0"/>
                  </a:moveTo>
                  <a:lnTo>
                    <a:pt x="2145411" y="0"/>
                  </a:lnTo>
                  <a:lnTo>
                    <a:pt x="2145411" y="512445"/>
                  </a:lnTo>
                  <a:lnTo>
                    <a:pt x="0" y="51244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2" b="-4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11438649" y="0"/>
            <a:ext cx="6863191" cy="10295039"/>
            <a:chOff x="0" y="0"/>
            <a:chExt cx="9150922" cy="13726719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9150858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9150858">
                  <a:moveTo>
                    <a:pt x="0" y="0"/>
                  </a:moveTo>
                  <a:lnTo>
                    <a:pt x="9150858" y="0"/>
                  </a:lnTo>
                  <a:lnTo>
                    <a:pt x="9150858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DADBF1"/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11558254" y="731463"/>
            <a:ext cx="6623847" cy="8832113"/>
            <a:chOff x="0" y="0"/>
            <a:chExt cx="8831796" cy="11776151"/>
          </a:xfrm>
        </p:grpSpPr>
        <p:sp>
          <p:nvSpPr>
            <p:cNvPr name="Freeform 11" id="11" descr="preencoded.png"/>
            <p:cNvSpPr/>
            <p:nvPr/>
          </p:nvSpPr>
          <p:spPr>
            <a:xfrm flipH="false" flipV="false" rot="0">
              <a:off x="0" y="0"/>
              <a:ext cx="8831834" cy="11776202"/>
            </a:xfrm>
            <a:custGeom>
              <a:avLst/>
              <a:gdLst/>
              <a:ahLst/>
              <a:cxnLst/>
              <a:rect r="r" b="b" t="t" l="l"/>
              <a:pathLst>
                <a:path h="11776202" w="8831834">
                  <a:moveTo>
                    <a:pt x="0" y="0"/>
                  </a:moveTo>
                  <a:lnTo>
                    <a:pt x="8831834" y="0"/>
                  </a:lnTo>
                  <a:lnTo>
                    <a:pt x="8831834" y="11776202"/>
                  </a:lnTo>
                  <a:lnTo>
                    <a:pt x="0" y="1177620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49" t="0" r="-48" b="0"/>
              </a:stretch>
            </a:blip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992991" y="791642"/>
            <a:ext cx="1151763" cy="363722"/>
            <a:chOff x="0" y="0"/>
            <a:chExt cx="1535684" cy="484962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535684" cy="485013"/>
            </a:xfrm>
            <a:custGeom>
              <a:avLst/>
              <a:gdLst/>
              <a:ahLst/>
              <a:cxnLst/>
              <a:rect r="r" b="b" t="t" l="l"/>
              <a:pathLst>
                <a:path h="485013" w="1535684">
                  <a:moveTo>
                    <a:pt x="0" y="107315"/>
                  </a:moveTo>
                  <a:cubicBezTo>
                    <a:pt x="0" y="48006"/>
                    <a:pt x="48006" y="0"/>
                    <a:pt x="107315" y="0"/>
                  </a:cubicBezTo>
                  <a:lnTo>
                    <a:pt x="1428369" y="0"/>
                  </a:lnTo>
                  <a:cubicBezTo>
                    <a:pt x="1487551" y="0"/>
                    <a:pt x="1535684" y="48006"/>
                    <a:pt x="1535684" y="107315"/>
                  </a:cubicBezTo>
                  <a:lnTo>
                    <a:pt x="1535684" y="377698"/>
                  </a:lnTo>
                  <a:cubicBezTo>
                    <a:pt x="1535684" y="436880"/>
                    <a:pt x="1487678" y="485013"/>
                    <a:pt x="1428369" y="485013"/>
                  </a:cubicBezTo>
                  <a:lnTo>
                    <a:pt x="107315" y="485013"/>
                  </a:lnTo>
                  <a:cubicBezTo>
                    <a:pt x="48006" y="485013"/>
                    <a:pt x="0" y="436880"/>
                    <a:pt x="0" y="377698"/>
                  </a:cubicBezTo>
                  <a:close/>
                </a:path>
              </a:pathLst>
            </a:custGeom>
            <a:solidFill>
              <a:srgbClr val="DADBF1"/>
            </a:solidFill>
          </p:spPr>
        </p:sp>
      </p:grpSp>
      <p:sp>
        <p:nvSpPr>
          <p:cNvPr name="TextBox 14" id="14"/>
          <p:cNvSpPr txBox="true"/>
          <p:nvPr/>
        </p:nvSpPr>
        <p:spPr>
          <a:xfrm rot="0">
            <a:off x="1136571" y="863432"/>
            <a:ext cx="1779689" cy="2201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29"/>
              </a:lnSpc>
            </a:pPr>
            <a:r>
              <a:rPr lang="en-US" sz="1501" spc="-37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CHAPTER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002516" y="1207513"/>
            <a:ext cx="6294165" cy="1008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055"/>
              </a:lnSpc>
            </a:pPr>
            <a:r>
              <a:rPr lang="en-US" b="true" sz="6455" spc="-195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AIML</a:t>
            </a:r>
            <a:r>
              <a:rPr lang="en-US" b="true" sz="6455" spc="-195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 Curriculum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988219" y="2320688"/>
            <a:ext cx="10367762" cy="6676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69"/>
              </a:lnSpc>
            </a:pPr>
            <a:r>
              <a:rPr lang="en-US" sz="1876" spc="-37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From Python fundamentals to production-ready AI systems — a complete 12-week transformation.</a:t>
            </a:r>
          </a:p>
        </p:txBody>
      </p:sp>
      <p:grpSp>
        <p:nvGrpSpPr>
          <p:cNvPr name="Group 17" id="17"/>
          <p:cNvGrpSpPr/>
          <p:nvPr/>
        </p:nvGrpSpPr>
        <p:grpSpPr>
          <a:xfrm rot="0">
            <a:off x="988219" y="3146898"/>
            <a:ext cx="967073" cy="1445952"/>
            <a:chOff x="0" y="0"/>
            <a:chExt cx="1289431" cy="1927936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289304" cy="1927860"/>
            </a:xfrm>
            <a:custGeom>
              <a:avLst/>
              <a:gdLst/>
              <a:ahLst/>
              <a:cxnLst/>
              <a:rect r="r" b="b" t="t" l="l"/>
              <a:pathLst>
                <a:path h="1927860" w="1289304">
                  <a:moveTo>
                    <a:pt x="0" y="644652"/>
                  </a:moveTo>
                  <a:cubicBezTo>
                    <a:pt x="0" y="288671"/>
                    <a:pt x="288671" y="0"/>
                    <a:pt x="644652" y="0"/>
                  </a:cubicBezTo>
                  <a:cubicBezTo>
                    <a:pt x="1000633" y="0"/>
                    <a:pt x="1289304" y="288671"/>
                    <a:pt x="1289304" y="644652"/>
                  </a:cubicBezTo>
                  <a:lnTo>
                    <a:pt x="1289304" y="1283208"/>
                  </a:lnTo>
                  <a:cubicBezTo>
                    <a:pt x="1289304" y="1639316"/>
                    <a:pt x="1000633" y="1927860"/>
                    <a:pt x="644652" y="1927860"/>
                  </a:cubicBezTo>
                  <a:cubicBezTo>
                    <a:pt x="288671" y="1927860"/>
                    <a:pt x="0" y="1639316"/>
                    <a:pt x="0" y="1283208"/>
                  </a:cubicBezTo>
                  <a:close/>
                </a:path>
              </a:pathLst>
            </a:custGeom>
            <a:solidFill>
              <a:srgbClr val="DADBF1"/>
            </a:solidFill>
            <a:ln w="9532" cap="sq">
              <a:solidFill>
                <a:srgbClr val="C0C1D7"/>
              </a:solidFill>
              <a:prstDash val="solid"/>
              <a:miter/>
            </a:ln>
          </p:spPr>
        </p:sp>
      </p:grpSp>
      <p:grpSp>
        <p:nvGrpSpPr>
          <p:cNvPr name="Group 19" id="19"/>
          <p:cNvGrpSpPr/>
          <p:nvPr/>
        </p:nvGrpSpPr>
        <p:grpSpPr>
          <a:xfrm rot="0">
            <a:off x="1292209" y="3645418"/>
            <a:ext cx="359092" cy="448770"/>
            <a:chOff x="0" y="0"/>
            <a:chExt cx="478790" cy="59836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478794" cy="598359"/>
            </a:xfrm>
            <a:custGeom>
              <a:avLst/>
              <a:gdLst/>
              <a:ahLst/>
              <a:cxnLst/>
              <a:rect r="r" b="b" t="t" l="l"/>
              <a:pathLst>
                <a:path h="598359" w="478794">
                  <a:moveTo>
                    <a:pt x="0" y="0"/>
                  </a:moveTo>
                  <a:lnTo>
                    <a:pt x="478794" y="0"/>
                  </a:lnTo>
                  <a:lnTo>
                    <a:pt x="478794" y="598359"/>
                  </a:lnTo>
                  <a:lnTo>
                    <a:pt x="0" y="598359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-110344" t="0" r="-110343" b="0"/>
              </a:stretch>
            </a:blipFill>
          </p:spPr>
        </p:sp>
        <p:sp>
          <p:nvSpPr>
            <p:cNvPr name="TextBox 21" id="21"/>
            <p:cNvSpPr txBox="true"/>
            <p:nvPr/>
          </p:nvSpPr>
          <p:spPr>
            <a:xfrm>
              <a:off x="0" y="-9525"/>
              <a:ext cx="478790" cy="6078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332"/>
                </a:lnSpc>
              </a:pPr>
              <a:r>
                <a:rPr lang="en-US" b="true" sz="2777" spc="-85">
                  <a:solidFill>
                    <a:srgbClr val="272525"/>
                  </a:solidFill>
                  <a:latin typeface="Inter Bold"/>
                  <a:ea typeface="Inter Bold"/>
                  <a:cs typeface="Inter Bold"/>
                  <a:sym typeface="Inter Bold"/>
                </a:rPr>
                <a:t>1</a:t>
              </a:r>
            </a:p>
          </p:txBody>
        </p:sp>
      </p:grpSp>
      <p:sp>
        <p:nvSpPr>
          <p:cNvPr name="TextBox 22" id="22"/>
          <p:cNvSpPr txBox="true"/>
          <p:nvPr/>
        </p:nvSpPr>
        <p:spPr>
          <a:xfrm rot="0">
            <a:off x="2147632" y="3676941"/>
            <a:ext cx="3050404" cy="3668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03"/>
              </a:lnSpc>
            </a:pPr>
            <a:r>
              <a:rPr lang="en-US" b="true" sz="2326" spc="-70">
                <a:solidFill>
                  <a:srgbClr val="272525"/>
                </a:solidFill>
                <a:latin typeface="Inter Bold"/>
                <a:ea typeface="Inter Bold"/>
                <a:cs typeface="Inter Bold"/>
                <a:sym typeface="Inter Bold"/>
              </a:rPr>
              <a:t> Curriculum Structure</a:t>
            </a:r>
          </a:p>
        </p:txBody>
      </p:sp>
      <p:grpSp>
        <p:nvGrpSpPr>
          <p:cNvPr name="Group 23" id="23"/>
          <p:cNvGrpSpPr/>
          <p:nvPr/>
        </p:nvGrpSpPr>
        <p:grpSpPr>
          <a:xfrm rot="0">
            <a:off x="988219" y="4785284"/>
            <a:ext cx="967073" cy="1445952"/>
            <a:chOff x="0" y="0"/>
            <a:chExt cx="1289431" cy="1927936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1289304" cy="1927860"/>
            </a:xfrm>
            <a:custGeom>
              <a:avLst/>
              <a:gdLst/>
              <a:ahLst/>
              <a:cxnLst/>
              <a:rect r="r" b="b" t="t" l="l"/>
              <a:pathLst>
                <a:path h="1927860" w="1289304">
                  <a:moveTo>
                    <a:pt x="0" y="644652"/>
                  </a:moveTo>
                  <a:cubicBezTo>
                    <a:pt x="0" y="288671"/>
                    <a:pt x="288671" y="0"/>
                    <a:pt x="644652" y="0"/>
                  </a:cubicBezTo>
                  <a:cubicBezTo>
                    <a:pt x="1000633" y="0"/>
                    <a:pt x="1289304" y="288671"/>
                    <a:pt x="1289304" y="644652"/>
                  </a:cubicBezTo>
                  <a:lnTo>
                    <a:pt x="1289304" y="1283208"/>
                  </a:lnTo>
                  <a:cubicBezTo>
                    <a:pt x="1289304" y="1639316"/>
                    <a:pt x="1000633" y="1927860"/>
                    <a:pt x="644652" y="1927860"/>
                  </a:cubicBezTo>
                  <a:cubicBezTo>
                    <a:pt x="288671" y="1927860"/>
                    <a:pt x="0" y="1639316"/>
                    <a:pt x="0" y="1283208"/>
                  </a:cubicBezTo>
                  <a:close/>
                </a:path>
              </a:pathLst>
            </a:custGeom>
            <a:solidFill>
              <a:srgbClr val="DADBF1"/>
            </a:solidFill>
            <a:ln w="9532" cap="sq">
              <a:solidFill>
                <a:srgbClr val="C0C1D7"/>
              </a:solidFill>
              <a:prstDash val="solid"/>
              <a:miter/>
            </a:ln>
          </p:spPr>
        </p:sp>
      </p:grpSp>
      <p:grpSp>
        <p:nvGrpSpPr>
          <p:cNvPr name="Group 25" id="25"/>
          <p:cNvGrpSpPr/>
          <p:nvPr/>
        </p:nvGrpSpPr>
        <p:grpSpPr>
          <a:xfrm rot="0">
            <a:off x="1292209" y="5283803"/>
            <a:ext cx="359092" cy="448770"/>
            <a:chOff x="0" y="0"/>
            <a:chExt cx="478790" cy="59836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478794" cy="598359"/>
            </a:xfrm>
            <a:custGeom>
              <a:avLst/>
              <a:gdLst/>
              <a:ahLst/>
              <a:cxnLst/>
              <a:rect r="r" b="b" t="t" l="l"/>
              <a:pathLst>
                <a:path h="598359" w="478794">
                  <a:moveTo>
                    <a:pt x="0" y="0"/>
                  </a:moveTo>
                  <a:lnTo>
                    <a:pt x="478794" y="0"/>
                  </a:lnTo>
                  <a:lnTo>
                    <a:pt x="478794" y="598359"/>
                  </a:lnTo>
                  <a:lnTo>
                    <a:pt x="0" y="598359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-110344" t="0" r="-110343" b="0"/>
              </a:stretch>
            </a:blipFill>
          </p:spPr>
        </p:sp>
        <p:sp>
          <p:nvSpPr>
            <p:cNvPr name="TextBox 27" id="27"/>
            <p:cNvSpPr txBox="true"/>
            <p:nvPr/>
          </p:nvSpPr>
          <p:spPr>
            <a:xfrm>
              <a:off x="0" y="-9525"/>
              <a:ext cx="478790" cy="6078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332"/>
                </a:lnSpc>
              </a:pPr>
              <a:r>
                <a:rPr lang="en-US" b="true" sz="2777" spc="-85">
                  <a:solidFill>
                    <a:srgbClr val="272525"/>
                  </a:solidFill>
                  <a:latin typeface="Inter Bold"/>
                  <a:ea typeface="Inter Bold"/>
                  <a:cs typeface="Inter Bold"/>
                  <a:sym typeface="Inter Bold"/>
                </a:rPr>
                <a:t>2</a:t>
              </a:r>
            </a:p>
          </p:txBody>
        </p:sp>
      </p:grpSp>
      <p:sp>
        <p:nvSpPr>
          <p:cNvPr name="TextBox 28" id="28"/>
          <p:cNvSpPr txBox="true"/>
          <p:nvPr/>
        </p:nvSpPr>
        <p:spPr>
          <a:xfrm rot="0">
            <a:off x="2135229" y="5264753"/>
            <a:ext cx="3558107" cy="7287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03"/>
              </a:lnSpc>
            </a:pPr>
            <a:r>
              <a:rPr lang="en-US" b="true" sz="2326" spc="-70">
                <a:solidFill>
                  <a:srgbClr val="272525"/>
                </a:solidFill>
                <a:latin typeface="Inter Bold"/>
                <a:ea typeface="Inter Bold"/>
                <a:cs typeface="Inter Bold"/>
                <a:sym typeface="Inter Bold"/>
              </a:rPr>
              <a:t>AI &amp; Machine Learning Foundations</a:t>
            </a:r>
          </a:p>
        </p:txBody>
      </p:sp>
      <p:grpSp>
        <p:nvGrpSpPr>
          <p:cNvPr name="Group 29" id="29"/>
          <p:cNvGrpSpPr/>
          <p:nvPr/>
        </p:nvGrpSpPr>
        <p:grpSpPr>
          <a:xfrm rot="0">
            <a:off x="988219" y="6423679"/>
            <a:ext cx="967073" cy="1445952"/>
            <a:chOff x="0" y="0"/>
            <a:chExt cx="1289431" cy="1927936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1289304" cy="1927860"/>
            </a:xfrm>
            <a:custGeom>
              <a:avLst/>
              <a:gdLst/>
              <a:ahLst/>
              <a:cxnLst/>
              <a:rect r="r" b="b" t="t" l="l"/>
              <a:pathLst>
                <a:path h="1927860" w="1289304">
                  <a:moveTo>
                    <a:pt x="0" y="644652"/>
                  </a:moveTo>
                  <a:cubicBezTo>
                    <a:pt x="0" y="288671"/>
                    <a:pt x="288671" y="0"/>
                    <a:pt x="644652" y="0"/>
                  </a:cubicBezTo>
                  <a:cubicBezTo>
                    <a:pt x="1000633" y="0"/>
                    <a:pt x="1289304" y="288671"/>
                    <a:pt x="1289304" y="644652"/>
                  </a:cubicBezTo>
                  <a:lnTo>
                    <a:pt x="1289304" y="1283208"/>
                  </a:lnTo>
                  <a:cubicBezTo>
                    <a:pt x="1289304" y="1639316"/>
                    <a:pt x="1000633" y="1927860"/>
                    <a:pt x="644652" y="1927860"/>
                  </a:cubicBezTo>
                  <a:cubicBezTo>
                    <a:pt x="288671" y="1927860"/>
                    <a:pt x="0" y="1639316"/>
                    <a:pt x="0" y="1283208"/>
                  </a:cubicBezTo>
                  <a:close/>
                </a:path>
              </a:pathLst>
            </a:custGeom>
            <a:solidFill>
              <a:srgbClr val="DADBF1"/>
            </a:solidFill>
            <a:ln w="9532" cap="sq">
              <a:solidFill>
                <a:srgbClr val="C0C1D7"/>
              </a:solidFill>
              <a:prstDash val="solid"/>
              <a:miter/>
            </a:ln>
          </p:spPr>
        </p:sp>
      </p:grpSp>
      <p:grpSp>
        <p:nvGrpSpPr>
          <p:cNvPr name="Group 31" id="31"/>
          <p:cNvGrpSpPr/>
          <p:nvPr/>
        </p:nvGrpSpPr>
        <p:grpSpPr>
          <a:xfrm rot="0">
            <a:off x="1292209" y="6922199"/>
            <a:ext cx="359092" cy="448770"/>
            <a:chOff x="0" y="0"/>
            <a:chExt cx="478790" cy="59836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478794" cy="598359"/>
            </a:xfrm>
            <a:custGeom>
              <a:avLst/>
              <a:gdLst/>
              <a:ahLst/>
              <a:cxnLst/>
              <a:rect r="r" b="b" t="t" l="l"/>
              <a:pathLst>
                <a:path h="598359" w="478794">
                  <a:moveTo>
                    <a:pt x="0" y="0"/>
                  </a:moveTo>
                  <a:lnTo>
                    <a:pt x="478794" y="0"/>
                  </a:lnTo>
                  <a:lnTo>
                    <a:pt x="478794" y="598359"/>
                  </a:lnTo>
                  <a:lnTo>
                    <a:pt x="0" y="598359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-110344" t="0" r="-110343" b="0"/>
              </a:stretch>
            </a:blipFill>
          </p:spPr>
        </p:sp>
        <p:sp>
          <p:nvSpPr>
            <p:cNvPr name="TextBox 33" id="33"/>
            <p:cNvSpPr txBox="true"/>
            <p:nvPr/>
          </p:nvSpPr>
          <p:spPr>
            <a:xfrm>
              <a:off x="0" y="-9525"/>
              <a:ext cx="478790" cy="6078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332"/>
                </a:lnSpc>
              </a:pPr>
              <a:r>
                <a:rPr lang="en-US" b="true" sz="2777" spc="-85">
                  <a:solidFill>
                    <a:srgbClr val="272525"/>
                  </a:solidFill>
                  <a:latin typeface="Inter Bold"/>
                  <a:ea typeface="Inter Bold"/>
                  <a:cs typeface="Inter Bold"/>
                  <a:sym typeface="Inter Bold"/>
                </a:rPr>
                <a:t>3</a:t>
              </a:r>
            </a:p>
          </p:txBody>
        </p:sp>
      </p:grpSp>
      <p:sp>
        <p:nvSpPr>
          <p:cNvPr name="TextBox 34" id="34"/>
          <p:cNvSpPr txBox="true"/>
          <p:nvPr/>
        </p:nvSpPr>
        <p:spPr>
          <a:xfrm rot="0">
            <a:off x="2142074" y="6940606"/>
            <a:ext cx="3551262" cy="7287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03"/>
              </a:lnSpc>
            </a:pPr>
            <a:r>
              <a:rPr lang="en-US" b="true" sz="2326" spc="-70">
                <a:solidFill>
                  <a:srgbClr val="272525"/>
                </a:solidFill>
                <a:latin typeface="Inter Bold"/>
                <a:ea typeface="Inter Bold"/>
                <a:cs typeface="Inter Bold"/>
                <a:sym typeface="Inter Bold"/>
              </a:rPr>
              <a:t>Advanced ML, Deep Learning &amp; Generative AI</a:t>
            </a:r>
          </a:p>
        </p:txBody>
      </p:sp>
      <p:grpSp>
        <p:nvGrpSpPr>
          <p:cNvPr name="Group 35" id="35"/>
          <p:cNvGrpSpPr/>
          <p:nvPr/>
        </p:nvGrpSpPr>
        <p:grpSpPr>
          <a:xfrm rot="0">
            <a:off x="988219" y="8062065"/>
            <a:ext cx="967073" cy="1445952"/>
            <a:chOff x="0" y="0"/>
            <a:chExt cx="1289431" cy="1927936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1289304" cy="1927860"/>
            </a:xfrm>
            <a:custGeom>
              <a:avLst/>
              <a:gdLst/>
              <a:ahLst/>
              <a:cxnLst/>
              <a:rect r="r" b="b" t="t" l="l"/>
              <a:pathLst>
                <a:path h="1927860" w="1289304">
                  <a:moveTo>
                    <a:pt x="0" y="644652"/>
                  </a:moveTo>
                  <a:cubicBezTo>
                    <a:pt x="0" y="288671"/>
                    <a:pt x="288671" y="0"/>
                    <a:pt x="644652" y="0"/>
                  </a:cubicBezTo>
                  <a:cubicBezTo>
                    <a:pt x="1000633" y="0"/>
                    <a:pt x="1289304" y="288671"/>
                    <a:pt x="1289304" y="644652"/>
                  </a:cubicBezTo>
                  <a:lnTo>
                    <a:pt x="1289304" y="1283208"/>
                  </a:lnTo>
                  <a:cubicBezTo>
                    <a:pt x="1289304" y="1639316"/>
                    <a:pt x="1000633" y="1927860"/>
                    <a:pt x="644652" y="1927860"/>
                  </a:cubicBezTo>
                  <a:cubicBezTo>
                    <a:pt x="288671" y="1927860"/>
                    <a:pt x="0" y="1639316"/>
                    <a:pt x="0" y="1283208"/>
                  </a:cubicBezTo>
                  <a:close/>
                </a:path>
              </a:pathLst>
            </a:custGeom>
            <a:solidFill>
              <a:srgbClr val="DADBF1"/>
            </a:solidFill>
            <a:ln w="9532" cap="sq">
              <a:solidFill>
                <a:srgbClr val="C0C1D7"/>
              </a:solidFill>
              <a:prstDash val="solid"/>
              <a:miter/>
            </a:ln>
          </p:spPr>
        </p:sp>
      </p:grpSp>
      <p:grpSp>
        <p:nvGrpSpPr>
          <p:cNvPr name="Group 37" id="37"/>
          <p:cNvGrpSpPr/>
          <p:nvPr/>
        </p:nvGrpSpPr>
        <p:grpSpPr>
          <a:xfrm rot="0">
            <a:off x="1292209" y="8560584"/>
            <a:ext cx="359092" cy="448770"/>
            <a:chOff x="0" y="0"/>
            <a:chExt cx="478790" cy="598360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478794" cy="598359"/>
            </a:xfrm>
            <a:custGeom>
              <a:avLst/>
              <a:gdLst/>
              <a:ahLst/>
              <a:cxnLst/>
              <a:rect r="r" b="b" t="t" l="l"/>
              <a:pathLst>
                <a:path h="598359" w="478794">
                  <a:moveTo>
                    <a:pt x="0" y="0"/>
                  </a:moveTo>
                  <a:lnTo>
                    <a:pt x="478794" y="0"/>
                  </a:lnTo>
                  <a:lnTo>
                    <a:pt x="478794" y="598359"/>
                  </a:lnTo>
                  <a:lnTo>
                    <a:pt x="0" y="598359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-110344" t="0" r="-110343" b="0"/>
              </a:stretch>
            </a:blipFill>
          </p:spPr>
        </p:sp>
        <p:sp>
          <p:nvSpPr>
            <p:cNvPr name="TextBox 39" id="39"/>
            <p:cNvSpPr txBox="true"/>
            <p:nvPr/>
          </p:nvSpPr>
          <p:spPr>
            <a:xfrm>
              <a:off x="0" y="-9525"/>
              <a:ext cx="478790" cy="6078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332"/>
                </a:lnSpc>
              </a:pPr>
              <a:r>
                <a:rPr lang="en-US" b="true" sz="2777" spc="-85">
                  <a:solidFill>
                    <a:srgbClr val="272525"/>
                  </a:solidFill>
                  <a:latin typeface="Inter Bold"/>
                  <a:ea typeface="Inter Bold"/>
                  <a:cs typeface="Inter Bold"/>
                  <a:sym typeface="Inter Bold"/>
                </a:rPr>
                <a:t>4</a:t>
              </a:r>
            </a:p>
          </p:txBody>
        </p:sp>
      </p:grpSp>
      <p:sp>
        <p:nvSpPr>
          <p:cNvPr name="TextBox 40" id="40"/>
          <p:cNvSpPr txBox="true"/>
          <p:nvPr/>
        </p:nvSpPr>
        <p:spPr>
          <a:xfrm rot="0">
            <a:off x="2147639" y="8619530"/>
            <a:ext cx="3545697" cy="10907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03"/>
              </a:lnSpc>
            </a:pPr>
            <a:r>
              <a:rPr lang="en-US" b="true" sz="2326" spc="-70">
                <a:solidFill>
                  <a:srgbClr val="272525"/>
                </a:solidFill>
                <a:latin typeface="Inter Bold"/>
                <a:ea typeface="Inter Bold"/>
                <a:cs typeface="Inter Bold"/>
                <a:sym typeface="Inter Bold"/>
              </a:rPr>
              <a:t>MODULE</a:t>
            </a:r>
            <a:r>
              <a:rPr lang="en-US" b="true" sz="2326" spc="-70">
                <a:solidFill>
                  <a:srgbClr val="272525"/>
                </a:solidFill>
                <a:latin typeface="Inter Bold"/>
                <a:ea typeface="Inter Bold"/>
                <a:cs typeface="Inter Bold"/>
                <a:sym typeface="Inter Bold"/>
              </a:rPr>
              <a:t> 4: Production AI, MLOps &amp; Industrial Project</a:t>
            </a:r>
          </a:p>
        </p:txBody>
      </p:sp>
      <p:grpSp>
        <p:nvGrpSpPr>
          <p:cNvPr name="Group 41" id="41"/>
          <p:cNvGrpSpPr/>
          <p:nvPr/>
        </p:nvGrpSpPr>
        <p:grpSpPr>
          <a:xfrm rot="0">
            <a:off x="15975053" y="311045"/>
            <a:ext cx="2042156" cy="552386"/>
            <a:chOff x="0" y="0"/>
            <a:chExt cx="1549400" cy="419100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1549400" cy="419100"/>
            </a:xfrm>
            <a:custGeom>
              <a:avLst/>
              <a:gdLst/>
              <a:ahLst/>
              <a:cxnLst/>
              <a:rect r="r" b="b" t="t" l="l"/>
              <a:pathLst>
                <a:path h="419100" w="1549400">
                  <a:moveTo>
                    <a:pt x="0" y="0"/>
                  </a:moveTo>
                  <a:lnTo>
                    <a:pt x="1549400" y="0"/>
                  </a:lnTo>
                  <a:lnTo>
                    <a:pt x="1549400" y="419100"/>
                  </a:lnTo>
                  <a:lnTo>
                    <a:pt x="0" y="4191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-8196" b="-66666"/>
              </a:stretch>
            </a:blipFill>
          </p:spPr>
        </p:sp>
      </p:grpSp>
      <p:grpSp>
        <p:nvGrpSpPr>
          <p:cNvPr name="Group 43" id="43"/>
          <p:cNvGrpSpPr/>
          <p:nvPr/>
        </p:nvGrpSpPr>
        <p:grpSpPr>
          <a:xfrm rot="0">
            <a:off x="3325248" y="3538527"/>
            <a:ext cx="11896794" cy="3217985"/>
            <a:chOff x="0" y="0"/>
            <a:chExt cx="1549400" cy="419100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1549400" cy="419100"/>
            </a:xfrm>
            <a:custGeom>
              <a:avLst/>
              <a:gdLst/>
              <a:ahLst/>
              <a:cxnLst/>
              <a:rect r="r" b="b" t="t" l="l"/>
              <a:pathLst>
                <a:path h="419100" w="1549400">
                  <a:moveTo>
                    <a:pt x="0" y="0"/>
                  </a:moveTo>
                  <a:lnTo>
                    <a:pt x="1549400" y="0"/>
                  </a:lnTo>
                  <a:lnTo>
                    <a:pt x="1549400" y="419100"/>
                  </a:lnTo>
                  <a:lnTo>
                    <a:pt x="0" y="4191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>
                <a:alphaModFix amt="6000"/>
              </a:blip>
              <a:stretch>
                <a:fillRect l="0" t="0" r="-8196" b="-66666"/>
              </a:stretch>
            </a:blipFill>
          </p:spPr>
        </p:sp>
      </p:grpSp>
      <p:grpSp>
        <p:nvGrpSpPr>
          <p:cNvPr name="Group 45" id="45"/>
          <p:cNvGrpSpPr/>
          <p:nvPr/>
        </p:nvGrpSpPr>
        <p:grpSpPr>
          <a:xfrm rot="0">
            <a:off x="5693335" y="3131930"/>
            <a:ext cx="967073" cy="1445952"/>
            <a:chOff x="0" y="0"/>
            <a:chExt cx="1289431" cy="1927936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1289304" cy="1927860"/>
            </a:xfrm>
            <a:custGeom>
              <a:avLst/>
              <a:gdLst/>
              <a:ahLst/>
              <a:cxnLst/>
              <a:rect r="r" b="b" t="t" l="l"/>
              <a:pathLst>
                <a:path h="1927860" w="1289304">
                  <a:moveTo>
                    <a:pt x="0" y="644652"/>
                  </a:moveTo>
                  <a:cubicBezTo>
                    <a:pt x="0" y="288671"/>
                    <a:pt x="288671" y="0"/>
                    <a:pt x="644652" y="0"/>
                  </a:cubicBezTo>
                  <a:cubicBezTo>
                    <a:pt x="1000633" y="0"/>
                    <a:pt x="1289304" y="288671"/>
                    <a:pt x="1289304" y="644652"/>
                  </a:cubicBezTo>
                  <a:lnTo>
                    <a:pt x="1289304" y="1283208"/>
                  </a:lnTo>
                  <a:cubicBezTo>
                    <a:pt x="1289304" y="1639316"/>
                    <a:pt x="1000633" y="1927860"/>
                    <a:pt x="644652" y="1927860"/>
                  </a:cubicBezTo>
                  <a:cubicBezTo>
                    <a:pt x="288671" y="1927860"/>
                    <a:pt x="0" y="1639316"/>
                    <a:pt x="0" y="1283208"/>
                  </a:cubicBezTo>
                  <a:close/>
                </a:path>
              </a:pathLst>
            </a:custGeom>
            <a:solidFill>
              <a:srgbClr val="DADBF1"/>
            </a:solidFill>
            <a:ln w="9532" cap="sq">
              <a:solidFill>
                <a:srgbClr val="C0C1D7"/>
              </a:solidFill>
              <a:prstDash val="solid"/>
              <a:miter/>
            </a:ln>
          </p:spPr>
        </p:sp>
      </p:grpSp>
      <p:grpSp>
        <p:nvGrpSpPr>
          <p:cNvPr name="Group 47" id="47"/>
          <p:cNvGrpSpPr/>
          <p:nvPr/>
        </p:nvGrpSpPr>
        <p:grpSpPr>
          <a:xfrm rot="0">
            <a:off x="5693335" y="4785284"/>
            <a:ext cx="967073" cy="1445952"/>
            <a:chOff x="0" y="0"/>
            <a:chExt cx="1289431" cy="1927936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1289304" cy="1927860"/>
            </a:xfrm>
            <a:custGeom>
              <a:avLst/>
              <a:gdLst/>
              <a:ahLst/>
              <a:cxnLst/>
              <a:rect r="r" b="b" t="t" l="l"/>
              <a:pathLst>
                <a:path h="1927860" w="1289304">
                  <a:moveTo>
                    <a:pt x="0" y="644652"/>
                  </a:moveTo>
                  <a:cubicBezTo>
                    <a:pt x="0" y="288671"/>
                    <a:pt x="288671" y="0"/>
                    <a:pt x="644652" y="0"/>
                  </a:cubicBezTo>
                  <a:cubicBezTo>
                    <a:pt x="1000633" y="0"/>
                    <a:pt x="1289304" y="288671"/>
                    <a:pt x="1289304" y="644652"/>
                  </a:cubicBezTo>
                  <a:lnTo>
                    <a:pt x="1289304" y="1283208"/>
                  </a:lnTo>
                  <a:cubicBezTo>
                    <a:pt x="1289304" y="1639316"/>
                    <a:pt x="1000633" y="1927860"/>
                    <a:pt x="644652" y="1927860"/>
                  </a:cubicBezTo>
                  <a:cubicBezTo>
                    <a:pt x="288671" y="1927860"/>
                    <a:pt x="0" y="1639316"/>
                    <a:pt x="0" y="1283208"/>
                  </a:cubicBezTo>
                  <a:close/>
                </a:path>
              </a:pathLst>
            </a:custGeom>
            <a:solidFill>
              <a:srgbClr val="DADBF1"/>
            </a:solidFill>
            <a:ln w="9532" cap="sq">
              <a:solidFill>
                <a:srgbClr val="C0C1D7"/>
              </a:solidFill>
              <a:prstDash val="solid"/>
              <a:miter/>
            </a:ln>
          </p:spPr>
        </p:sp>
      </p:grpSp>
      <p:grpSp>
        <p:nvGrpSpPr>
          <p:cNvPr name="Group 49" id="49"/>
          <p:cNvGrpSpPr/>
          <p:nvPr/>
        </p:nvGrpSpPr>
        <p:grpSpPr>
          <a:xfrm rot="0">
            <a:off x="5997326" y="3602079"/>
            <a:ext cx="359092" cy="583912"/>
            <a:chOff x="0" y="0"/>
            <a:chExt cx="478790" cy="778549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478794" cy="778547"/>
            </a:xfrm>
            <a:custGeom>
              <a:avLst/>
              <a:gdLst/>
              <a:ahLst/>
              <a:cxnLst/>
              <a:rect r="r" b="b" t="t" l="l"/>
              <a:pathLst>
                <a:path h="778547" w="478794">
                  <a:moveTo>
                    <a:pt x="0" y="0"/>
                  </a:moveTo>
                  <a:lnTo>
                    <a:pt x="478794" y="0"/>
                  </a:lnTo>
                  <a:lnTo>
                    <a:pt x="478794" y="778547"/>
                  </a:lnTo>
                  <a:lnTo>
                    <a:pt x="0" y="778547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-110344" t="0" r="-110343" b="23143"/>
              </a:stretch>
            </a:blipFill>
          </p:spPr>
        </p:sp>
        <p:sp>
          <p:nvSpPr>
            <p:cNvPr name="TextBox 51" id="51"/>
            <p:cNvSpPr txBox="true"/>
            <p:nvPr/>
          </p:nvSpPr>
          <p:spPr>
            <a:xfrm>
              <a:off x="0" y="-9525"/>
              <a:ext cx="478790" cy="78807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332"/>
                </a:lnSpc>
              </a:pPr>
              <a:r>
                <a:rPr lang="en-US" b="true" sz="2777" spc="-85">
                  <a:solidFill>
                    <a:srgbClr val="272525"/>
                  </a:solidFill>
                  <a:latin typeface="Inter Bold"/>
                  <a:ea typeface="Inter Bold"/>
                  <a:cs typeface="Inter Bold"/>
                  <a:sym typeface="Inter Bold"/>
                </a:rPr>
                <a:t>5</a:t>
              </a:r>
            </a:p>
          </p:txBody>
        </p:sp>
      </p:grpSp>
      <p:grpSp>
        <p:nvGrpSpPr>
          <p:cNvPr name="Group 52" id="52"/>
          <p:cNvGrpSpPr/>
          <p:nvPr/>
        </p:nvGrpSpPr>
        <p:grpSpPr>
          <a:xfrm rot="0">
            <a:off x="5997326" y="5283875"/>
            <a:ext cx="359092" cy="583912"/>
            <a:chOff x="0" y="0"/>
            <a:chExt cx="478790" cy="778549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478794" cy="778547"/>
            </a:xfrm>
            <a:custGeom>
              <a:avLst/>
              <a:gdLst/>
              <a:ahLst/>
              <a:cxnLst/>
              <a:rect r="r" b="b" t="t" l="l"/>
              <a:pathLst>
                <a:path h="778547" w="478794">
                  <a:moveTo>
                    <a:pt x="0" y="0"/>
                  </a:moveTo>
                  <a:lnTo>
                    <a:pt x="478794" y="0"/>
                  </a:lnTo>
                  <a:lnTo>
                    <a:pt x="478794" y="778547"/>
                  </a:lnTo>
                  <a:lnTo>
                    <a:pt x="0" y="778547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-110344" t="0" r="-110343" b="23143"/>
              </a:stretch>
            </a:blipFill>
          </p:spPr>
        </p:sp>
        <p:sp>
          <p:nvSpPr>
            <p:cNvPr name="TextBox 54" id="54"/>
            <p:cNvSpPr txBox="true"/>
            <p:nvPr/>
          </p:nvSpPr>
          <p:spPr>
            <a:xfrm>
              <a:off x="0" y="-9525"/>
              <a:ext cx="478790" cy="78807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332"/>
                </a:lnSpc>
              </a:pPr>
              <a:r>
                <a:rPr lang="en-US" b="true" sz="2777" spc="-85">
                  <a:solidFill>
                    <a:srgbClr val="272525"/>
                  </a:solidFill>
                  <a:latin typeface="Inter Bold"/>
                  <a:ea typeface="Inter Bold"/>
                  <a:cs typeface="Inter Bold"/>
                  <a:sym typeface="Inter Bold"/>
                </a:rPr>
                <a:t>6</a:t>
              </a:r>
            </a:p>
          </p:txBody>
        </p:sp>
      </p:grpSp>
      <p:sp>
        <p:nvSpPr>
          <p:cNvPr name="TextBox 55" id="55"/>
          <p:cNvSpPr txBox="true"/>
          <p:nvPr/>
        </p:nvSpPr>
        <p:spPr>
          <a:xfrm rot="0">
            <a:off x="6882518" y="3676941"/>
            <a:ext cx="4334022" cy="3668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03"/>
              </a:lnSpc>
            </a:pPr>
            <a:r>
              <a:rPr lang="en-US" b="true" sz="2326" spc="-70">
                <a:solidFill>
                  <a:srgbClr val="272525"/>
                </a:solidFill>
                <a:latin typeface="Inter Bold"/>
                <a:ea typeface="Inter Bold"/>
                <a:cs typeface="Inter Bold"/>
                <a:sym typeface="Inter Bold"/>
              </a:rPr>
              <a:t>Hands-On Project Progression</a:t>
            </a:r>
          </a:p>
        </p:txBody>
      </p:sp>
      <p:sp>
        <p:nvSpPr>
          <p:cNvPr name="TextBox 56" id="56"/>
          <p:cNvSpPr txBox="true"/>
          <p:nvPr/>
        </p:nvSpPr>
        <p:spPr>
          <a:xfrm rot="0">
            <a:off x="6841384" y="5264753"/>
            <a:ext cx="4334022" cy="7287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03"/>
              </a:lnSpc>
            </a:pPr>
            <a:r>
              <a:rPr lang="en-US" b="true" sz="2326" spc="-70">
                <a:solidFill>
                  <a:srgbClr val="272525"/>
                </a:solidFill>
                <a:latin typeface="Inter Bold"/>
                <a:ea typeface="Inter Bold"/>
                <a:cs typeface="Inter Bold"/>
                <a:sym typeface="Inter Bold"/>
              </a:rPr>
              <a:t>Indus</a:t>
            </a:r>
            <a:r>
              <a:rPr lang="en-US" b="true" sz="2326" spc="-70">
                <a:solidFill>
                  <a:srgbClr val="272525"/>
                </a:solidFill>
                <a:latin typeface="Inter Bold"/>
                <a:ea typeface="Inter Bold"/>
                <a:cs typeface="Inter Bold"/>
                <a:sym typeface="Inter Bold"/>
              </a:rPr>
              <a:t>trial Training, Assessment &amp; Technology Stack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301840" cy="10295039"/>
            <a:chOff x="0" y="0"/>
            <a:chExt cx="24402453" cy="1372671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0241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F6F4F4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301840" cy="10295039"/>
            <a:chOff x="0" y="0"/>
            <a:chExt cx="24402453" cy="1372671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40241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16628307" y="9846183"/>
            <a:ext cx="1609020" cy="384353"/>
            <a:chOff x="0" y="0"/>
            <a:chExt cx="2145360" cy="512470"/>
          </a:xfrm>
        </p:grpSpPr>
        <p:sp>
          <p:nvSpPr>
            <p:cNvPr name="Freeform 7" id="7" descr="preencoded.png">
              <a:hlinkClick r:id="rId3" tooltip="https://gamma.app/?utm_source=made-with-gamma"/>
            </p:cNvPr>
            <p:cNvSpPr/>
            <p:nvPr/>
          </p:nvSpPr>
          <p:spPr>
            <a:xfrm flipH="false" flipV="false" rot="0">
              <a:off x="0" y="0"/>
              <a:ext cx="2145411" cy="512445"/>
            </a:xfrm>
            <a:custGeom>
              <a:avLst/>
              <a:gdLst/>
              <a:ahLst/>
              <a:cxnLst/>
              <a:rect r="r" b="b" t="t" l="l"/>
              <a:pathLst>
                <a:path h="512445" w="2145411">
                  <a:moveTo>
                    <a:pt x="0" y="0"/>
                  </a:moveTo>
                  <a:lnTo>
                    <a:pt x="2145411" y="0"/>
                  </a:lnTo>
                  <a:lnTo>
                    <a:pt x="2145411" y="512445"/>
                  </a:lnTo>
                  <a:lnTo>
                    <a:pt x="0" y="51244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2" b="-4"/>
              </a:stretch>
            </a:blipFill>
          </p:spPr>
        </p:sp>
      </p:grpSp>
      <p:sp>
        <p:nvSpPr>
          <p:cNvPr name="TextBox 8" id="8"/>
          <p:cNvSpPr txBox="true"/>
          <p:nvPr/>
        </p:nvSpPr>
        <p:spPr>
          <a:xfrm rot="0">
            <a:off x="992991" y="1173109"/>
            <a:ext cx="10445353" cy="8710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931"/>
              </a:lnSpc>
            </a:pPr>
            <a:r>
              <a:rPr lang="en-US" b="true" sz="5554" spc="-168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MODULE 1: Curriculum Structure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988219" y="2651065"/>
            <a:ext cx="8025527" cy="2117541"/>
            <a:chOff x="0" y="0"/>
            <a:chExt cx="10700702" cy="2823388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0700766" cy="2823464"/>
            </a:xfrm>
            <a:custGeom>
              <a:avLst/>
              <a:gdLst/>
              <a:ahLst/>
              <a:cxnLst/>
              <a:rect r="r" b="b" t="t" l="l"/>
              <a:pathLst>
                <a:path h="2823464" w="10700766">
                  <a:moveTo>
                    <a:pt x="0" y="159639"/>
                  </a:moveTo>
                  <a:cubicBezTo>
                    <a:pt x="0" y="71501"/>
                    <a:pt x="71501" y="0"/>
                    <a:pt x="159639" y="0"/>
                  </a:cubicBezTo>
                  <a:lnTo>
                    <a:pt x="10541127" y="0"/>
                  </a:lnTo>
                  <a:cubicBezTo>
                    <a:pt x="10629265" y="0"/>
                    <a:pt x="10700766" y="71501"/>
                    <a:pt x="10700766" y="159639"/>
                  </a:cubicBezTo>
                  <a:lnTo>
                    <a:pt x="10700766" y="2663825"/>
                  </a:lnTo>
                  <a:cubicBezTo>
                    <a:pt x="10700766" y="2751963"/>
                    <a:pt x="10629265" y="2823464"/>
                    <a:pt x="10541127" y="2823464"/>
                  </a:cubicBezTo>
                  <a:lnTo>
                    <a:pt x="159639" y="2823464"/>
                  </a:lnTo>
                  <a:cubicBezTo>
                    <a:pt x="71501" y="2823337"/>
                    <a:pt x="0" y="2751963"/>
                    <a:pt x="0" y="2663825"/>
                  </a:cubicBezTo>
                  <a:close/>
                </a:path>
              </a:pathLst>
            </a:custGeom>
            <a:solidFill>
              <a:srgbClr val="DADBF1"/>
            </a:solidFill>
            <a:ln w="9532" cap="sq">
              <a:solidFill>
                <a:srgbClr val="C0C1D7"/>
              </a:solidFill>
              <a:prstDash val="solid"/>
              <a:miter/>
            </a:ln>
          </p:spPr>
        </p:sp>
      </p:grpSp>
      <p:sp>
        <p:nvSpPr>
          <p:cNvPr name="TextBox 11" id="11"/>
          <p:cNvSpPr txBox="true"/>
          <p:nvPr/>
        </p:nvSpPr>
        <p:spPr>
          <a:xfrm rot="0">
            <a:off x="1286256" y="2930052"/>
            <a:ext cx="7429462" cy="4623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65"/>
              </a:lnSpc>
            </a:pPr>
            <a:r>
              <a:rPr lang="en-US" b="true" sz="2777" spc="-84">
                <a:solidFill>
                  <a:srgbClr val="272525"/>
                </a:solidFill>
                <a:latin typeface="Inter Bold"/>
                <a:ea typeface="Inter Bold"/>
                <a:cs typeface="Inter Bold"/>
                <a:sym typeface="Inter Bold"/>
              </a:rPr>
              <a:t>Foundation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286256" y="3486407"/>
            <a:ext cx="7429462" cy="5301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74"/>
              </a:lnSpc>
            </a:pPr>
            <a:r>
              <a:rPr lang="en-US" sz="2176" spc="-45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Python, data handling, statistics, mathematics</a:t>
            </a:r>
          </a:p>
        </p:txBody>
      </p:sp>
      <p:grpSp>
        <p:nvGrpSpPr>
          <p:cNvPr name="Group 13" id="13"/>
          <p:cNvGrpSpPr/>
          <p:nvPr/>
        </p:nvGrpSpPr>
        <p:grpSpPr>
          <a:xfrm rot="0">
            <a:off x="9287942" y="2651065"/>
            <a:ext cx="8025670" cy="2117541"/>
            <a:chOff x="0" y="0"/>
            <a:chExt cx="10700893" cy="2823388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0700893" cy="2823464"/>
            </a:xfrm>
            <a:custGeom>
              <a:avLst/>
              <a:gdLst/>
              <a:ahLst/>
              <a:cxnLst/>
              <a:rect r="r" b="b" t="t" l="l"/>
              <a:pathLst>
                <a:path h="2823464" w="10700893">
                  <a:moveTo>
                    <a:pt x="0" y="159639"/>
                  </a:moveTo>
                  <a:cubicBezTo>
                    <a:pt x="0" y="71501"/>
                    <a:pt x="71501" y="0"/>
                    <a:pt x="159639" y="0"/>
                  </a:cubicBezTo>
                  <a:lnTo>
                    <a:pt x="10541254" y="0"/>
                  </a:lnTo>
                  <a:cubicBezTo>
                    <a:pt x="10629392" y="0"/>
                    <a:pt x="10700893" y="71501"/>
                    <a:pt x="10700893" y="159639"/>
                  </a:cubicBezTo>
                  <a:lnTo>
                    <a:pt x="10700893" y="2663825"/>
                  </a:lnTo>
                  <a:cubicBezTo>
                    <a:pt x="10700893" y="2751963"/>
                    <a:pt x="10629392" y="2823464"/>
                    <a:pt x="10541254" y="2823464"/>
                  </a:cubicBezTo>
                  <a:lnTo>
                    <a:pt x="159639" y="2823464"/>
                  </a:lnTo>
                  <a:cubicBezTo>
                    <a:pt x="71501" y="2823337"/>
                    <a:pt x="0" y="2751963"/>
                    <a:pt x="0" y="2663825"/>
                  </a:cubicBezTo>
                  <a:close/>
                </a:path>
              </a:pathLst>
            </a:custGeom>
            <a:solidFill>
              <a:srgbClr val="DADBF1"/>
            </a:solidFill>
            <a:ln w="9532" cap="sq">
              <a:solidFill>
                <a:srgbClr val="C0C1D7"/>
              </a:solidFill>
              <a:prstDash val="solid"/>
              <a:miter/>
            </a:ln>
          </p:spPr>
        </p:sp>
      </p:grpSp>
      <p:sp>
        <p:nvSpPr>
          <p:cNvPr name="TextBox 15" id="15"/>
          <p:cNvSpPr txBox="true"/>
          <p:nvPr/>
        </p:nvSpPr>
        <p:spPr>
          <a:xfrm rot="0">
            <a:off x="9585979" y="2930052"/>
            <a:ext cx="7429614" cy="4623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65"/>
              </a:lnSpc>
            </a:pPr>
            <a:r>
              <a:rPr lang="en-US" b="true" sz="2777" spc="-84">
                <a:solidFill>
                  <a:srgbClr val="272525"/>
                </a:solidFill>
                <a:latin typeface="Inter Bold"/>
                <a:ea typeface="Inter Bold"/>
                <a:cs typeface="Inter Bold"/>
                <a:sym typeface="Inter Bold"/>
              </a:rPr>
              <a:t>Machine Learning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9585979" y="3486407"/>
            <a:ext cx="7429614" cy="9841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74"/>
              </a:lnSpc>
            </a:pPr>
            <a:r>
              <a:rPr lang="en-US" sz="2176" spc="-45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Supervised/unsupervised learning, evaluation, feature engineering, tuning</a:t>
            </a:r>
          </a:p>
        </p:txBody>
      </p:sp>
      <p:grpSp>
        <p:nvGrpSpPr>
          <p:cNvPr name="Group 17" id="17"/>
          <p:cNvGrpSpPr/>
          <p:nvPr/>
        </p:nvGrpSpPr>
        <p:grpSpPr>
          <a:xfrm rot="0">
            <a:off x="988219" y="5042811"/>
            <a:ext cx="8025527" cy="1663560"/>
            <a:chOff x="0" y="0"/>
            <a:chExt cx="10700702" cy="221808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0700639" cy="2218055"/>
            </a:xfrm>
            <a:custGeom>
              <a:avLst/>
              <a:gdLst/>
              <a:ahLst/>
              <a:cxnLst/>
              <a:rect r="r" b="b" t="t" l="l"/>
              <a:pathLst>
                <a:path h="2218055" w="10700639">
                  <a:moveTo>
                    <a:pt x="0" y="159766"/>
                  </a:moveTo>
                  <a:cubicBezTo>
                    <a:pt x="0" y="71501"/>
                    <a:pt x="71501" y="0"/>
                    <a:pt x="159766" y="0"/>
                  </a:cubicBezTo>
                  <a:lnTo>
                    <a:pt x="10540873" y="0"/>
                  </a:lnTo>
                  <a:cubicBezTo>
                    <a:pt x="10629138" y="0"/>
                    <a:pt x="10700639" y="71501"/>
                    <a:pt x="10700639" y="159766"/>
                  </a:cubicBezTo>
                  <a:lnTo>
                    <a:pt x="10700639" y="2058289"/>
                  </a:lnTo>
                  <a:cubicBezTo>
                    <a:pt x="10700639" y="2146554"/>
                    <a:pt x="10629138" y="2218055"/>
                    <a:pt x="10540873" y="2218055"/>
                  </a:cubicBezTo>
                  <a:lnTo>
                    <a:pt x="159766" y="2218055"/>
                  </a:lnTo>
                  <a:cubicBezTo>
                    <a:pt x="71501" y="2218055"/>
                    <a:pt x="0" y="2146554"/>
                    <a:pt x="0" y="2058289"/>
                  </a:cubicBezTo>
                  <a:close/>
                </a:path>
              </a:pathLst>
            </a:custGeom>
            <a:solidFill>
              <a:srgbClr val="DADBF1"/>
            </a:solidFill>
            <a:ln w="9532" cap="sq">
              <a:solidFill>
                <a:srgbClr val="C0C1D7"/>
              </a:solidFill>
              <a:prstDash val="solid"/>
              <a:miter/>
            </a:ln>
          </p:spPr>
        </p:sp>
      </p:grpSp>
      <p:sp>
        <p:nvSpPr>
          <p:cNvPr name="TextBox 19" id="19"/>
          <p:cNvSpPr txBox="true"/>
          <p:nvPr/>
        </p:nvSpPr>
        <p:spPr>
          <a:xfrm rot="0">
            <a:off x="1286256" y="5321798"/>
            <a:ext cx="7429462" cy="4623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65"/>
              </a:lnSpc>
            </a:pPr>
            <a:r>
              <a:rPr lang="en-US" b="true" sz="2777" spc="-84">
                <a:solidFill>
                  <a:srgbClr val="272525"/>
                </a:solidFill>
                <a:latin typeface="Inter Bold"/>
                <a:ea typeface="Inter Bold"/>
                <a:cs typeface="Inter Bold"/>
                <a:sym typeface="Inter Bold"/>
              </a:rPr>
              <a:t>Deep Learning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286256" y="5878154"/>
            <a:ext cx="7429462" cy="5301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74"/>
              </a:lnSpc>
            </a:pPr>
            <a:r>
              <a:rPr lang="en-US" sz="2176" spc="-45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Neural networks, CNNs, sequence models, transformers</a:t>
            </a:r>
          </a:p>
        </p:txBody>
      </p:sp>
      <p:grpSp>
        <p:nvGrpSpPr>
          <p:cNvPr name="Group 21" id="21"/>
          <p:cNvGrpSpPr/>
          <p:nvPr/>
        </p:nvGrpSpPr>
        <p:grpSpPr>
          <a:xfrm rot="0">
            <a:off x="9287942" y="5042811"/>
            <a:ext cx="8025670" cy="1663560"/>
            <a:chOff x="0" y="0"/>
            <a:chExt cx="10700893" cy="221808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10700893" cy="2218055"/>
            </a:xfrm>
            <a:custGeom>
              <a:avLst/>
              <a:gdLst/>
              <a:ahLst/>
              <a:cxnLst/>
              <a:rect r="r" b="b" t="t" l="l"/>
              <a:pathLst>
                <a:path h="2218055" w="10700893">
                  <a:moveTo>
                    <a:pt x="0" y="159766"/>
                  </a:moveTo>
                  <a:cubicBezTo>
                    <a:pt x="0" y="71501"/>
                    <a:pt x="71501" y="0"/>
                    <a:pt x="159766" y="0"/>
                  </a:cubicBezTo>
                  <a:lnTo>
                    <a:pt x="10541127" y="0"/>
                  </a:lnTo>
                  <a:cubicBezTo>
                    <a:pt x="10629392" y="0"/>
                    <a:pt x="10700893" y="71501"/>
                    <a:pt x="10700893" y="159766"/>
                  </a:cubicBezTo>
                  <a:lnTo>
                    <a:pt x="10700893" y="2058289"/>
                  </a:lnTo>
                  <a:cubicBezTo>
                    <a:pt x="10700893" y="2146554"/>
                    <a:pt x="10629392" y="2218055"/>
                    <a:pt x="10541127" y="2218055"/>
                  </a:cubicBezTo>
                  <a:lnTo>
                    <a:pt x="159766" y="2218055"/>
                  </a:lnTo>
                  <a:cubicBezTo>
                    <a:pt x="71501" y="2218055"/>
                    <a:pt x="0" y="2146554"/>
                    <a:pt x="0" y="2058289"/>
                  </a:cubicBezTo>
                  <a:close/>
                </a:path>
              </a:pathLst>
            </a:custGeom>
            <a:solidFill>
              <a:srgbClr val="DADBF1"/>
            </a:solidFill>
            <a:ln w="9532" cap="sq">
              <a:solidFill>
                <a:srgbClr val="C0C1D7"/>
              </a:solidFill>
              <a:prstDash val="solid"/>
              <a:miter/>
            </a:ln>
          </p:spPr>
        </p:sp>
      </p:grpSp>
      <p:sp>
        <p:nvSpPr>
          <p:cNvPr name="TextBox 23" id="23"/>
          <p:cNvSpPr txBox="true"/>
          <p:nvPr/>
        </p:nvSpPr>
        <p:spPr>
          <a:xfrm rot="0">
            <a:off x="9585979" y="5321798"/>
            <a:ext cx="7429614" cy="4623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65"/>
              </a:lnSpc>
            </a:pPr>
            <a:r>
              <a:rPr lang="en-US" b="true" sz="2777" spc="-84">
                <a:solidFill>
                  <a:srgbClr val="272525"/>
                </a:solidFill>
                <a:latin typeface="Inter Bold"/>
                <a:ea typeface="Inter Bold"/>
                <a:cs typeface="Inter Bold"/>
                <a:sym typeface="Inter Bold"/>
              </a:rPr>
              <a:t>Generative AI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9585979" y="5878154"/>
            <a:ext cx="7429614" cy="5301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74"/>
              </a:lnSpc>
            </a:pPr>
            <a:r>
              <a:rPr lang="en-US" sz="2176" spc="-45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LLMs, embeddings, RAG, agents, fine-tuning concepts</a:t>
            </a:r>
          </a:p>
        </p:txBody>
      </p:sp>
      <p:grpSp>
        <p:nvGrpSpPr>
          <p:cNvPr name="Group 25" id="25"/>
          <p:cNvGrpSpPr/>
          <p:nvPr/>
        </p:nvGrpSpPr>
        <p:grpSpPr>
          <a:xfrm rot="0">
            <a:off x="988219" y="6980577"/>
            <a:ext cx="8025527" cy="2117541"/>
            <a:chOff x="0" y="0"/>
            <a:chExt cx="10700702" cy="2823388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10700766" cy="2823464"/>
            </a:xfrm>
            <a:custGeom>
              <a:avLst/>
              <a:gdLst/>
              <a:ahLst/>
              <a:cxnLst/>
              <a:rect r="r" b="b" t="t" l="l"/>
              <a:pathLst>
                <a:path h="2823464" w="10700766">
                  <a:moveTo>
                    <a:pt x="0" y="159639"/>
                  </a:moveTo>
                  <a:cubicBezTo>
                    <a:pt x="0" y="71501"/>
                    <a:pt x="71501" y="0"/>
                    <a:pt x="159639" y="0"/>
                  </a:cubicBezTo>
                  <a:lnTo>
                    <a:pt x="10541127" y="0"/>
                  </a:lnTo>
                  <a:cubicBezTo>
                    <a:pt x="10629265" y="0"/>
                    <a:pt x="10700766" y="71501"/>
                    <a:pt x="10700766" y="159639"/>
                  </a:cubicBezTo>
                  <a:lnTo>
                    <a:pt x="10700766" y="2663825"/>
                  </a:lnTo>
                  <a:cubicBezTo>
                    <a:pt x="10700766" y="2751963"/>
                    <a:pt x="10629265" y="2823464"/>
                    <a:pt x="10541127" y="2823464"/>
                  </a:cubicBezTo>
                  <a:lnTo>
                    <a:pt x="159639" y="2823464"/>
                  </a:lnTo>
                  <a:cubicBezTo>
                    <a:pt x="71501" y="2823337"/>
                    <a:pt x="0" y="2751963"/>
                    <a:pt x="0" y="2663825"/>
                  </a:cubicBezTo>
                  <a:close/>
                </a:path>
              </a:pathLst>
            </a:custGeom>
            <a:solidFill>
              <a:srgbClr val="DADBF1"/>
            </a:solidFill>
            <a:ln w="9532" cap="sq">
              <a:solidFill>
                <a:srgbClr val="C0C1D7"/>
              </a:solidFill>
              <a:prstDash val="solid"/>
              <a:miter/>
            </a:ln>
          </p:spPr>
        </p:sp>
      </p:grpSp>
      <p:sp>
        <p:nvSpPr>
          <p:cNvPr name="TextBox 27" id="27"/>
          <p:cNvSpPr txBox="true"/>
          <p:nvPr/>
        </p:nvSpPr>
        <p:spPr>
          <a:xfrm rot="0">
            <a:off x="1286256" y="7259574"/>
            <a:ext cx="7429462" cy="4623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65"/>
              </a:lnSpc>
            </a:pPr>
            <a:r>
              <a:rPr lang="en-US" b="true" sz="2777" spc="-84">
                <a:solidFill>
                  <a:srgbClr val="272525"/>
                </a:solidFill>
                <a:latin typeface="Inter Bold"/>
                <a:ea typeface="Inter Bold"/>
                <a:cs typeface="Inter Bold"/>
                <a:sym typeface="Inter Bold"/>
              </a:rPr>
              <a:t>Production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286256" y="7815920"/>
            <a:ext cx="7429462" cy="5301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74"/>
              </a:lnSpc>
            </a:pPr>
            <a:r>
              <a:rPr lang="en-US" sz="2176" spc="-45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APIs, Docker, cloud, CI/CD, MLOps, monitoring, Git</a:t>
            </a:r>
          </a:p>
        </p:txBody>
      </p:sp>
      <p:grpSp>
        <p:nvGrpSpPr>
          <p:cNvPr name="Group 29" id="29"/>
          <p:cNvGrpSpPr/>
          <p:nvPr/>
        </p:nvGrpSpPr>
        <p:grpSpPr>
          <a:xfrm rot="0">
            <a:off x="9287942" y="6980577"/>
            <a:ext cx="8025670" cy="2117541"/>
            <a:chOff x="0" y="0"/>
            <a:chExt cx="10700893" cy="2823388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10700893" cy="2823464"/>
            </a:xfrm>
            <a:custGeom>
              <a:avLst/>
              <a:gdLst/>
              <a:ahLst/>
              <a:cxnLst/>
              <a:rect r="r" b="b" t="t" l="l"/>
              <a:pathLst>
                <a:path h="2823464" w="10700893">
                  <a:moveTo>
                    <a:pt x="0" y="159639"/>
                  </a:moveTo>
                  <a:cubicBezTo>
                    <a:pt x="0" y="71501"/>
                    <a:pt x="71501" y="0"/>
                    <a:pt x="159639" y="0"/>
                  </a:cubicBezTo>
                  <a:lnTo>
                    <a:pt x="10541254" y="0"/>
                  </a:lnTo>
                  <a:cubicBezTo>
                    <a:pt x="10629392" y="0"/>
                    <a:pt x="10700893" y="71501"/>
                    <a:pt x="10700893" y="159639"/>
                  </a:cubicBezTo>
                  <a:lnTo>
                    <a:pt x="10700893" y="2663825"/>
                  </a:lnTo>
                  <a:cubicBezTo>
                    <a:pt x="10700893" y="2751963"/>
                    <a:pt x="10629392" y="2823464"/>
                    <a:pt x="10541254" y="2823464"/>
                  </a:cubicBezTo>
                  <a:lnTo>
                    <a:pt x="159639" y="2823464"/>
                  </a:lnTo>
                  <a:cubicBezTo>
                    <a:pt x="71501" y="2823337"/>
                    <a:pt x="0" y="2751963"/>
                    <a:pt x="0" y="2663825"/>
                  </a:cubicBezTo>
                  <a:close/>
                </a:path>
              </a:pathLst>
            </a:custGeom>
            <a:solidFill>
              <a:srgbClr val="DADBF1"/>
            </a:solidFill>
            <a:ln w="9532" cap="sq">
              <a:solidFill>
                <a:srgbClr val="C0C1D7"/>
              </a:solidFill>
              <a:prstDash val="solid"/>
              <a:miter/>
            </a:ln>
          </p:spPr>
        </p:sp>
      </p:grpSp>
      <p:sp>
        <p:nvSpPr>
          <p:cNvPr name="TextBox 31" id="31"/>
          <p:cNvSpPr txBox="true"/>
          <p:nvPr/>
        </p:nvSpPr>
        <p:spPr>
          <a:xfrm rot="0">
            <a:off x="9585979" y="7259574"/>
            <a:ext cx="7429614" cy="4623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65"/>
              </a:lnSpc>
            </a:pPr>
            <a:r>
              <a:rPr lang="en-US" b="true" sz="2777" spc="-84">
                <a:solidFill>
                  <a:srgbClr val="272525"/>
                </a:solidFill>
                <a:latin typeface="Inter Bold"/>
                <a:ea typeface="Inter Bold"/>
                <a:cs typeface="Inter Bold"/>
                <a:sym typeface="Inter Bold"/>
              </a:rPr>
              <a:t>Industrial Training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9585979" y="7815920"/>
            <a:ext cx="7429614" cy="9841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74"/>
              </a:lnSpc>
            </a:pPr>
            <a:r>
              <a:rPr lang="en-US" sz="2176" spc="-45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End-to-end capstone, documentation, testing, presentation</a:t>
            </a:r>
          </a:p>
        </p:txBody>
      </p:sp>
      <p:grpSp>
        <p:nvGrpSpPr>
          <p:cNvPr name="Group 33" id="33"/>
          <p:cNvGrpSpPr/>
          <p:nvPr/>
        </p:nvGrpSpPr>
        <p:grpSpPr>
          <a:xfrm rot="0">
            <a:off x="3325248" y="3538527"/>
            <a:ext cx="11896794" cy="3217985"/>
            <a:chOff x="0" y="0"/>
            <a:chExt cx="1549400" cy="419100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1549400" cy="419100"/>
            </a:xfrm>
            <a:custGeom>
              <a:avLst/>
              <a:gdLst/>
              <a:ahLst/>
              <a:cxnLst/>
              <a:rect r="r" b="b" t="t" l="l"/>
              <a:pathLst>
                <a:path h="419100" w="1549400">
                  <a:moveTo>
                    <a:pt x="0" y="0"/>
                  </a:moveTo>
                  <a:lnTo>
                    <a:pt x="1549400" y="0"/>
                  </a:lnTo>
                  <a:lnTo>
                    <a:pt x="1549400" y="419100"/>
                  </a:lnTo>
                  <a:lnTo>
                    <a:pt x="0" y="4191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alphaModFix amt="6000"/>
              </a:blip>
              <a:stretch>
                <a:fillRect l="0" t="0" r="-8196" b="-66666"/>
              </a:stretch>
            </a:blipFill>
          </p:spPr>
        </p:sp>
      </p:grp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301840" cy="10295039"/>
            <a:chOff x="0" y="0"/>
            <a:chExt cx="24402453" cy="1372671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0241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F6F4F4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301840" cy="10295039"/>
            <a:chOff x="0" y="0"/>
            <a:chExt cx="24402453" cy="1372671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40241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16628307" y="9846183"/>
            <a:ext cx="1609020" cy="384353"/>
            <a:chOff x="0" y="0"/>
            <a:chExt cx="2145360" cy="512470"/>
          </a:xfrm>
        </p:grpSpPr>
        <p:sp>
          <p:nvSpPr>
            <p:cNvPr name="Freeform 7" id="7" descr="preencoded.png">
              <a:hlinkClick r:id="rId3" tooltip="https://gamma.app/?utm_source=made-with-gamma"/>
            </p:cNvPr>
            <p:cNvSpPr/>
            <p:nvPr/>
          </p:nvSpPr>
          <p:spPr>
            <a:xfrm flipH="false" flipV="false" rot="0">
              <a:off x="0" y="0"/>
              <a:ext cx="2145411" cy="512445"/>
            </a:xfrm>
            <a:custGeom>
              <a:avLst/>
              <a:gdLst/>
              <a:ahLst/>
              <a:cxnLst/>
              <a:rect r="r" b="b" t="t" l="l"/>
              <a:pathLst>
                <a:path h="512445" w="2145411">
                  <a:moveTo>
                    <a:pt x="0" y="0"/>
                  </a:moveTo>
                  <a:lnTo>
                    <a:pt x="2145411" y="0"/>
                  </a:lnTo>
                  <a:lnTo>
                    <a:pt x="2145411" y="512445"/>
                  </a:lnTo>
                  <a:lnTo>
                    <a:pt x="0" y="51244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2" b="-4"/>
              </a:stretch>
            </a:blipFill>
          </p:spPr>
        </p:sp>
      </p:grpSp>
      <p:sp>
        <p:nvSpPr>
          <p:cNvPr name="TextBox 8" id="8"/>
          <p:cNvSpPr txBox="true"/>
          <p:nvPr/>
        </p:nvSpPr>
        <p:spPr>
          <a:xfrm rot="0">
            <a:off x="992991" y="791356"/>
            <a:ext cx="13693229" cy="7789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276"/>
              </a:lnSpc>
            </a:pPr>
            <a:r>
              <a:rPr lang="en-US" b="true" sz="5028" spc="-151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MODULE 2: AI &amp; Machine Learning Foundations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992991" y="3072574"/>
            <a:ext cx="5302739" cy="5302872"/>
            <a:chOff x="0" y="0"/>
            <a:chExt cx="7070319" cy="7070496"/>
          </a:xfrm>
        </p:grpSpPr>
        <p:sp>
          <p:nvSpPr>
            <p:cNvPr name="Freeform 10" id="10" descr="preencoded.png"/>
            <p:cNvSpPr/>
            <p:nvPr/>
          </p:nvSpPr>
          <p:spPr>
            <a:xfrm flipH="false" flipV="false" rot="0">
              <a:off x="0" y="0"/>
              <a:ext cx="7070344" cy="7070471"/>
            </a:xfrm>
            <a:custGeom>
              <a:avLst/>
              <a:gdLst/>
              <a:ahLst/>
              <a:cxnLst/>
              <a:rect r="r" b="b" t="t" l="l"/>
              <a:pathLst>
                <a:path h="7070471" w="7070344">
                  <a:moveTo>
                    <a:pt x="0" y="0"/>
                  </a:moveTo>
                  <a:lnTo>
                    <a:pt x="7070344" y="0"/>
                  </a:lnTo>
                  <a:lnTo>
                    <a:pt x="7070344" y="7070471"/>
                  </a:lnTo>
                  <a:lnTo>
                    <a:pt x="0" y="707047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1" t="0" r="0" b="0"/>
              </a:stretch>
            </a:blipFill>
          </p:spPr>
        </p:sp>
      </p:grpSp>
      <p:sp>
        <p:nvSpPr>
          <p:cNvPr name="Freeform 11" id="11" descr="preencoded.png"/>
          <p:cNvSpPr/>
          <p:nvPr/>
        </p:nvSpPr>
        <p:spPr>
          <a:xfrm flipH="false" flipV="false" rot="0">
            <a:off x="6932600" y="2225526"/>
            <a:ext cx="3306489" cy="2793749"/>
          </a:xfrm>
          <a:custGeom>
            <a:avLst/>
            <a:gdLst/>
            <a:ahLst/>
            <a:cxnLst/>
            <a:rect r="r" b="b" t="t" l="l"/>
            <a:pathLst>
              <a:path h="2793749" w="3306489">
                <a:moveTo>
                  <a:pt x="0" y="0"/>
                </a:moveTo>
                <a:lnTo>
                  <a:pt x="3306489" y="0"/>
                </a:lnTo>
                <a:lnTo>
                  <a:pt x="3306489" y="2793749"/>
                </a:lnTo>
                <a:lnTo>
                  <a:pt x="0" y="279374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-163" r="0" b="-163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7332650" y="2492150"/>
            <a:ext cx="2620766" cy="4207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91"/>
              </a:lnSpc>
            </a:pPr>
            <a:r>
              <a:rPr lang="en-US" b="true" sz="2476" spc="-76">
                <a:solidFill>
                  <a:srgbClr val="272525"/>
                </a:solidFill>
                <a:latin typeface="Inter Bold"/>
                <a:ea typeface="Inter Bold"/>
                <a:cs typeface="Inter Bold"/>
                <a:sym typeface="Inter Bold"/>
              </a:rPr>
              <a:t>Python for AI/ML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7332650" y="3079185"/>
            <a:ext cx="2620766" cy="16353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74"/>
              </a:lnSpc>
            </a:pPr>
            <a:r>
              <a:rPr lang="en-US" sz="1951" spc="-4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Syntax, OOP basics, virtual environments, Jupyter, clean coding practices</a:t>
            </a:r>
          </a:p>
        </p:txBody>
      </p:sp>
      <p:sp>
        <p:nvSpPr>
          <p:cNvPr name="Freeform 14" id="14" descr="preencoded.png"/>
          <p:cNvSpPr/>
          <p:nvPr/>
        </p:nvSpPr>
        <p:spPr>
          <a:xfrm flipH="false" flipV="false" rot="0">
            <a:off x="10472023" y="2225526"/>
            <a:ext cx="3306632" cy="2793749"/>
          </a:xfrm>
          <a:custGeom>
            <a:avLst/>
            <a:gdLst/>
            <a:ahLst/>
            <a:cxnLst/>
            <a:rect r="r" b="b" t="t" l="l"/>
            <a:pathLst>
              <a:path h="2793749" w="3306632">
                <a:moveTo>
                  <a:pt x="0" y="0"/>
                </a:moveTo>
                <a:lnTo>
                  <a:pt x="3306632" y="0"/>
                </a:lnTo>
                <a:lnTo>
                  <a:pt x="3306632" y="2793749"/>
                </a:lnTo>
                <a:lnTo>
                  <a:pt x="0" y="279374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-166" r="0" b="-166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10872083" y="2492150"/>
            <a:ext cx="2620909" cy="4207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91"/>
              </a:lnSpc>
            </a:pPr>
            <a:r>
              <a:rPr lang="en-US" b="true" sz="2476" spc="-76">
                <a:solidFill>
                  <a:srgbClr val="272525"/>
                </a:solidFill>
                <a:latin typeface="Inter Bold"/>
                <a:ea typeface="Inter Bold"/>
                <a:cs typeface="Inter Bold"/>
                <a:sym typeface="Inter Bold"/>
              </a:rPr>
              <a:t>Data Handling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0872083" y="3079185"/>
            <a:ext cx="2620909" cy="16353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74"/>
              </a:lnSpc>
            </a:pPr>
            <a:r>
              <a:rPr lang="en-US" sz="1951" spc="-4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NumPy, Pandas, indexing, joins, aggregation, missing values, pipelines</a:t>
            </a:r>
          </a:p>
        </p:txBody>
      </p:sp>
      <p:sp>
        <p:nvSpPr>
          <p:cNvPr name="Freeform 17" id="17" descr="preencoded.png"/>
          <p:cNvSpPr/>
          <p:nvPr/>
        </p:nvSpPr>
        <p:spPr>
          <a:xfrm flipH="false" flipV="false" rot="0">
            <a:off x="14011599" y="2225526"/>
            <a:ext cx="3306632" cy="2793749"/>
          </a:xfrm>
          <a:custGeom>
            <a:avLst/>
            <a:gdLst/>
            <a:ahLst/>
            <a:cxnLst/>
            <a:rect r="r" b="b" t="t" l="l"/>
            <a:pathLst>
              <a:path h="2793749" w="3306632">
                <a:moveTo>
                  <a:pt x="0" y="0"/>
                </a:moveTo>
                <a:lnTo>
                  <a:pt x="3306632" y="0"/>
                </a:lnTo>
                <a:lnTo>
                  <a:pt x="3306632" y="2793749"/>
                </a:lnTo>
                <a:lnTo>
                  <a:pt x="0" y="279374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-166" r="0" b="-166"/>
            </a:stretch>
          </a:blipFill>
        </p:spPr>
      </p:sp>
      <p:sp>
        <p:nvSpPr>
          <p:cNvPr name="TextBox 18" id="18"/>
          <p:cNvSpPr txBox="true"/>
          <p:nvPr/>
        </p:nvSpPr>
        <p:spPr>
          <a:xfrm rot="0">
            <a:off x="14411658" y="2492150"/>
            <a:ext cx="2620909" cy="12241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91"/>
              </a:lnSpc>
            </a:pPr>
            <a:r>
              <a:rPr lang="en-US" b="true" sz="2476" spc="-76">
                <a:solidFill>
                  <a:srgbClr val="272525"/>
                </a:solidFill>
                <a:latin typeface="Inter Bold"/>
                <a:ea typeface="Inter Bold"/>
                <a:cs typeface="Inter Bold"/>
                <a:sym typeface="Inter Bold"/>
              </a:rPr>
              <a:t>Data Visualization &amp; EDA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4411658" y="3882590"/>
            <a:ext cx="2620909" cy="8510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74"/>
              </a:lnSpc>
            </a:pPr>
            <a:r>
              <a:rPr lang="en-US" sz="1951" spc="-4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Matplotlib, Seaborn, business-driven EDA</a:t>
            </a:r>
          </a:p>
        </p:txBody>
      </p:sp>
      <p:sp>
        <p:nvSpPr>
          <p:cNvPr name="Freeform 20" id="20" descr="preencoded.png"/>
          <p:cNvSpPr/>
          <p:nvPr/>
        </p:nvSpPr>
        <p:spPr>
          <a:xfrm flipH="false" flipV="false" rot="0">
            <a:off x="6932600" y="5252228"/>
            <a:ext cx="3306489" cy="3970268"/>
          </a:xfrm>
          <a:custGeom>
            <a:avLst/>
            <a:gdLst/>
            <a:ahLst/>
            <a:cxnLst/>
            <a:rect r="r" b="b" t="t" l="l"/>
            <a:pathLst>
              <a:path h="3970268" w="3306489">
                <a:moveTo>
                  <a:pt x="0" y="0"/>
                </a:moveTo>
                <a:lnTo>
                  <a:pt x="3306489" y="0"/>
                </a:lnTo>
                <a:lnTo>
                  <a:pt x="3306489" y="3970268"/>
                </a:lnTo>
                <a:lnTo>
                  <a:pt x="0" y="3970268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-16" r="0" b="-16"/>
            </a:stretch>
          </a:blipFill>
        </p:spPr>
      </p:sp>
      <p:sp>
        <p:nvSpPr>
          <p:cNvPr name="TextBox 21" id="21"/>
          <p:cNvSpPr txBox="true"/>
          <p:nvPr/>
        </p:nvSpPr>
        <p:spPr>
          <a:xfrm rot="0">
            <a:off x="7332650" y="5518852"/>
            <a:ext cx="2620766" cy="4207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91"/>
              </a:lnSpc>
            </a:pPr>
            <a:r>
              <a:rPr lang="en-US" b="true" sz="2476" spc="-76">
                <a:solidFill>
                  <a:srgbClr val="272525"/>
                </a:solidFill>
                <a:latin typeface="Inter Bold"/>
                <a:ea typeface="Inter Bold"/>
                <a:cs typeface="Inter Bold"/>
                <a:sym typeface="Inter Bold"/>
              </a:rPr>
              <a:t>Stat for ML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7332650" y="6105877"/>
            <a:ext cx="2620766" cy="24197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74"/>
              </a:lnSpc>
            </a:pPr>
            <a:r>
              <a:rPr lang="en-US" sz="1951" spc="-4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Linear algebra, probability, distributions, correlation,statistics, derivatives, gradients, optimization</a:t>
            </a:r>
          </a:p>
        </p:txBody>
      </p:sp>
      <p:sp>
        <p:nvSpPr>
          <p:cNvPr name="Freeform 23" id="23" descr="preencoded.png"/>
          <p:cNvSpPr/>
          <p:nvPr/>
        </p:nvSpPr>
        <p:spPr>
          <a:xfrm flipH="false" flipV="false" rot="0">
            <a:off x="10472023" y="5252228"/>
            <a:ext cx="3306632" cy="3970268"/>
          </a:xfrm>
          <a:custGeom>
            <a:avLst/>
            <a:gdLst/>
            <a:ahLst/>
            <a:cxnLst/>
            <a:rect r="r" b="b" t="t" l="l"/>
            <a:pathLst>
              <a:path h="3970268" w="3306632">
                <a:moveTo>
                  <a:pt x="0" y="0"/>
                </a:moveTo>
                <a:lnTo>
                  <a:pt x="3306632" y="0"/>
                </a:lnTo>
                <a:lnTo>
                  <a:pt x="3306632" y="3970268"/>
                </a:lnTo>
                <a:lnTo>
                  <a:pt x="0" y="3970268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-18" r="0" b="-18"/>
            </a:stretch>
          </a:blipFill>
        </p:spPr>
      </p:sp>
      <p:sp>
        <p:nvSpPr>
          <p:cNvPr name="TextBox 24" id="24"/>
          <p:cNvSpPr txBox="true"/>
          <p:nvPr/>
        </p:nvSpPr>
        <p:spPr>
          <a:xfrm rot="0">
            <a:off x="10872083" y="5518852"/>
            <a:ext cx="2620909" cy="12241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91"/>
              </a:lnSpc>
            </a:pPr>
            <a:r>
              <a:rPr lang="en-US" b="true" sz="2476" spc="-76">
                <a:solidFill>
                  <a:srgbClr val="272525"/>
                </a:solidFill>
                <a:latin typeface="Inter Bold"/>
                <a:ea typeface="Inter Bold"/>
                <a:cs typeface="Inter Bold"/>
                <a:sym typeface="Inter Bold"/>
              </a:rPr>
              <a:t>Supervised &amp; Unsupervised Learning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0872083" y="6909292"/>
            <a:ext cx="2620909" cy="20275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74"/>
              </a:lnSpc>
            </a:pPr>
            <a:r>
              <a:rPr lang="en-US" sz="1951" spc="-4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Classification, Regression, KNN, trees, random forests, boosting, K-Means, PCA</a:t>
            </a:r>
          </a:p>
        </p:txBody>
      </p:sp>
      <p:sp>
        <p:nvSpPr>
          <p:cNvPr name="Freeform 26" id="26" descr="preencoded.png"/>
          <p:cNvSpPr/>
          <p:nvPr/>
        </p:nvSpPr>
        <p:spPr>
          <a:xfrm flipH="false" flipV="false" rot="0">
            <a:off x="14011599" y="5252228"/>
            <a:ext cx="3306632" cy="3970268"/>
          </a:xfrm>
          <a:custGeom>
            <a:avLst/>
            <a:gdLst/>
            <a:ahLst/>
            <a:cxnLst/>
            <a:rect r="r" b="b" t="t" l="l"/>
            <a:pathLst>
              <a:path h="3970268" w="3306632">
                <a:moveTo>
                  <a:pt x="0" y="0"/>
                </a:moveTo>
                <a:lnTo>
                  <a:pt x="3306632" y="0"/>
                </a:lnTo>
                <a:lnTo>
                  <a:pt x="3306632" y="3970268"/>
                </a:lnTo>
                <a:lnTo>
                  <a:pt x="0" y="3970268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-18" r="0" b="-18"/>
            </a:stretch>
          </a:blipFill>
        </p:spPr>
      </p:sp>
      <p:sp>
        <p:nvSpPr>
          <p:cNvPr name="TextBox 27" id="27"/>
          <p:cNvSpPr txBox="true"/>
          <p:nvPr/>
        </p:nvSpPr>
        <p:spPr>
          <a:xfrm rot="0">
            <a:off x="14411658" y="5518852"/>
            <a:ext cx="2620909" cy="12241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91"/>
              </a:lnSpc>
            </a:pPr>
            <a:r>
              <a:rPr lang="en-US" b="true" sz="2476" spc="-76">
                <a:solidFill>
                  <a:srgbClr val="272525"/>
                </a:solidFill>
                <a:latin typeface="Inter Bold"/>
                <a:ea typeface="Inter Bold"/>
                <a:cs typeface="Inter Bold"/>
                <a:sym typeface="Inter Bold"/>
              </a:rPr>
              <a:t>Model Evaluation &amp; Feature Engineering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4411658" y="6909292"/>
            <a:ext cx="2620909" cy="20275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74"/>
              </a:lnSpc>
            </a:pPr>
            <a:r>
              <a:rPr lang="en-US" sz="1951" spc="-4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Accuracy, Precision, recall, F1, ROC-AUC, cross-validation, Grid Search, Random search</a:t>
            </a:r>
          </a:p>
        </p:txBody>
      </p:sp>
      <p:grpSp>
        <p:nvGrpSpPr>
          <p:cNvPr name="Group 29" id="29"/>
          <p:cNvGrpSpPr/>
          <p:nvPr/>
        </p:nvGrpSpPr>
        <p:grpSpPr>
          <a:xfrm rot="0">
            <a:off x="3325248" y="3538527"/>
            <a:ext cx="11896794" cy="3217985"/>
            <a:chOff x="0" y="0"/>
            <a:chExt cx="1549400" cy="41910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1549400" cy="419100"/>
            </a:xfrm>
            <a:custGeom>
              <a:avLst/>
              <a:gdLst/>
              <a:ahLst/>
              <a:cxnLst/>
              <a:rect r="r" b="b" t="t" l="l"/>
              <a:pathLst>
                <a:path h="419100" w="1549400">
                  <a:moveTo>
                    <a:pt x="0" y="0"/>
                  </a:moveTo>
                  <a:lnTo>
                    <a:pt x="1549400" y="0"/>
                  </a:lnTo>
                  <a:lnTo>
                    <a:pt x="1549400" y="419100"/>
                  </a:lnTo>
                  <a:lnTo>
                    <a:pt x="0" y="4191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>
                <a:alphaModFix amt="6000"/>
              </a:blip>
              <a:stretch>
                <a:fillRect l="0" t="0" r="-8196" b="-66666"/>
              </a:stretch>
            </a:blipFill>
          </p:spPr>
        </p:sp>
      </p:grp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301840" cy="10295039"/>
            <a:chOff x="0" y="0"/>
            <a:chExt cx="24402453" cy="1372671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0241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F6F4F4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301840" cy="10295039"/>
            <a:chOff x="0" y="0"/>
            <a:chExt cx="24402453" cy="1372671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40241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16628307" y="9846183"/>
            <a:ext cx="1609020" cy="384353"/>
            <a:chOff x="0" y="0"/>
            <a:chExt cx="2145360" cy="512470"/>
          </a:xfrm>
        </p:grpSpPr>
        <p:sp>
          <p:nvSpPr>
            <p:cNvPr name="Freeform 7" id="7" descr="preencoded.png">
              <a:hlinkClick r:id="rId3" tooltip="https://gamma.app/?utm_source=made-with-gamma"/>
            </p:cNvPr>
            <p:cNvSpPr/>
            <p:nvPr/>
          </p:nvSpPr>
          <p:spPr>
            <a:xfrm flipH="false" flipV="false" rot="0">
              <a:off x="0" y="0"/>
              <a:ext cx="2145411" cy="512445"/>
            </a:xfrm>
            <a:custGeom>
              <a:avLst/>
              <a:gdLst/>
              <a:ahLst/>
              <a:cxnLst/>
              <a:rect r="r" b="b" t="t" l="l"/>
              <a:pathLst>
                <a:path h="512445" w="2145411">
                  <a:moveTo>
                    <a:pt x="0" y="0"/>
                  </a:moveTo>
                  <a:lnTo>
                    <a:pt x="2145411" y="0"/>
                  </a:lnTo>
                  <a:lnTo>
                    <a:pt x="2145411" y="512445"/>
                  </a:lnTo>
                  <a:lnTo>
                    <a:pt x="0" y="51244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2" b="-4"/>
              </a:stretch>
            </a:blipFill>
          </p:spPr>
        </p:sp>
      </p:grpSp>
      <p:sp>
        <p:nvSpPr>
          <p:cNvPr name="TextBox 8" id="8"/>
          <p:cNvSpPr txBox="true"/>
          <p:nvPr/>
        </p:nvSpPr>
        <p:spPr>
          <a:xfrm rot="0">
            <a:off x="992991" y="1013736"/>
            <a:ext cx="16315868" cy="17473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931"/>
              </a:lnSpc>
            </a:pPr>
            <a:r>
              <a:rPr lang="en-US" b="true" sz="5554" spc="-168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MODULE 3: Advanced ML, Deep Learning &amp; Generative AI</a:t>
            </a:r>
          </a:p>
        </p:txBody>
      </p:sp>
      <p:sp>
        <p:nvSpPr>
          <p:cNvPr name="Freeform 9" id="9" descr="preencoded.png"/>
          <p:cNvSpPr/>
          <p:nvPr/>
        </p:nvSpPr>
        <p:spPr>
          <a:xfrm flipH="false" flipV="false" rot="0">
            <a:off x="992991" y="3383128"/>
            <a:ext cx="709260" cy="709270"/>
          </a:xfrm>
          <a:custGeom>
            <a:avLst/>
            <a:gdLst/>
            <a:ahLst/>
            <a:cxnLst/>
            <a:rect r="r" b="b" t="t" l="l"/>
            <a:pathLst>
              <a:path h="709270" w="709260">
                <a:moveTo>
                  <a:pt x="0" y="0"/>
                </a:moveTo>
                <a:lnTo>
                  <a:pt x="709260" y="0"/>
                </a:lnTo>
                <a:lnTo>
                  <a:pt x="709260" y="709269"/>
                </a:lnTo>
                <a:lnTo>
                  <a:pt x="0" y="709269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-3331" r="0" b="-3333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2056876" y="3364078"/>
            <a:ext cx="4138317" cy="9055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65"/>
              </a:lnSpc>
            </a:pPr>
            <a:r>
              <a:rPr lang="en-US" b="true" sz="2777" spc="-84">
                <a:solidFill>
                  <a:srgbClr val="272525"/>
                </a:solidFill>
                <a:latin typeface="Inter Bold"/>
                <a:ea typeface="Inter Bold"/>
                <a:cs typeface="Inter Bold"/>
                <a:sym typeface="Inter Bold"/>
              </a:rPr>
              <a:t>Advanced ML &amp; Statistical Thinking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2056876" y="4363688"/>
            <a:ext cx="4138317" cy="18921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74"/>
              </a:lnSpc>
            </a:pPr>
            <a:r>
              <a:rPr lang="en-US" sz="2176" spc="-45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XGBoost/LightGBM, imbalanced learning, hypothesis testing, A/B testing, model interpretability</a:t>
            </a:r>
          </a:p>
        </p:txBody>
      </p:sp>
      <p:sp>
        <p:nvSpPr>
          <p:cNvPr name="Freeform 12" id="12" descr="preencoded.png"/>
          <p:cNvSpPr/>
          <p:nvPr/>
        </p:nvSpPr>
        <p:spPr>
          <a:xfrm flipH="false" flipV="false" rot="0">
            <a:off x="6549819" y="3383128"/>
            <a:ext cx="709260" cy="709270"/>
          </a:xfrm>
          <a:custGeom>
            <a:avLst/>
            <a:gdLst/>
            <a:ahLst/>
            <a:cxnLst/>
            <a:rect r="r" b="b" t="t" l="l"/>
            <a:pathLst>
              <a:path h="709270" w="709260">
                <a:moveTo>
                  <a:pt x="0" y="0"/>
                </a:moveTo>
                <a:lnTo>
                  <a:pt x="709260" y="0"/>
                </a:lnTo>
                <a:lnTo>
                  <a:pt x="709260" y="709269"/>
                </a:lnTo>
                <a:lnTo>
                  <a:pt x="0" y="709269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-47997" r="0" b="-47999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7613704" y="3364078"/>
            <a:ext cx="4138317" cy="9055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65"/>
              </a:lnSpc>
            </a:pPr>
            <a:r>
              <a:rPr lang="en-US" b="true" sz="2777" spc="-84">
                <a:solidFill>
                  <a:srgbClr val="272525"/>
                </a:solidFill>
                <a:latin typeface="Inter Bold"/>
                <a:ea typeface="Inter Bold"/>
                <a:cs typeface="Inter Bold"/>
                <a:sym typeface="Inter Bold"/>
              </a:rPr>
              <a:t>Deep Learning Foundations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7613704" y="4363688"/>
            <a:ext cx="4138317" cy="18921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74"/>
              </a:lnSpc>
            </a:pPr>
            <a:r>
              <a:rPr lang="en-US" sz="2176" spc="-45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Neurons, backpropagation, optimizers, PyTorch/TensorFlow, training loops, GPU usage</a:t>
            </a:r>
          </a:p>
        </p:txBody>
      </p:sp>
      <p:sp>
        <p:nvSpPr>
          <p:cNvPr name="Freeform 15" id="15" descr="preencoded.png"/>
          <p:cNvSpPr/>
          <p:nvPr/>
        </p:nvSpPr>
        <p:spPr>
          <a:xfrm flipH="false" flipV="false" rot="0">
            <a:off x="12106646" y="3383128"/>
            <a:ext cx="709260" cy="709270"/>
          </a:xfrm>
          <a:custGeom>
            <a:avLst/>
            <a:gdLst/>
            <a:ahLst/>
            <a:cxnLst/>
            <a:rect r="r" b="b" t="t" l="l"/>
            <a:pathLst>
              <a:path h="709270" w="709260">
                <a:moveTo>
                  <a:pt x="0" y="0"/>
                </a:moveTo>
                <a:lnTo>
                  <a:pt x="709261" y="0"/>
                </a:lnTo>
                <a:lnTo>
                  <a:pt x="709261" y="709269"/>
                </a:lnTo>
                <a:lnTo>
                  <a:pt x="0" y="709269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-11334" t="0" r="-11334" b="0"/>
            </a:stretch>
          </a:blipFill>
        </p:spPr>
      </p:sp>
      <p:sp>
        <p:nvSpPr>
          <p:cNvPr name="TextBox 16" id="16"/>
          <p:cNvSpPr txBox="true"/>
          <p:nvPr/>
        </p:nvSpPr>
        <p:spPr>
          <a:xfrm rot="0">
            <a:off x="13170532" y="3364078"/>
            <a:ext cx="4138317" cy="4623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65"/>
              </a:lnSpc>
            </a:pPr>
            <a:r>
              <a:rPr lang="en-US" b="true" sz="2777" spc="-84">
                <a:solidFill>
                  <a:srgbClr val="272525"/>
                </a:solidFill>
                <a:latin typeface="Inter Bold"/>
                <a:ea typeface="Inter Bold"/>
                <a:cs typeface="Inter Bold"/>
                <a:sym typeface="Inter Bold"/>
              </a:rPr>
              <a:t>Computer Vision &amp; NLP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3170532" y="3920423"/>
            <a:ext cx="4138317" cy="18921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74"/>
              </a:lnSpc>
            </a:pPr>
            <a:r>
              <a:rPr lang="en-US" sz="2176" spc="-45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CNNs, transfer learning, text preprocessing, tokenization, embeddings, transformer architecture, BERT, GPT</a:t>
            </a:r>
          </a:p>
        </p:txBody>
      </p:sp>
      <p:sp>
        <p:nvSpPr>
          <p:cNvPr name="Freeform 18" id="18" descr="preencoded.png"/>
          <p:cNvSpPr/>
          <p:nvPr/>
        </p:nvSpPr>
        <p:spPr>
          <a:xfrm flipH="false" flipV="false" rot="0">
            <a:off x="992991" y="6823300"/>
            <a:ext cx="709260" cy="709270"/>
          </a:xfrm>
          <a:custGeom>
            <a:avLst/>
            <a:gdLst/>
            <a:ahLst/>
            <a:cxnLst/>
            <a:rect r="r" b="b" t="t" l="l"/>
            <a:pathLst>
              <a:path h="709270" w="709260">
                <a:moveTo>
                  <a:pt x="0" y="0"/>
                </a:moveTo>
                <a:lnTo>
                  <a:pt x="709260" y="0"/>
                </a:lnTo>
                <a:lnTo>
                  <a:pt x="709260" y="709270"/>
                </a:lnTo>
                <a:lnTo>
                  <a:pt x="0" y="709270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-22664" r="0" b="-22665"/>
            </a:stretch>
          </a:blipFill>
        </p:spPr>
      </p:sp>
      <p:sp>
        <p:nvSpPr>
          <p:cNvPr name="TextBox 19" id="19"/>
          <p:cNvSpPr txBox="true"/>
          <p:nvPr/>
        </p:nvSpPr>
        <p:spPr>
          <a:xfrm rot="0">
            <a:off x="2056876" y="6804250"/>
            <a:ext cx="4138317" cy="4623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65"/>
              </a:lnSpc>
            </a:pPr>
            <a:r>
              <a:rPr lang="en-US" b="true" sz="2777" spc="-84">
                <a:solidFill>
                  <a:srgbClr val="272525"/>
                </a:solidFill>
                <a:latin typeface="Inter Bold"/>
                <a:ea typeface="Inter Bold"/>
                <a:cs typeface="Inter Bold"/>
                <a:sym typeface="Inter Bold"/>
              </a:rPr>
              <a:t>LLMs, RAG &amp; Agents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2056876" y="7360596"/>
            <a:ext cx="4138317" cy="18921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74"/>
              </a:lnSpc>
            </a:pPr>
            <a:r>
              <a:rPr lang="en-US" sz="2176" spc="-45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Large language models, vector databases, RAG systems, tool calling, multi-step automation,  evaluation</a:t>
            </a:r>
          </a:p>
        </p:txBody>
      </p:sp>
      <p:sp>
        <p:nvSpPr>
          <p:cNvPr name="Freeform 21" id="21" descr="preencoded.png"/>
          <p:cNvSpPr/>
          <p:nvPr/>
        </p:nvSpPr>
        <p:spPr>
          <a:xfrm flipH="false" flipV="false" rot="0">
            <a:off x="6549819" y="6823300"/>
            <a:ext cx="709260" cy="709270"/>
          </a:xfrm>
          <a:custGeom>
            <a:avLst/>
            <a:gdLst/>
            <a:ahLst/>
            <a:cxnLst/>
            <a:rect r="r" b="b" t="t" l="l"/>
            <a:pathLst>
              <a:path h="709270" w="709260">
                <a:moveTo>
                  <a:pt x="0" y="0"/>
                </a:moveTo>
                <a:lnTo>
                  <a:pt x="709260" y="0"/>
                </a:lnTo>
                <a:lnTo>
                  <a:pt x="709260" y="709270"/>
                </a:lnTo>
                <a:lnTo>
                  <a:pt x="0" y="709270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-6001" t="0" r="-6000" b="0"/>
            </a:stretch>
          </a:blipFill>
        </p:spPr>
      </p:sp>
      <p:sp>
        <p:nvSpPr>
          <p:cNvPr name="TextBox 22" id="22"/>
          <p:cNvSpPr txBox="true"/>
          <p:nvPr/>
        </p:nvSpPr>
        <p:spPr>
          <a:xfrm rot="0">
            <a:off x="7613704" y="6804250"/>
            <a:ext cx="4138317" cy="4623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65"/>
              </a:lnSpc>
            </a:pPr>
            <a:r>
              <a:rPr lang="en-US" b="true" sz="2777" spc="-84">
                <a:solidFill>
                  <a:srgbClr val="272525"/>
                </a:solidFill>
                <a:latin typeface="Inter Bold"/>
                <a:ea typeface="Inter Bold"/>
                <a:cs typeface="Inter Bold"/>
                <a:sym typeface="Inter Bold"/>
              </a:rPr>
              <a:t>Fine-Tuning Concepts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7613704" y="7360596"/>
            <a:ext cx="4138317" cy="18921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74"/>
              </a:lnSpc>
            </a:pPr>
            <a:r>
              <a:rPr lang="en-US" sz="2176" spc="-45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Prompt tuning vs fine-tuning, supervised fine-tuning, PEFT,LoRA/QLoRA, dataset preparation and evaluation</a:t>
            </a:r>
          </a:p>
        </p:txBody>
      </p:sp>
      <p:grpSp>
        <p:nvGrpSpPr>
          <p:cNvPr name="Group 24" id="24"/>
          <p:cNvGrpSpPr/>
          <p:nvPr/>
        </p:nvGrpSpPr>
        <p:grpSpPr>
          <a:xfrm rot="0">
            <a:off x="3325248" y="3538527"/>
            <a:ext cx="11896794" cy="3217985"/>
            <a:chOff x="0" y="0"/>
            <a:chExt cx="1549400" cy="41910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1549400" cy="419100"/>
            </a:xfrm>
            <a:custGeom>
              <a:avLst/>
              <a:gdLst/>
              <a:ahLst/>
              <a:cxnLst/>
              <a:rect r="r" b="b" t="t" l="l"/>
              <a:pathLst>
                <a:path h="419100" w="1549400">
                  <a:moveTo>
                    <a:pt x="0" y="0"/>
                  </a:moveTo>
                  <a:lnTo>
                    <a:pt x="1549400" y="0"/>
                  </a:lnTo>
                  <a:lnTo>
                    <a:pt x="1549400" y="419100"/>
                  </a:lnTo>
                  <a:lnTo>
                    <a:pt x="0" y="4191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5">
                <a:alphaModFix amt="6000"/>
              </a:blip>
              <a:stretch>
                <a:fillRect l="0" t="0" r="-8196" b="-66666"/>
              </a:stretch>
            </a:blipFill>
          </p:spPr>
        </p:sp>
      </p:grp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301840" cy="10295039"/>
            <a:chOff x="0" y="0"/>
            <a:chExt cx="24402453" cy="1372671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0241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F6F4F4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301840" cy="10295039"/>
            <a:chOff x="0" y="0"/>
            <a:chExt cx="24402453" cy="1372671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40241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16628307" y="9846183"/>
            <a:ext cx="1609020" cy="384353"/>
            <a:chOff x="0" y="0"/>
            <a:chExt cx="2145360" cy="512470"/>
          </a:xfrm>
        </p:grpSpPr>
        <p:sp>
          <p:nvSpPr>
            <p:cNvPr name="Freeform 7" id="7" descr="preencoded.png">
              <a:hlinkClick r:id="rId3" tooltip="https://gamma.app/?utm_source=made-with-gamma"/>
            </p:cNvPr>
            <p:cNvSpPr/>
            <p:nvPr/>
          </p:nvSpPr>
          <p:spPr>
            <a:xfrm flipH="false" flipV="false" rot="0">
              <a:off x="0" y="0"/>
              <a:ext cx="2145411" cy="512445"/>
            </a:xfrm>
            <a:custGeom>
              <a:avLst/>
              <a:gdLst/>
              <a:ahLst/>
              <a:cxnLst/>
              <a:rect r="r" b="b" t="t" l="l"/>
              <a:pathLst>
                <a:path h="512445" w="2145411">
                  <a:moveTo>
                    <a:pt x="0" y="0"/>
                  </a:moveTo>
                  <a:lnTo>
                    <a:pt x="2145411" y="0"/>
                  </a:lnTo>
                  <a:lnTo>
                    <a:pt x="2145411" y="512445"/>
                  </a:lnTo>
                  <a:lnTo>
                    <a:pt x="0" y="51244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2" b="-4"/>
              </a:stretch>
            </a:blipFill>
          </p:spPr>
        </p:sp>
      </p:grpSp>
      <p:sp>
        <p:nvSpPr>
          <p:cNvPr name="TextBox 8" id="8"/>
          <p:cNvSpPr txBox="true"/>
          <p:nvPr/>
        </p:nvSpPr>
        <p:spPr>
          <a:xfrm rot="0">
            <a:off x="992991" y="989152"/>
            <a:ext cx="12184112" cy="6234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964"/>
              </a:lnSpc>
            </a:pPr>
            <a:r>
              <a:rPr lang="en-US" b="true" sz="3978" spc="-120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MODULE 4: Production AI, MLOps &amp; Industrial Project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992991" y="3228965"/>
            <a:ext cx="10431066" cy="4693987"/>
            <a:chOff x="0" y="0"/>
            <a:chExt cx="13908088" cy="6258649"/>
          </a:xfrm>
        </p:grpSpPr>
        <p:sp>
          <p:nvSpPr>
            <p:cNvPr name="Freeform 10" id="10" descr="preencoded.png"/>
            <p:cNvSpPr/>
            <p:nvPr/>
          </p:nvSpPr>
          <p:spPr>
            <a:xfrm flipH="false" flipV="false" rot="0">
              <a:off x="0" y="0"/>
              <a:ext cx="13908151" cy="6258687"/>
            </a:xfrm>
            <a:custGeom>
              <a:avLst/>
              <a:gdLst/>
              <a:ahLst/>
              <a:cxnLst/>
              <a:rect r="r" b="b" t="t" l="l"/>
              <a:pathLst>
                <a:path h="6258687" w="13908151">
                  <a:moveTo>
                    <a:pt x="0" y="0"/>
                  </a:moveTo>
                  <a:lnTo>
                    <a:pt x="13908151" y="0"/>
                  </a:lnTo>
                  <a:lnTo>
                    <a:pt x="13908151" y="6258687"/>
                  </a:lnTo>
                  <a:lnTo>
                    <a:pt x="0" y="625868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-25" r="0" b="-24"/>
              </a:stretch>
            </a:blipFill>
          </p:spPr>
        </p:sp>
      </p:grpSp>
      <p:sp>
        <p:nvSpPr>
          <p:cNvPr name="TextBox 11" id="11"/>
          <p:cNvSpPr txBox="true"/>
          <p:nvPr/>
        </p:nvSpPr>
        <p:spPr>
          <a:xfrm rot="0">
            <a:off x="2564321" y="3446212"/>
            <a:ext cx="1825390" cy="2916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54"/>
              </a:lnSpc>
            </a:pPr>
            <a:r>
              <a:rPr lang="en-US" b="true" sz="1726" spc="-54">
                <a:solidFill>
                  <a:srgbClr val="272525"/>
                </a:solidFill>
                <a:latin typeface="Inter Bold"/>
                <a:ea typeface="Inter Bold"/>
                <a:cs typeface="Inter Bold"/>
                <a:sym typeface="Inter Bold"/>
              </a:rPr>
              <a:t>Build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2564321" y="3837118"/>
            <a:ext cx="1825390" cy="3686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459"/>
              </a:lnSpc>
            </a:pPr>
            <a:r>
              <a:rPr lang="en-US" sz="1351" spc="-34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FastAPI, Docker, databases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4369651" y="6966699"/>
            <a:ext cx="1835420" cy="2916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54"/>
              </a:lnSpc>
            </a:pPr>
            <a:r>
              <a:rPr lang="en-US" b="true" sz="1726" spc="-54">
                <a:solidFill>
                  <a:srgbClr val="272525"/>
                </a:solidFill>
                <a:latin typeface="Inter Bold"/>
                <a:ea typeface="Inter Bold"/>
                <a:cs typeface="Inter Bold"/>
                <a:sym typeface="Inter Bold"/>
              </a:rPr>
              <a:t>Deploy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4369651" y="7357605"/>
            <a:ext cx="1835420" cy="3686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459"/>
              </a:lnSpc>
            </a:pPr>
            <a:r>
              <a:rPr lang="en-US" sz="1351" spc="-34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Cloud, CI/CD, containers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6154922" y="3507962"/>
            <a:ext cx="1825390" cy="2916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54"/>
              </a:lnSpc>
            </a:pPr>
            <a:r>
              <a:rPr lang="en-US" b="true" sz="1726" spc="-54">
                <a:solidFill>
                  <a:srgbClr val="272525"/>
                </a:solidFill>
                <a:latin typeface="Inter Bold"/>
                <a:ea typeface="Inter Bold"/>
                <a:cs typeface="Inter Bold"/>
                <a:sym typeface="Inter Bold"/>
              </a:rPr>
              <a:t>Monitor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6154922" y="3898859"/>
            <a:ext cx="1825390" cy="1748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459"/>
              </a:lnSpc>
            </a:pPr>
            <a:r>
              <a:rPr lang="en-US" sz="1351" spc="-34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Latency, drift, alerts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7960262" y="6966699"/>
            <a:ext cx="1825390" cy="2916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54"/>
              </a:lnSpc>
            </a:pPr>
            <a:r>
              <a:rPr lang="en-US" b="true" sz="1726" spc="-54">
                <a:solidFill>
                  <a:srgbClr val="272525"/>
                </a:solidFill>
                <a:latin typeface="Inter Bold"/>
                <a:ea typeface="Inter Bold"/>
                <a:cs typeface="Inter Bold"/>
                <a:sym typeface="Inter Bold"/>
              </a:rPr>
              <a:t>Secure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7960262" y="7357605"/>
            <a:ext cx="1825390" cy="3686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459"/>
              </a:lnSpc>
            </a:pPr>
            <a:r>
              <a:rPr lang="en-US" sz="1351" spc="-34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Secrets, access control, AI safety</a:t>
            </a:r>
          </a:p>
        </p:txBody>
      </p:sp>
      <p:grpSp>
        <p:nvGrpSpPr>
          <p:cNvPr name="Group 19" id="19"/>
          <p:cNvGrpSpPr/>
          <p:nvPr/>
        </p:nvGrpSpPr>
        <p:grpSpPr>
          <a:xfrm rot="0">
            <a:off x="11926281" y="2025348"/>
            <a:ext cx="5396722" cy="1742646"/>
            <a:chOff x="0" y="0"/>
            <a:chExt cx="7195630" cy="2323528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7195566" cy="2323465"/>
            </a:xfrm>
            <a:custGeom>
              <a:avLst/>
              <a:gdLst/>
              <a:ahLst/>
              <a:cxnLst/>
              <a:rect r="r" b="b" t="t" l="l"/>
              <a:pathLst>
                <a:path h="2323465" w="7195566">
                  <a:moveTo>
                    <a:pt x="0" y="114808"/>
                  </a:moveTo>
                  <a:cubicBezTo>
                    <a:pt x="0" y="51435"/>
                    <a:pt x="51435" y="0"/>
                    <a:pt x="114808" y="0"/>
                  </a:cubicBezTo>
                  <a:lnTo>
                    <a:pt x="7080758" y="0"/>
                  </a:lnTo>
                  <a:cubicBezTo>
                    <a:pt x="7144131" y="0"/>
                    <a:pt x="7195566" y="51435"/>
                    <a:pt x="7195566" y="114808"/>
                  </a:cubicBezTo>
                  <a:lnTo>
                    <a:pt x="7195566" y="2208657"/>
                  </a:lnTo>
                  <a:cubicBezTo>
                    <a:pt x="7195566" y="2272030"/>
                    <a:pt x="7144131" y="2323465"/>
                    <a:pt x="7080758" y="2323465"/>
                  </a:cubicBezTo>
                  <a:lnTo>
                    <a:pt x="114808" y="2323465"/>
                  </a:lnTo>
                  <a:cubicBezTo>
                    <a:pt x="51435" y="2323465"/>
                    <a:pt x="0" y="2272030"/>
                    <a:pt x="0" y="2208657"/>
                  </a:cubicBezTo>
                  <a:close/>
                </a:path>
              </a:pathLst>
            </a:custGeom>
            <a:solidFill>
              <a:srgbClr val="DADBF1"/>
            </a:solidFill>
            <a:ln w="9532" cap="sq">
              <a:solidFill>
                <a:srgbClr val="C0C1D7"/>
              </a:solidFill>
              <a:prstDash val="solid"/>
              <a:miter/>
            </a:ln>
          </p:spPr>
        </p:sp>
      </p:grpSp>
      <p:sp>
        <p:nvSpPr>
          <p:cNvPr name="TextBox 21" id="21"/>
          <p:cNvSpPr txBox="true"/>
          <p:nvPr/>
        </p:nvSpPr>
        <p:spPr>
          <a:xfrm rot="0">
            <a:off x="12144480" y="2224497"/>
            <a:ext cx="4960325" cy="3377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35"/>
              </a:lnSpc>
            </a:pPr>
            <a:r>
              <a:rPr lang="en-US" b="true" sz="1951" spc="-60">
                <a:solidFill>
                  <a:srgbClr val="272525"/>
                </a:solidFill>
                <a:latin typeface="Inter Bold"/>
                <a:ea typeface="Inter Bold"/>
                <a:cs typeface="Inter Bold"/>
                <a:sym typeface="Inter Bold"/>
              </a:rPr>
              <a:t>Production ML Architecture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2144480" y="2680278"/>
            <a:ext cx="4960325" cy="8695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75"/>
              </a:lnSpc>
            </a:pPr>
            <a:r>
              <a:rPr lang="en-US" sz="1576" spc="-31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From notebook to service: data ingestion, preprocessing, model layer, API layer, storage, observability</a:t>
            </a:r>
          </a:p>
        </p:txBody>
      </p:sp>
      <p:grpSp>
        <p:nvGrpSpPr>
          <p:cNvPr name="Group 23" id="23"/>
          <p:cNvGrpSpPr/>
          <p:nvPr/>
        </p:nvGrpSpPr>
        <p:grpSpPr>
          <a:xfrm rot="0">
            <a:off x="11926281" y="3905031"/>
            <a:ext cx="5396722" cy="1462335"/>
            <a:chOff x="0" y="0"/>
            <a:chExt cx="7195630" cy="194978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7195566" cy="1949704"/>
            </a:xfrm>
            <a:custGeom>
              <a:avLst/>
              <a:gdLst/>
              <a:ahLst/>
              <a:cxnLst/>
              <a:rect r="r" b="b" t="t" l="l"/>
              <a:pathLst>
                <a:path h="1949704" w="7195566">
                  <a:moveTo>
                    <a:pt x="0" y="114935"/>
                  </a:moveTo>
                  <a:cubicBezTo>
                    <a:pt x="0" y="51435"/>
                    <a:pt x="51435" y="0"/>
                    <a:pt x="114935" y="0"/>
                  </a:cubicBezTo>
                  <a:lnTo>
                    <a:pt x="7080631" y="0"/>
                  </a:lnTo>
                  <a:cubicBezTo>
                    <a:pt x="7144131" y="0"/>
                    <a:pt x="7195566" y="51435"/>
                    <a:pt x="7195566" y="114935"/>
                  </a:cubicBezTo>
                  <a:lnTo>
                    <a:pt x="7195566" y="1834769"/>
                  </a:lnTo>
                  <a:cubicBezTo>
                    <a:pt x="7195566" y="1898269"/>
                    <a:pt x="7144131" y="1949704"/>
                    <a:pt x="7080631" y="1949704"/>
                  </a:cubicBezTo>
                  <a:lnTo>
                    <a:pt x="114935" y="1949704"/>
                  </a:lnTo>
                  <a:cubicBezTo>
                    <a:pt x="51435" y="1949704"/>
                    <a:pt x="0" y="1898269"/>
                    <a:pt x="0" y="1834769"/>
                  </a:cubicBezTo>
                  <a:close/>
                </a:path>
              </a:pathLst>
            </a:custGeom>
            <a:solidFill>
              <a:srgbClr val="DADBF1"/>
            </a:solidFill>
            <a:ln w="9532" cap="sq">
              <a:solidFill>
                <a:srgbClr val="C0C1D7"/>
              </a:solidFill>
              <a:prstDash val="solid"/>
              <a:miter/>
            </a:ln>
          </p:spPr>
        </p:sp>
      </p:grpSp>
      <p:sp>
        <p:nvSpPr>
          <p:cNvPr name="TextBox 25" id="25"/>
          <p:cNvSpPr txBox="true"/>
          <p:nvPr/>
        </p:nvSpPr>
        <p:spPr>
          <a:xfrm rot="0">
            <a:off x="12144480" y="4104180"/>
            <a:ext cx="4960325" cy="3377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35"/>
              </a:lnSpc>
            </a:pPr>
            <a:r>
              <a:rPr lang="en-US" b="true" sz="1951" spc="-60">
                <a:solidFill>
                  <a:srgbClr val="272525"/>
                </a:solidFill>
                <a:latin typeface="Inter Bold"/>
                <a:ea typeface="Inter Bold"/>
                <a:cs typeface="Inter Bold"/>
                <a:sym typeface="Inter Bold"/>
              </a:rPr>
              <a:t>MLOps &amp; CI/CD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2144480" y="4559960"/>
            <a:ext cx="4960325" cy="5891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75"/>
              </a:lnSpc>
            </a:pPr>
            <a:r>
              <a:rPr lang="en-US" sz="1576" spc="-31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Experiment tracking, model registry, data/model versioning, automated testing, deployment strategies</a:t>
            </a:r>
          </a:p>
        </p:txBody>
      </p:sp>
      <p:grpSp>
        <p:nvGrpSpPr>
          <p:cNvPr name="Group 27" id="27"/>
          <p:cNvGrpSpPr/>
          <p:nvPr/>
        </p:nvGrpSpPr>
        <p:grpSpPr>
          <a:xfrm rot="0">
            <a:off x="11926281" y="5504393"/>
            <a:ext cx="5396722" cy="1742646"/>
            <a:chOff x="0" y="0"/>
            <a:chExt cx="7195630" cy="2323528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7195566" cy="2323465"/>
            </a:xfrm>
            <a:custGeom>
              <a:avLst/>
              <a:gdLst/>
              <a:ahLst/>
              <a:cxnLst/>
              <a:rect r="r" b="b" t="t" l="l"/>
              <a:pathLst>
                <a:path h="2323465" w="7195566">
                  <a:moveTo>
                    <a:pt x="0" y="114808"/>
                  </a:moveTo>
                  <a:cubicBezTo>
                    <a:pt x="0" y="51435"/>
                    <a:pt x="51435" y="0"/>
                    <a:pt x="114808" y="0"/>
                  </a:cubicBezTo>
                  <a:lnTo>
                    <a:pt x="7080758" y="0"/>
                  </a:lnTo>
                  <a:cubicBezTo>
                    <a:pt x="7144131" y="0"/>
                    <a:pt x="7195566" y="51435"/>
                    <a:pt x="7195566" y="114808"/>
                  </a:cubicBezTo>
                  <a:lnTo>
                    <a:pt x="7195566" y="2208657"/>
                  </a:lnTo>
                  <a:cubicBezTo>
                    <a:pt x="7195566" y="2272030"/>
                    <a:pt x="7144131" y="2323465"/>
                    <a:pt x="7080758" y="2323465"/>
                  </a:cubicBezTo>
                  <a:lnTo>
                    <a:pt x="114808" y="2323465"/>
                  </a:lnTo>
                  <a:cubicBezTo>
                    <a:pt x="51435" y="2323465"/>
                    <a:pt x="0" y="2272030"/>
                    <a:pt x="0" y="2208657"/>
                  </a:cubicBezTo>
                  <a:close/>
                </a:path>
              </a:pathLst>
            </a:custGeom>
            <a:solidFill>
              <a:srgbClr val="DADBF1"/>
            </a:solidFill>
            <a:ln w="9532" cap="sq">
              <a:solidFill>
                <a:srgbClr val="C0C1D7"/>
              </a:solidFill>
              <a:prstDash val="solid"/>
              <a:miter/>
            </a:ln>
          </p:spPr>
        </p:sp>
      </p:grpSp>
      <p:sp>
        <p:nvSpPr>
          <p:cNvPr name="TextBox 29" id="29"/>
          <p:cNvSpPr txBox="true"/>
          <p:nvPr/>
        </p:nvSpPr>
        <p:spPr>
          <a:xfrm rot="0">
            <a:off x="12144480" y="5703551"/>
            <a:ext cx="4960325" cy="3377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35"/>
              </a:lnSpc>
            </a:pPr>
            <a:r>
              <a:rPr lang="en-US" b="true" sz="1951" spc="-60">
                <a:solidFill>
                  <a:srgbClr val="272525"/>
                </a:solidFill>
                <a:latin typeface="Inter Bold"/>
                <a:ea typeface="Inter Bold"/>
                <a:cs typeface="Inter Bold"/>
                <a:sym typeface="Inter Bold"/>
              </a:rPr>
              <a:t>GenAI Production Engineering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12144480" y="6159322"/>
            <a:ext cx="4960325" cy="8695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75"/>
              </a:lnSpc>
            </a:pPr>
            <a:r>
              <a:rPr lang="en-US" sz="1576" spc="-31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RAG optimization, prompt/Template management, Retrival Quality, hallucination reduction, latency/cost optimization</a:t>
            </a:r>
          </a:p>
        </p:txBody>
      </p:sp>
      <p:grpSp>
        <p:nvGrpSpPr>
          <p:cNvPr name="Group 31" id="31"/>
          <p:cNvGrpSpPr/>
          <p:nvPr/>
        </p:nvGrpSpPr>
        <p:grpSpPr>
          <a:xfrm rot="0">
            <a:off x="11926281" y="7384075"/>
            <a:ext cx="5396722" cy="1742646"/>
            <a:chOff x="0" y="0"/>
            <a:chExt cx="7195630" cy="2323528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7195566" cy="2323465"/>
            </a:xfrm>
            <a:custGeom>
              <a:avLst/>
              <a:gdLst/>
              <a:ahLst/>
              <a:cxnLst/>
              <a:rect r="r" b="b" t="t" l="l"/>
              <a:pathLst>
                <a:path h="2323465" w="7195566">
                  <a:moveTo>
                    <a:pt x="0" y="114808"/>
                  </a:moveTo>
                  <a:cubicBezTo>
                    <a:pt x="0" y="51435"/>
                    <a:pt x="51435" y="0"/>
                    <a:pt x="114808" y="0"/>
                  </a:cubicBezTo>
                  <a:lnTo>
                    <a:pt x="7080758" y="0"/>
                  </a:lnTo>
                  <a:cubicBezTo>
                    <a:pt x="7144131" y="0"/>
                    <a:pt x="7195566" y="51435"/>
                    <a:pt x="7195566" y="114808"/>
                  </a:cubicBezTo>
                  <a:lnTo>
                    <a:pt x="7195566" y="2208657"/>
                  </a:lnTo>
                  <a:cubicBezTo>
                    <a:pt x="7195566" y="2272030"/>
                    <a:pt x="7144131" y="2323465"/>
                    <a:pt x="7080758" y="2323465"/>
                  </a:cubicBezTo>
                  <a:lnTo>
                    <a:pt x="114808" y="2323465"/>
                  </a:lnTo>
                  <a:cubicBezTo>
                    <a:pt x="51435" y="2323465"/>
                    <a:pt x="0" y="2272030"/>
                    <a:pt x="0" y="2208657"/>
                  </a:cubicBezTo>
                  <a:close/>
                </a:path>
              </a:pathLst>
            </a:custGeom>
            <a:solidFill>
              <a:srgbClr val="DADBF1"/>
            </a:solidFill>
            <a:ln w="9532" cap="sq">
              <a:solidFill>
                <a:srgbClr val="C0C1D7"/>
              </a:solidFill>
              <a:prstDash val="solid"/>
              <a:miter/>
            </a:ln>
          </p:spPr>
        </p:sp>
      </p:grpSp>
      <p:sp>
        <p:nvSpPr>
          <p:cNvPr name="TextBox 33" id="33"/>
          <p:cNvSpPr txBox="true"/>
          <p:nvPr/>
        </p:nvSpPr>
        <p:spPr>
          <a:xfrm rot="0">
            <a:off x="12144480" y="7583224"/>
            <a:ext cx="4960325" cy="3377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35"/>
              </a:lnSpc>
            </a:pPr>
            <a:r>
              <a:rPr lang="en-US" b="true" sz="1951" spc="-60">
                <a:solidFill>
                  <a:srgbClr val="272525"/>
                </a:solidFill>
                <a:latin typeface="Inter Bold"/>
                <a:ea typeface="Inter Bold"/>
                <a:cs typeface="Inter Bold"/>
                <a:sym typeface="Inter Bold"/>
              </a:rPr>
              <a:t>Security &amp; System Design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12144480" y="8039005"/>
            <a:ext cx="4960325" cy="8695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75"/>
              </a:lnSpc>
            </a:pPr>
            <a:r>
              <a:rPr lang="en-US" sz="1576" spc="-31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Secrets management, PII handling, Guardrails, bias/fairness, batch vs real-time inference, cost-aware architecture</a:t>
            </a:r>
          </a:p>
        </p:txBody>
      </p:sp>
      <p:grpSp>
        <p:nvGrpSpPr>
          <p:cNvPr name="Group 35" id="35"/>
          <p:cNvGrpSpPr/>
          <p:nvPr/>
        </p:nvGrpSpPr>
        <p:grpSpPr>
          <a:xfrm rot="0">
            <a:off x="3325248" y="3538527"/>
            <a:ext cx="11896794" cy="3217985"/>
            <a:chOff x="0" y="0"/>
            <a:chExt cx="1549400" cy="419100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1549400" cy="419100"/>
            </a:xfrm>
            <a:custGeom>
              <a:avLst/>
              <a:gdLst/>
              <a:ahLst/>
              <a:cxnLst/>
              <a:rect r="r" b="b" t="t" l="l"/>
              <a:pathLst>
                <a:path h="419100" w="1549400">
                  <a:moveTo>
                    <a:pt x="0" y="0"/>
                  </a:moveTo>
                  <a:lnTo>
                    <a:pt x="1549400" y="0"/>
                  </a:lnTo>
                  <a:lnTo>
                    <a:pt x="1549400" y="419100"/>
                  </a:lnTo>
                  <a:lnTo>
                    <a:pt x="0" y="4191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>
                <a:alphaModFix amt="6000"/>
              </a:blip>
              <a:stretch>
                <a:fillRect l="0" t="0" r="-8196" b="-66666"/>
              </a:stretch>
            </a:blipFill>
          </p:spPr>
        </p:sp>
      </p:grp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301840" cy="10295039"/>
            <a:chOff x="0" y="0"/>
            <a:chExt cx="24402453" cy="1372671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0241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F6F4F4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301840" cy="10295039"/>
            <a:chOff x="0" y="0"/>
            <a:chExt cx="24402453" cy="1372671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40241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16628307" y="9846183"/>
            <a:ext cx="1609020" cy="384353"/>
            <a:chOff x="0" y="0"/>
            <a:chExt cx="2145360" cy="512470"/>
          </a:xfrm>
        </p:grpSpPr>
        <p:sp>
          <p:nvSpPr>
            <p:cNvPr name="Freeform 7" id="7" descr="preencoded.png">
              <a:hlinkClick r:id="rId3" tooltip="https://gamma.app/?utm_source=made-with-gamma"/>
            </p:cNvPr>
            <p:cNvSpPr/>
            <p:nvPr/>
          </p:nvSpPr>
          <p:spPr>
            <a:xfrm flipH="false" flipV="false" rot="0">
              <a:off x="0" y="0"/>
              <a:ext cx="2145411" cy="512445"/>
            </a:xfrm>
            <a:custGeom>
              <a:avLst/>
              <a:gdLst/>
              <a:ahLst/>
              <a:cxnLst/>
              <a:rect r="r" b="b" t="t" l="l"/>
              <a:pathLst>
                <a:path h="512445" w="2145411">
                  <a:moveTo>
                    <a:pt x="0" y="0"/>
                  </a:moveTo>
                  <a:lnTo>
                    <a:pt x="2145411" y="0"/>
                  </a:lnTo>
                  <a:lnTo>
                    <a:pt x="2145411" y="512445"/>
                  </a:lnTo>
                  <a:lnTo>
                    <a:pt x="0" y="51244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2" b="-4"/>
              </a:stretch>
            </a:blipFill>
          </p:spPr>
        </p:sp>
      </p:grpSp>
      <p:sp>
        <p:nvSpPr>
          <p:cNvPr name="TextBox 8" id="8"/>
          <p:cNvSpPr txBox="true"/>
          <p:nvPr/>
        </p:nvSpPr>
        <p:spPr>
          <a:xfrm rot="0">
            <a:off x="992991" y="762914"/>
            <a:ext cx="16315868" cy="7350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26"/>
              </a:lnSpc>
            </a:pPr>
            <a:r>
              <a:rPr lang="en-US" b="true" sz="4428" spc="-133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MODULE 5: Hands-On Project Progression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9136618" y="1858232"/>
            <a:ext cx="28594" cy="7645175"/>
            <a:chOff x="0" y="0"/>
            <a:chExt cx="38125" cy="10193566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38100" cy="10193528"/>
            </a:xfrm>
            <a:custGeom>
              <a:avLst/>
              <a:gdLst/>
              <a:ahLst/>
              <a:cxnLst/>
              <a:rect r="r" b="b" t="t" l="l"/>
              <a:pathLst>
                <a:path h="10193528" w="38100">
                  <a:moveTo>
                    <a:pt x="0" y="19050"/>
                  </a:moveTo>
                  <a:cubicBezTo>
                    <a:pt x="0" y="8509"/>
                    <a:pt x="8509" y="0"/>
                    <a:pt x="19050" y="0"/>
                  </a:cubicBezTo>
                  <a:cubicBezTo>
                    <a:pt x="29591" y="0"/>
                    <a:pt x="38100" y="8509"/>
                    <a:pt x="38100" y="19050"/>
                  </a:cubicBezTo>
                  <a:lnTo>
                    <a:pt x="38100" y="10174478"/>
                  </a:lnTo>
                  <a:cubicBezTo>
                    <a:pt x="38100" y="10185019"/>
                    <a:pt x="29591" y="10193528"/>
                    <a:pt x="19050" y="10193528"/>
                  </a:cubicBezTo>
                  <a:cubicBezTo>
                    <a:pt x="8509" y="10193528"/>
                    <a:pt x="0" y="10185019"/>
                    <a:pt x="0" y="10174478"/>
                  </a:cubicBezTo>
                  <a:close/>
                </a:path>
              </a:pathLst>
            </a:custGeom>
            <a:solidFill>
              <a:srgbClr val="C0C1D7"/>
            </a:solid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8246926" y="2098186"/>
            <a:ext cx="678275" cy="28594"/>
            <a:chOff x="0" y="0"/>
            <a:chExt cx="904367" cy="38125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904367" cy="38100"/>
            </a:xfrm>
            <a:custGeom>
              <a:avLst/>
              <a:gdLst/>
              <a:ahLst/>
              <a:cxnLst/>
              <a:rect r="r" b="b" t="t" l="l"/>
              <a:pathLst>
                <a:path h="38100" w="904367">
                  <a:moveTo>
                    <a:pt x="0" y="19050"/>
                  </a:moveTo>
                  <a:cubicBezTo>
                    <a:pt x="0" y="8509"/>
                    <a:pt x="8509" y="0"/>
                    <a:pt x="19050" y="0"/>
                  </a:cubicBezTo>
                  <a:lnTo>
                    <a:pt x="885317" y="0"/>
                  </a:lnTo>
                  <a:cubicBezTo>
                    <a:pt x="895858" y="0"/>
                    <a:pt x="904367" y="8509"/>
                    <a:pt x="904367" y="19050"/>
                  </a:cubicBezTo>
                  <a:cubicBezTo>
                    <a:pt x="904367" y="29591"/>
                    <a:pt x="895858" y="38100"/>
                    <a:pt x="885317" y="38100"/>
                  </a:cubicBezTo>
                  <a:lnTo>
                    <a:pt x="19050" y="38100"/>
                  </a:lnTo>
                  <a:cubicBezTo>
                    <a:pt x="8509" y="38100"/>
                    <a:pt x="0" y="29591"/>
                    <a:pt x="0" y="19050"/>
                  </a:cubicBezTo>
                  <a:close/>
                </a:path>
              </a:pathLst>
            </a:custGeom>
            <a:solidFill>
              <a:srgbClr val="C0C1D7"/>
            </a:solidFill>
          </p:spPr>
        </p:sp>
      </p:grpSp>
      <p:grpSp>
        <p:nvGrpSpPr>
          <p:cNvPr name="Group 13" id="13"/>
          <p:cNvGrpSpPr/>
          <p:nvPr/>
        </p:nvGrpSpPr>
        <p:grpSpPr>
          <a:xfrm rot="0">
            <a:off x="8891835" y="1853470"/>
            <a:ext cx="518170" cy="518179"/>
            <a:chOff x="0" y="0"/>
            <a:chExt cx="690893" cy="690905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690880" cy="690880"/>
            </a:xfrm>
            <a:custGeom>
              <a:avLst/>
              <a:gdLst/>
              <a:ahLst/>
              <a:cxnLst/>
              <a:rect r="r" b="b" t="t" l="l"/>
              <a:pathLst>
                <a:path h="690880" w="690880">
                  <a:moveTo>
                    <a:pt x="0" y="129032"/>
                  </a:moveTo>
                  <a:cubicBezTo>
                    <a:pt x="0" y="57785"/>
                    <a:pt x="57785" y="0"/>
                    <a:pt x="129032" y="0"/>
                  </a:cubicBezTo>
                  <a:lnTo>
                    <a:pt x="561848" y="0"/>
                  </a:lnTo>
                  <a:cubicBezTo>
                    <a:pt x="633095" y="0"/>
                    <a:pt x="690880" y="57785"/>
                    <a:pt x="690880" y="129032"/>
                  </a:cubicBezTo>
                  <a:lnTo>
                    <a:pt x="690880" y="561848"/>
                  </a:lnTo>
                  <a:cubicBezTo>
                    <a:pt x="690880" y="633095"/>
                    <a:pt x="633095" y="690880"/>
                    <a:pt x="561848" y="690880"/>
                  </a:cubicBezTo>
                  <a:lnTo>
                    <a:pt x="129032" y="690880"/>
                  </a:lnTo>
                  <a:cubicBezTo>
                    <a:pt x="57785" y="690880"/>
                    <a:pt x="0" y="633095"/>
                    <a:pt x="0" y="561848"/>
                  </a:cubicBezTo>
                  <a:close/>
                </a:path>
              </a:pathLst>
            </a:custGeom>
            <a:solidFill>
              <a:srgbClr val="DADBF1"/>
            </a:solidFill>
            <a:ln w="9532" cap="sq">
              <a:solidFill>
                <a:srgbClr val="C0C1D7"/>
              </a:solidFill>
              <a:prstDash val="solid"/>
              <a:miter/>
            </a:ln>
          </p:spPr>
        </p:sp>
      </p:grpSp>
      <p:grpSp>
        <p:nvGrpSpPr>
          <p:cNvPr name="Group 15" id="15"/>
          <p:cNvGrpSpPr/>
          <p:nvPr/>
        </p:nvGrpSpPr>
        <p:grpSpPr>
          <a:xfrm rot="0">
            <a:off x="8981275" y="1900533"/>
            <a:ext cx="339138" cy="423901"/>
            <a:chOff x="0" y="0"/>
            <a:chExt cx="452183" cy="565201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452183" cy="565196"/>
            </a:xfrm>
            <a:custGeom>
              <a:avLst/>
              <a:gdLst/>
              <a:ahLst/>
              <a:cxnLst/>
              <a:rect r="r" b="b" t="t" l="l"/>
              <a:pathLst>
                <a:path h="565196" w="452183">
                  <a:moveTo>
                    <a:pt x="0" y="0"/>
                  </a:moveTo>
                  <a:lnTo>
                    <a:pt x="452183" y="0"/>
                  </a:lnTo>
                  <a:lnTo>
                    <a:pt x="452183" y="565196"/>
                  </a:lnTo>
                  <a:lnTo>
                    <a:pt x="0" y="565196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-110371" t="0" r="-110371" b="0"/>
              </a:stretch>
            </a:blipFill>
          </p:spPr>
        </p:sp>
        <p:sp>
          <p:nvSpPr>
            <p:cNvPr name="TextBox 17" id="17"/>
            <p:cNvSpPr txBox="true"/>
            <p:nvPr/>
          </p:nvSpPr>
          <p:spPr>
            <a:xfrm>
              <a:off x="0" y="0"/>
              <a:ext cx="452183" cy="56520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152"/>
                </a:lnSpc>
              </a:pPr>
              <a:r>
                <a:rPr lang="en-US" b="true" sz="2627" spc="-79">
                  <a:solidFill>
                    <a:srgbClr val="272525"/>
                  </a:solidFill>
                  <a:latin typeface="Inter Bold"/>
                  <a:ea typeface="Inter Bold"/>
                  <a:cs typeface="Inter Bold"/>
                  <a:sym typeface="Inter Bold"/>
                </a:rPr>
                <a:t>1</a:t>
              </a:r>
            </a:p>
          </p:txBody>
        </p:sp>
      </p:grpSp>
      <p:sp>
        <p:nvSpPr>
          <p:cNvPr name="TextBox 18" id="18"/>
          <p:cNvSpPr txBox="true"/>
          <p:nvPr/>
        </p:nvSpPr>
        <p:spPr>
          <a:xfrm rot="0">
            <a:off x="992991" y="1926307"/>
            <a:ext cx="7027469" cy="3628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716"/>
              </a:lnSpc>
            </a:pPr>
            <a:r>
              <a:rPr lang="en-US" b="true" sz="2176" spc="-66">
                <a:solidFill>
                  <a:srgbClr val="272525"/>
                </a:solidFill>
                <a:latin typeface="Inter Bold"/>
                <a:ea typeface="Inter Bold"/>
                <a:cs typeface="Inter Bold"/>
                <a:sym typeface="Inter Bold"/>
              </a:rPr>
              <a:t>Foundation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992991" y="2359009"/>
            <a:ext cx="7027469" cy="6880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485"/>
              </a:lnSpc>
            </a:pPr>
            <a:r>
              <a:rPr lang="en-US" sz="1726" spc="-36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EDA &amp; Data Quality Project — cleaning, visualizations, reusable notebook</a:t>
            </a:r>
          </a:p>
        </p:txBody>
      </p:sp>
      <p:grpSp>
        <p:nvGrpSpPr>
          <p:cNvPr name="Group 20" id="20"/>
          <p:cNvGrpSpPr/>
          <p:nvPr/>
        </p:nvGrpSpPr>
        <p:grpSpPr>
          <a:xfrm rot="0">
            <a:off x="9376639" y="3362868"/>
            <a:ext cx="678275" cy="28594"/>
            <a:chOff x="0" y="0"/>
            <a:chExt cx="904367" cy="38125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904367" cy="38100"/>
            </a:xfrm>
            <a:custGeom>
              <a:avLst/>
              <a:gdLst/>
              <a:ahLst/>
              <a:cxnLst/>
              <a:rect r="r" b="b" t="t" l="l"/>
              <a:pathLst>
                <a:path h="38100" w="904367">
                  <a:moveTo>
                    <a:pt x="0" y="19050"/>
                  </a:moveTo>
                  <a:cubicBezTo>
                    <a:pt x="0" y="8509"/>
                    <a:pt x="8509" y="0"/>
                    <a:pt x="19050" y="0"/>
                  </a:cubicBezTo>
                  <a:lnTo>
                    <a:pt x="885317" y="0"/>
                  </a:lnTo>
                  <a:cubicBezTo>
                    <a:pt x="895858" y="0"/>
                    <a:pt x="904367" y="8509"/>
                    <a:pt x="904367" y="19050"/>
                  </a:cubicBezTo>
                  <a:cubicBezTo>
                    <a:pt x="904367" y="29591"/>
                    <a:pt x="895858" y="38100"/>
                    <a:pt x="885317" y="38100"/>
                  </a:cubicBezTo>
                  <a:lnTo>
                    <a:pt x="19050" y="38100"/>
                  </a:lnTo>
                  <a:cubicBezTo>
                    <a:pt x="8509" y="38100"/>
                    <a:pt x="0" y="29591"/>
                    <a:pt x="0" y="19050"/>
                  </a:cubicBezTo>
                  <a:close/>
                </a:path>
              </a:pathLst>
            </a:custGeom>
            <a:solidFill>
              <a:srgbClr val="C0C1D7"/>
            </a:solidFill>
          </p:spPr>
        </p:sp>
      </p:grpSp>
      <p:grpSp>
        <p:nvGrpSpPr>
          <p:cNvPr name="Group 22" id="22"/>
          <p:cNvGrpSpPr/>
          <p:nvPr/>
        </p:nvGrpSpPr>
        <p:grpSpPr>
          <a:xfrm rot="0">
            <a:off x="8891835" y="3118152"/>
            <a:ext cx="518170" cy="518179"/>
            <a:chOff x="0" y="0"/>
            <a:chExt cx="690893" cy="690905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690880" cy="690880"/>
            </a:xfrm>
            <a:custGeom>
              <a:avLst/>
              <a:gdLst/>
              <a:ahLst/>
              <a:cxnLst/>
              <a:rect r="r" b="b" t="t" l="l"/>
              <a:pathLst>
                <a:path h="690880" w="690880">
                  <a:moveTo>
                    <a:pt x="0" y="129032"/>
                  </a:moveTo>
                  <a:cubicBezTo>
                    <a:pt x="0" y="57785"/>
                    <a:pt x="57785" y="0"/>
                    <a:pt x="129032" y="0"/>
                  </a:cubicBezTo>
                  <a:lnTo>
                    <a:pt x="561848" y="0"/>
                  </a:lnTo>
                  <a:cubicBezTo>
                    <a:pt x="633095" y="0"/>
                    <a:pt x="690880" y="57785"/>
                    <a:pt x="690880" y="129032"/>
                  </a:cubicBezTo>
                  <a:lnTo>
                    <a:pt x="690880" y="561848"/>
                  </a:lnTo>
                  <a:cubicBezTo>
                    <a:pt x="690880" y="633095"/>
                    <a:pt x="633095" y="690880"/>
                    <a:pt x="561848" y="690880"/>
                  </a:cubicBezTo>
                  <a:lnTo>
                    <a:pt x="129032" y="690880"/>
                  </a:lnTo>
                  <a:cubicBezTo>
                    <a:pt x="57785" y="690880"/>
                    <a:pt x="0" y="633095"/>
                    <a:pt x="0" y="561848"/>
                  </a:cubicBezTo>
                  <a:close/>
                </a:path>
              </a:pathLst>
            </a:custGeom>
            <a:solidFill>
              <a:srgbClr val="DADBF1"/>
            </a:solidFill>
            <a:ln w="9532" cap="sq">
              <a:solidFill>
                <a:srgbClr val="C0C1D7"/>
              </a:solidFill>
              <a:prstDash val="solid"/>
              <a:miter/>
            </a:ln>
          </p:spPr>
        </p:sp>
      </p:grpSp>
      <p:grpSp>
        <p:nvGrpSpPr>
          <p:cNvPr name="Group 24" id="24"/>
          <p:cNvGrpSpPr/>
          <p:nvPr/>
        </p:nvGrpSpPr>
        <p:grpSpPr>
          <a:xfrm rot="0">
            <a:off x="8981275" y="3165224"/>
            <a:ext cx="339138" cy="423901"/>
            <a:chOff x="0" y="0"/>
            <a:chExt cx="452183" cy="565201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452183" cy="565196"/>
            </a:xfrm>
            <a:custGeom>
              <a:avLst/>
              <a:gdLst/>
              <a:ahLst/>
              <a:cxnLst/>
              <a:rect r="r" b="b" t="t" l="l"/>
              <a:pathLst>
                <a:path h="565196" w="452183">
                  <a:moveTo>
                    <a:pt x="0" y="0"/>
                  </a:moveTo>
                  <a:lnTo>
                    <a:pt x="452183" y="0"/>
                  </a:lnTo>
                  <a:lnTo>
                    <a:pt x="452183" y="565196"/>
                  </a:lnTo>
                  <a:lnTo>
                    <a:pt x="0" y="565196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-110371" t="0" r="-110371" b="0"/>
              </a:stretch>
            </a:blipFill>
          </p:spPr>
        </p:sp>
        <p:sp>
          <p:nvSpPr>
            <p:cNvPr name="TextBox 26" id="26"/>
            <p:cNvSpPr txBox="true"/>
            <p:nvPr/>
          </p:nvSpPr>
          <p:spPr>
            <a:xfrm>
              <a:off x="0" y="0"/>
              <a:ext cx="452183" cy="56520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152"/>
                </a:lnSpc>
              </a:pPr>
              <a:r>
                <a:rPr lang="en-US" b="true" sz="2627" spc="-79">
                  <a:solidFill>
                    <a:srgbClr val="272525"/>
                  </a:solidFill>
                  <a:latin typeface="Inter Bold"/>
                  <a:ea typeface="Inter Bold"/>
                  <a:cs typeface="Inter Bold"/>
                  <a:sym typeface="Inter Bold"/>
                </a:rPr>
                <a:t>2</a:t>
              </a:r>
            </a:p>
          </p:txBody>
        </p:sp>
      </p:grpSp>
      <p:sp>
        <p:nvSpPr>
          <p:cNvPr name="TextBox 27" id="27"/>
          <p:cNvSpPr txBox="true"/>
          <p:nvPr/>
        </p:nvSpPr>
        <p:spPr>
          <a:xfrm rot="0">
            <a:off x="10281380" y="3190999"/>
            <a:ext cx="7027469" cy="3628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16"/>
              </a:lnSpc>
            </a:pPr>
            <a:r>
              <a:rPr lang="en-US" b="true" sz="2176" spc="-66">
                <a:solidFill>
                  <a:srgbClr val="272525"/>
                </a:solidFill>
                <a:latin typeface="Inter Bold"/>
                <a:ea typeface="Inter Bold"/>
                <a:cs typeface="Inter Bold"/>
                <a:sym typeface="Inter Bold"/>
              </a:rPr>
              <a:t>ML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0281380" y="3623701"/>
            <a:ext cx="7027469" cy="6880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85"/>
              </a:lnSpc>
            </a:pPr>
            <a:r>
              <a:rPr lang="en-US" sz="1726" spc="-36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End-to-End Predictive ML App — feature pipeline, model comparison, API, docs</a:t>
            </a:r>
          </a:p>
        </p:txBody>
      </p:sp>
      <p:grpSp>
        <p:nvGrpSpPr>
          <p:cNvPr name="Group 29" id="29"/>
          <p:cNvGrpSpPr/>
          <p:nvPr/>
        </p:nvGrpSpPr>
        <p:grpSpPr>
          <a:xfrm rot="0">
            <a:off x="8246926" y="4486208"/>
            <a:ext cx="678275" cy="28594"/>
            <a:chOff x="0" y="0"/>
            <a:chExt cx="904367" cy="38125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904367" cy="38100"/>
            </a:xfrm>
            <a:custGeom>
              <a:avLst/>
              <a:gdLst/>
              <a:ahLst/>
              <a:cxnLst/>
              <a:rect r="r" b="b" t="t" l="l"/>
              <a:pathLst>
                <a:path h="38100" w="904367">
                  <a:moveTo>
                    <a:pt x="0" y="19050"/>
                  </a:moveTo>
                  <a:cubicBezTo>
                    <a:pt x="0" y="8509"/>
                    <a:pt x="8509" y="0"/>
                    <a:pt x="19050" y="0"/>
                  </a:cubicBezTo>
                  <a:lnTo>
                    <a:pt x="885317" y="0"/>
                  </a:lnTo>
                  <a:cubicBezTo>
                    <a:pt x="895858" y="0"/>
                    <a:pt x="904367" y="8509"/>
                    <a:pt x="904367" y="19050"/>
                  </a:cubicBezTo>
                  <a:cubicBezTo>
                    <a:pt x="904367" y="29591"/>
                    <a:pt x="895858" y="38100"/>
                    <a:pt x="885317" y="38100"/>
                  </a:cubicBezTo>
                  <a:lnTo>
                    <a:pt x="19050" y="38100"/>
                  </a:lnTo>
                  <a:cubicBezTo>
                    <a:pt x="8509" y="38100"/>
                    <a:pt x="0" y="29591"/>
                    <a:pt x="0" y="19050"/>
                  </a:cubicBezTo>
                  <a:close/>
                </a:path>
              </a:pathLst>
            </a:custGeom>
            <a:solidFill>
              <a:srgbClr val="C0C1D7"/>
            </a:solidFill>
          </p:spPr>
        </p:sp>
      </p:grpSp>
      <p:grpSp>
        <p:nvGrpSpPr>
          <p:cNvPr name="Group 31" id="31"/>
          <p:cNvGrpSpPr/>
          <p:nvPr/>
        </p:nvGrpSpPr>
        <p:grpSpPr>
          <a:xfrm rot="0">
            <a:off x="8891835" y="4241492"/>
            <a:ext cx="518170" cy="518179"/>
            <a:chOff x="0" y="0"/>
            <a:chExt cx="690893" cy="690905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690880" cy="690880"/>
            </a:xfrm>
            <a:custGeom>
              <a:avLst/>
              <a:gdLst/>
              <a:ahLst/>
              <a:cxnLst/>
              <a:rect r="r" b="b" t="t" l="l"/>
              <a:pathLst>
                <a:path h="690880" w="690880">
                  <a:moveTo>
                    <a:pt x="0" y="129032"/>
                  </a:moveTo>
                  <a:cubicBezTo>
                    <a:pt x="0" y="57785"/>
                    <a:pt x="57785" y="0"/>
                    <a:pt x="129032" y="0"/>
                  </a:cubicBezTo>
                  <a:lnTo>
                    <a:pt x="561848" y="0"/>
                  </a:lnTo>
                  <a:cubicBezTo>
                    <a:pt x="633095" y="0"/>
                    <a:pt x="690880" y="57785"/>
                    <a:pt x="690880" y="129032"/>
                  </a:cubicBezTo>
                  <a:lnTo>
                    <a:pt x="690880" y="561848"/>
                  </a:lnTo>
                  <a:cubicBezTo>
                    <a:pt x="690880" y="633095"/>
                    <a:pt x="633095" y="690880"/>
                    <a:pt x="561848" y="690880"/>
                  </a:cubicBezTo>
                  <a:lnTo>
                    <a:pt x="129032" y="690880"/>
                  </a:lnTo>
                  <a:cubicBezTo>
                    <a:pt x="57785" y="690880"/>
                    <a:pt x="0" y="633095"/>
                    <a:pt x="0" y="561848"/>
                  </a:cubicBezTo>
                  <a:close/>
                </a:path>
              </a:pathLst>
            </a:custGeom>
            <a:solidFill>
              <a:srgbClr val="DADBF1"/>
            </a:solidFill>
            <a:ln w="9532" cap="sq">
              <a:solidFill>
                <a:srgbClr val="C0C1D7"/>
              </a:solidFill>
              <a:prstDash val="solid"/>
              <a:miter/>
            </a:ln>
          </p:spPr>
        </p:sp>
      </p:grpSp>
      <p:grpSp>
        <p:nvGrpSpPr>
          <p:cNvPr name="Group 33" id="33"/>
          <p:cNvGrpSpPr/>
          <p:nvPr/>
        </p:nvGrpSpPr>
        <p:grpSpPr>
          <a:xfrm rot="0">
            <a:off x="8981275" y="4288555"/>
            <a:ext cx="339138" cy="423901"/>
            <a:chOff x="0" y="0"/>
            <a:chExt cx="452183" cy="565201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452183" cy="565196"/>
            </a:xfrm>
            <a:custGeom>
              <a:avLst/>
              <a:gdLst/>
              <a:ahLst/>
              <a:cxnLst/>
              <a:rect r="r" b="b" t="t" l="l"/>
              <a:pathLst>
                <a:path h="565196" w="452183">
                  <a:moveTo>
                    <a:pt x="0" y="0"/>
                  </a:moveTo>
                  <a:lnTo>
                    <a:pt x="452183" y="0"/>
                  </a:lnTo>
                  <a:lnTo>
                    <a:pt x="452183" y="565196"/>
                  </a:lnTo>
                  <a:lnTo>
                    <a:pt x="0" y="565196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-110371" t="0" r="-110371" b="0"/>
              </a:stretch>
            </a:blipFill>
          </p:spPr>
        </p:sp>
        <p:sp>
          <p:nvSpPr>
            <p:cNvPr name="TextBox 35" id="35"/>
            <p:cNvSpPr txBox="true"/>
            <p:nvPr/>
          </p:nvSpPr>
          <p:spPr>
            <a:xfrm>
              <a:off x="0" y="0"/>
              <a:ext cx="452183" cy="56520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152"/>
                </a:lnSpc>
              </a:pPr>
              <a:r>
                <a:rPr lang="en-US" b="true" sz="2627" spc="-79">
                  <a:solidFill>
                    <a:srgbClr val="272525"/>
                  </a:solidFill>
                  <a:latin typeface="Inter Bold"/>
                  <a:ea typeface="Inter Bold"/>
                  <a:cs typeface="Inter Bold"/>
                  <a:sym typeface="Inter Bold"/>
                </a:rPr>
                <a:t>3</a:t>
              </a:r>
            </a:p>
          </p:txBody>
        </p:sp>
      </p:grpSp>
      <p:sp>
        <p:nvSpPr>
          <p:cNvPr name="TextBox 36" id="36"/>
          <p:cNvSpPr txBox="true"/>
          <p:nvPr/>
        </p:nvSpPr>
        <p:spPr>
          <a:xfrm rot="0">
            <a:off x="992991" y="4314330"/>
            <a:ext cx="7027469" cy="3628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716"/>
              </a:lnSpc>
            </a:pPr>
            <a:r>
              <a:rPr lang="en-US" b="true" sz="2176" spc="-66">
                <a:solidFill>
                  <a:srgbClr val="272525"/>
                </a:solidFill>
                <a:latin typeface="Inter Bold"/>
                <a:ea typeface="Inter Bold"/>
                <a:cs typeface="Inter Bold"/>
                <a:sym typeface="Inter Bold"/>
              </a:rPr>
              <a:t>Advanced ML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992991" y="4747041"/>
            <a:ext cx="7027469" cy="6880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485"/>
              </a:lnSpc>
            </a:pPr>
            <a:r>
              <a:rPr lang="en-US" sz="1726" spc="-36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Production-Ready ML Service — Docker image, tests, logging, monitoring plan</a:t>
            </a:r>
          </a:p>
        </p:txBody>
      </p:sp>
      <p:grpSp>
        <p:nvGrpSpPr>
          <p:cNvPr name="Group 38" id="38"/>
          <p:cNvGrpSpPr/>
          <p:nvPr/>
        </p:nvGrpSpPr>
        <p:grpSpPr>
          <a:xfrm rot="0">
            <a:off x="9376639" y="5609701"/>
            <a:ext cx="678275" cy="28594"/>
            <a:chOff x="0" y="0"/>
            <a:chExt cx="904367" cy="38125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904367" cy="38100"/>
            </a:xfrm>
            <a:custGeom>
              <a:avLst/>
              <a:gdLst/>
              <a:ahLst/>
              <a:cxnLst/>
              <a:rect r="r" b="b" t="t" l="l"/>
              <a:pathLst>
                <a:path h="38100" w="904367">
                  <a:moveTo>
                    <a:pt x="0" y="19050"/>
                  </a:moveTo>
                  <a:cubicBezTo>
                    <a:pt x="0" y="8509"/>
                    <a:pt x="8509" y="0"/>
                    <a:pt x="19050" y="0"/>
                  </a:cubicBezTo>
                  <a:lnTo>
                    <a:pt x="885317" y="0"/>
                  </a:lnTo>
                  <a:cubicBezTo>
                    <a:pt x="895858" y="0"/>
                    <a:pt x="904367" y="8509"/>
                    <a:pt x="904367" y="19050"/>
                  </a:cubicBezTo>
                  <a:cubicBezTo>
                    <a:pt x="904367" y="29591"/>
                    <a:pt x="895858" y="38100"/>
                    <a:pt x="885317" y="38100"/>
                  </a:cubicBezTo>
                  <a:lnTo>
                    <a:pt x="19050" y="38100"/>
                  </a:lnTo>
                  <a:cubicBezTo>
                    <a:pt x="8509" y="38100"/>
                    <a:pt x="0" y="29591"/>
                    <a:pt x="0" y="19050"/>
                  </a:cubicBezTo>
                  <a:close/>
                </a:path>
              </a:pathLst>
            </a:custGeom>
            <a:solidFill>
              <a:srgbClr val="C0C1D7"/>
            </a:solidFill>
          </p:spPr>
        </p:sp>
      </p:grpSp>
      <p:grpSp>
        <p:nvGrpSpPr>
          <p:cNvPr name="Group 40" id="40"/>
          <p:cNvGrpSpPr/>
          <p:nvPr/>
        </p:nvGrpSpPr>
        <p:grpSpPr>
          <a:xfrm rot="0">
            <a:off x="8891835" y="5364975"/>
            <a:ext cx="518170" cy="518179"/>
            <a:chOff x="0" y="0"/>
            <a:chExt cx="690893" cy="690905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690880" cy="690880"/>
            </a:xfrm>
            <a:custGeom>
              <a:avLst/>
              <a:gdLst/>
              <a:ahLst/>
              <a:cxnLst/>
              <a:rect r="r" b="b" t="t" l="l"/>
              <a:pathLst>
                <a:path h="690880" w="690880">
                  <a:moveTo>
                    <a:pt x="0" y="129032"/>
                  </a:moveTo>
                  <a:cubicBezTo>
                    <a:pt x="0" y="57785"/>
                    <a:pt x="57785" y="0"/>
                    <a:pt x="129032" y="0"/>
                  </a:cubicBezTo>
                  <a:lnTo>
                    <a:pt x="561848" y="0"/>
                  </a:lnTo>
                  <a:cubicBezTo>
                    <a:pt x="633095" y="0"/>
                    <a:pt x="690880" y="57785"/>
                    <a:pt x="690880" y="129032"/>
                  </a:cubicBezTo>
                  <a:lnTo>
                    <a:pt x="690880" y="561848"/>
                  </a:lnTo>
                  <a:cubicBezTo>
                    <a:pt x="690880" y="633095"/>
                    <a:pt x="633095" y="690880"/>
                    <a:pt x="561848" y="690880"/>
                  </a:cubicBezTo>
                  <a:lnTo>
                    <a:pt x="129032" y="690880"/>
                  </a:lnTo>
                  <a:cubicBezTo>
                    <a:pt x="57785" y="690880"/>
                    <a:pt x="0" y="633095"/>
                    <a:pt x="0" y="561848"/>
                  </a:cubicBezTo>
                  <a:close/>
                </a:path>
              </a:pathLst>
            </a:custGeom>
            <a:solidFill>
              <a:srgbClr val="DADBF1"/>
            </a:solidFill>
            <a:ln w="9532" cap="sq">
              <a:solidFill>
                <a:srgbClr val="C0C1D7"/>
              </a:solidFill>
              <a:prstDash val="solid"/>
              <a:miter/>
            </a:ln>
          </p:spPr>
        </p:sp>
      </p:grpSp>
      <p:grpSp>
        <p:nvGrpSpPr>
          <p:cNvPr name="Group 42" id="42"/>
          <p:cNvGrpSpPr/>
          <p:nvPr/>
        </p:nvGrpSpPr>
        <p:grpSpPr>
          <a:xfrm rot="0">
            <a:off x="8981275" y="5412048"/>
            <a:ext cx="339138" cy="423901"/>
            <a:chOff x="0" y="0"/>
            <a:chExt cx="452183" cy="565201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452183" cy="565196"/>
            </a:xfrm>
            <a:custGeom>
              <a:avLst/>
              <a:gdLst/>
              <a:ahLst/>
              <a:cxnLst/>
              <a:rect r="r" b="b" t="t" l="l"/>
              <a:pathLst>
                <a:path h="565196" w="452183">
                  <a:moveTo>
                    <a:pt x="0" y="0"/>
                  </a:moveTo>
                  <a:lnTo>
                    <a:pt x="452183" y="0"/>
                  </a:lnTo>
                  <a:lnTo>
                    <a:pt x="452183" y="565196"/>
                  </a:lnTo>
                  <a:lnTo>
                    <a:pt x="0" y="565196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-110371" t="0" r="-110371" b="0"/>
              </a:stretch>
            </a:blipFill>
          </p:spPr>
        </p:sp>
        <p:sp>
          <p:nvSpPr>
            <p:cNvPr name="TextBox 44" id="44"/>
            <p:cNvSpPr txBox="true"/>
            <p:nvPr/>
          </p:nvSpPr>
          <p:spPr>
            <a:xfrm>
              <a:off x="0" y="0"/>
              <a:ext cx="452183" cy="56520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152"/>
                </a:lnSpc>
              </a:pPr>
              <a:r>
                <a:rPr lang="en-US" b="true" sz="2627" spc="-79">
                  <a:solidFill>
                    <a:srgbClr val="272525"/>
                  </a:solidFill>
                  <a:latin typeface="Inter Bold"/>
                  <a:ea typeface="Inter Bold"/>
                  <a:cs typeface="Inter Bold"/>
                  <a:sym typeface="Inter Bold"/>
                </a:rPr>
                <a:t>4</a:t>
              </a:r>
            </a:p>
          </p:txBody>
        </p:sp>
      </p:grpSp>
      <p:sp>
        <p:nvSpPr>
          <p:cNvPr name="TextBox 45" id="45"/>
          <p:cNvSpPr txBox="true"/>
          <p:nvPr/>
        </p:nvSpPr>
        <p:spPr>
          <a:xfrm rot="0">
            <a:off x="10281380" y="5437822"/>
            <a:ext cx="7027469" cy="3628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16"/>
              </a:lnSpc>
            </a:pPr>
            <a:r>
              <a:rPr lang="en-US" b="true" sz="2176" spc="-66">
                <a:solidFill>
                  <a:srgbClr val="272525"/>
                </a:solidFill>
                <a:latin typeface="Inter Bold"/>
                <a:ea typeface="Inter Bold"/>
                <a:cs typeface="Inter Bold"/>
                <a:sym typeface="Inter Bold"/>
              </a:rPr>
              <a:t>Deep Learning</a:t>
            </a:r>
          </a:p>
        </p:txBody>
      </p:sp>
      <p:sp>
        <p:nvSpPr>
          <p:cNvPr name="TextBox 46" id="46"/>
          <p:cNvSpPr txBox="true"/>
          <p:nvPr/>
        </p:nvSpPr>
        <p:spPr>
          <a:xfrm rot="0">
            <a:off x="10281380" y="5870524"/>
            <a:ext cx="7027469" cy="6880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85"/>
              </a:lnSpc>
            </a:pPr>
            <a:r>
              <a:rPr lang="en-US" sz="1726" spc="-36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DL Application — training pipeline, experiment tracking, inference service</a:t>
            </a:r>
          </a:p>
        </p:txBody>
      </p:sp>
      <p:grpSp>
        <p:nvGrpSpPr>
          <p:cNvPr name="Group 47" id="47"/>
          <p:cNvGrpSpPr/>
          <p:nvPr/>
        </p:nvGrpSpPr>
        <p:grpSpPr>
          <a:xfrm rot="0">
            <a:off x="8246926" y="6733184"/>
            <a:ext cx="678275" cy="28594"/>
            <a:chOff x="0" y="0"/>
            <a:chExt cx="904367" cy="38125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904367" cy="38100"/>
            </a:xfrm>
            <a:custGeom>
              <a:avLst/>
              <a:gdLst/>
              <a:ahLst/>
              <a:cxnLst/>
              <a:rect r="r" b="b" t="t" l="l"/>
              <a:pathLst>
                <a:path h="38100" w="904367">
                  <a:moveTo>
                    <a:pt x="0" y="19050"/>
                  </a:moveTo>
                  <a:cubicBezTo>
                    <a:pt x="0" y="8509"/>
                    <a:pt x="8509" y="0"/>
                    <a:pt x="19050" y="0"/>
                  </a:cubicBezTo>
                  <a:lnTo>
                    <a:pt x="885317" y="0"/>
                  </a:lnTo>
                  <a:cubicBezTo>
                    <a:pt x="895858" y="0"/>
                    <a:pt x="904367" y="8509"/>
                    <a:pt x="904367" y="19050"/>
                  </a:cubicBezTo>
                  <a:cubicBezTo>
                    <a:pt x="904367" y="29591"/>
                    <a:pt x="895858" y="38100"/>
                    <a:pt x="885317" y="38100"/>
                  </a:cubicBezTo>
                  <a:lnTo>
                    <a:pt x="19050" y="38100"/>
                  </a:lnTo>
                  <a:cubicBezTo>
                    <a:pt x="8509" y="38100"/>
                    <a:pt x="0" y="29591"/>
                    <a:pt x="0" y="19050"/>
                  </a:cubicBezTo>
                  <a:close/>
                </a:path>
              </a:pathLst>
            </a:custGeom>
            <a:solidFill>
              <a:srgbClr val="C0C1D7"/>
            </a:solidFill>
          </p:spPr>
        </p:sp>
      </p:grpSp>
      <p:grpSp>
        <p:nvGrpSpPr>
          <p:cNvPr name="Group 49" id="49"/>
          <p:cNvGrpSpPr/>
          <p:nvPr/>
        </p:nvGrpSpPr>
        <p:grpSpPr>
          <a:xfrm rot="0">
            <a:off x="8891835" y="6488468"/>
            <a:ext cx="518170" cy="518179"/>
            <a:chOff x="0" y="0"/>
            <a:chExt cx="690893" cy="690905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690880" cy="690880"/>
            </a:xfrm>
            <a:custGeom>
              <a:avLst/>
              <a:gdLst/>
              <a:ahLst/>
              <a:cxnLst/>
              <a:rect r="r" b="b" t="t" l="l"/>
              <a:pathLst>
                <a:path h="690880" w="690880">
                  <a:moveTo>
                    <a:pt x="0" y="129032"/>
                  </a:moveTo>
                  <a:cubicBezTo>
                    <a:pt x="0" y="57785"/>
                    <a:pt x="57785" y="0"/>
                    <a:pt x="129032" y="0"/>
                  </a:cubicBezTo>
                  <a:lnTo>
                    <a:pt x="561848" y="0"/>
                  </a:lnTo>
                  <a:cubicBezTo>
                    <a:pt x="633095" y="0"/>
                    <a:pt x="690880" y="57785"/>
                    <a:pt x="690880" y="129032"/>
                  </a:cubicBezTo>
                  <a:lnTo>
                    <a:pt x="690880" y="561848"/>
                  </a:lnTo>
                  <a:cubicBezTo>
                    <a:pt x="690880" y="633095"/>
                    <a:pt x="633095" y="690880"/>
                    <a:pt x="561848" y="690880"/>
                  </a:cubicBezTo>
                  <a:lnTo>
                    <a:pt x="129032" y="690880"/>
                  </a:lnTo>
                  <a:cubicBezTo>
                    <a:pt x="57785" y="690880"/>
                    <a:pt x="0" y="633095"/>
                    <a:pt x="0" y="561848"/>
                  </a:cubicBezTo>
                  <a:close/>
                </a:path>
              </a:pathLst>
            </a:custGeom>
            <a:solidFill>
              <a:srgbClr val="DADBF1"/>
            </a:solidFill>
            <a:ln w="9532" cap="sq">
              <a:solidFill>
                <a:srgbClr val="C0C1D7"/>
              </a:solidFill>
              <a:prstDash val="solid"/>
              <a:miter/>
            </a:ln>
          </p:spPr>
        </p:sp>
      </p:grpSp>
      <p:grpSp>
        <p:nvGrpSpPr>
          <p:cNvPr name="Group 51" id="51"/>
          <p:cNvGrpSpPr/>
          <p:nvPr/>
        </p:nvGrpSpPr>
        <p:grpSpPr>
          <a:xfrm rot="0">
            <a:off x="8981275" y="6535531"/>
            <a:ext cx="339138" cy="423901"/>
            <a:chOff x="0" y="0"/>
            <a:chExt cx="452183" cy="565201"/>
          </a:xfrm>
        </p:grpSpPr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452183" cy="565196"/>
            </a:xfrm>
            <a:custGeom>
              <a:avLst/>
              <a:gdLst/>
              <a:ahLst/>
              <a:cxnLst/>
              <a:rect r="r" b="b" t="t" l="l"/>
              <a:pathLst>
                <a:path h="565196" w="452183">
                  <a:moveTo>
                    <a:pt x="0" y="0"/>
                  </a:moveTo>
                  <a:lnTo>
                    <a:pt x="452183" y="0"/>
                  </a:lnTo>
                  <a:lnTo>
                    <a:pt x="452183" y="565196"/>
                  </a:lnTo>
                  <a:lnTo>
                    <a:pt x="0" y="565196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-110371" t="0" r="-110371" b="0"/>
              </a:stretch>
            </a:blipFill>
          </p:spPr>
        </p:sp>
        <p:sp>
          <p:nvSpPr>
            <p:cNvPr name="TextBox 53" id="53"/>
            <p:cNvSpPr txBox="true"/>
            <p:nvPr/>
          </p:nvSpPr>
          <p:spPr>
            <a:xfrm>
              <a:off x="0" y="0"/>
              <a:ext cx="452183" cy="56520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152"/>
                </a:lnSpc>
              </a:pPr>
              <a:r>
                <a:rPr lang="en-US" b="true" sz="2627" spc="-79">
                  <a:solidFill>
                    <a:srgbClr val="272525"/>
                  </a:solidFill>
                  <a:latin typeface="Inter Bold"/>
                  <a:ea typeface="Inter Bold"/>
                  <a:cs typeface="Inter Bold"/>
                  <a:sym typeface="Inter Bold"/>
                </a:rPr>
                <a:t>5</a:t>
              </a:r>
            </a:p>
          </p:txBody>
        </p:sp>
      </p:grpSp>
      <p:sp>
        <p:nvSpPr>
          <p:cNvPr name="TextBox 54" id="54"/>
          <p:cNvSpPr txBox="true"/>
          <p:nvPr/>
        </p:nvSpPr>
        <p:spPr>
          <a:xfrm rot="0">
            <a:off x="992991" y="6561306"/>
            <a:ext cx="7027469" cy="3628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716"/>
              </a:lnSpc>
            </a:pPr>
            <a:r>
              <a:rPr lang="en-US" b="true" sz="2176" spc="-66">
                <a:solidFill>
                  <a:srgbClr val="272525"/>
                </a:solidFill>
                <a:latin typeface="Inter Bold"/>
                <a:ea typeface="Inter Bold"/>
                <a:cs typeface="Inter Bold"/>
                <a:sym typeface="Inter Bold"/>
              </a:rPr>
              <a:t>GenAI</a:t>
            </a:r>
          </a:p>
        </p:txBody>
      </p:sp>
      <p:sp>
        <p:nvSpPr>
          <p:cNvPr name="TextBox 55" id="55"/>
          <p:cNvSpPr txBox="true"/>
          <p:nvPr/>
        </p:nvSpPr>
        <p:spPr>
          <a:xfrm rot="0">
            <a:off x="992991" y="6994017"/>
            <a:ext cx="7027469" cy="6880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485"/>
              </a:lnSpc>
            </a:pPr>
            <a:r>
              <a:rPr lang="en-US" sz="1726" spc="-36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RAG Knowledge Assistant — ingestion, vector search, retrieval, generation, evaluation</a:t>
            </a:r>
          </a:p>
        </p:txBody>
      </p:sp>
      <p:grpSp>
        <p:nvGrpSpPr>
          <p:cNvPr name="Group 56" id="56"/>
          <p:cNvGrpSpPr/>
          <p:nvPr/>
        </p:nvGrpSpPr>
        <p:grpSpPr>
          <a:xfrm rot="0">
            <a:off x="9376639" y="7856677"/>
            <a:ext cx="678275" cy="28594"/>
            <a:chOff x="0" y="0"/>
            <a:chExt cx="904367" cy="38125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904367" cy="38100"/>
            </a:xfrm>
            <a:custGeom>
              <a:avLst/>
              <a:gdLst/>
              <a:ahLst/>
              <a:cxnLst/>
              <a:rect r="r" b="b" t="t" l="l"/>
              <a:pathLst>
                <a:path h="38100" w="904367">
                  <a:moveTo>
                    <a:pt x="0" y="19050"/>
                  </a:moveTo>
                  <a:cubicBezTo>
                    <a:pt x="0" y="8509"/>
                    <a:pt x="8509" y="0"/>
                    <a:pt x="19050" y="0"/>
                  </a:cubicBezTo>
                  <a:lnTo>
                    <a:pt x="885317" y="0"/>
                  </a:lnTo>
                  <a:cubicBezTo>
                    <a:pt x="895858" y="0"/>
                    <a:pt x="904367" y="8509"/>
                    <a:pt x="904367" y="19050"/>
                  </a:cubicBezTo>
                  <a:cubicBezTo>
                    <a:pt x="904367" y="29591"/>
                    <a:pt x="895858" y="38100"/>
                    <a:pt x="885317" y="38100"/>
                  </a:cubicBezTo>
                  <a:lnTo>
                    <a:pt x="19050" y="38100"/>
                  </a:lnTo>
                  <a:cubicBezTo>
                    <a:pt x="8509" y="38100"/>
                    <a:pt x="0" y="29591"/>
                    <a:pt x="0" y="19050"/>
                  </a:cubicBezTo>
                  <a:close/>
                </a:path>
              </a:pathLst>
            </a:custGeom>
            <a:solidFill>
              <a:srgbClr val="C0C1D7"/>
            </a:solidFill>
          </p:spPr>
        </p:sp>
      </p:grpSp>
      <p:grpSp>
        <p:nvGrpSpPr>
          <p:cNvPr name="Group 58" id="58"/>
          <p:cNvGrpSpPr/>
          <p:nvPr/>
        </p:nvGrpSpPr>
        <p:grpSpPr>
          <a:xfrm rot="0">
            <a:off x="8891835" y="7611961"/>
            <a:ext cx="518170" cy="518179"/>
            <a:chOff x="0" y="0"/>
            <a:chExt cx="690893" cy="690905"/>
          </a:xfrm>
        </p:grpSpPr>
        <p:sp>
          <p:nvSpPr>
            <p:cNvPr name="Freeform 59" id="59"/>
            <p:cNvSpPr/>
            <p:nvPr/>
          </p:nvSpPr>
          <p:spPr>
            <a:xfrm flipH="false" flipV="false" rot="0">
              <a:off x="0" y="0"/>
              <a:ext cx="690880" cy="690880"/>
            </a:xfrm>
            <a:custGeom>
              <a:avLst/>
              <a:gdLst/>
              <a:ahLst/>
              <a:cxnLst/>
              <a:rect r="r" b="b" t="t" l="l"/>
              <a:pathLst>
                <a:path h="690880" w="690880">
                  <a:moveTo>
                    <a:pt x="0" y="129032"/>
                  </a:moveTo>
                  <a:cubicBezTo>
                    <a:pt x="0" y="57785"/>
                    <a:pt x="57785" y="0"/>
                    <a:pt x="129032" y="0"/>
                  </a:cubicBezTo>
                  <a:lnTo>
                    <a:pt x="561848" y="0"/>
                  </a:lnTo>
                  <a:cubicBezTo>
                    <a:pt x="633095" y="0"/>
                    <a:pt x="690880" y="57785"/>
                    <a:pt x="690880" y="129032"/>
                  </a:cubicBezTo>
                  <a:lnTo>
                    <a:pt x="690880" y="561848"/>
                  </a:lnTo>
                  <a:cubicBezTo>
                    <a:pt x="690880" y="633095"/>
                    <a:pt x="633095" y="690880"/>
                    <a:pt x="561848" y="690880"/>
                  </a:cubicBezTo>
                  <a:lnTo>
                    <a:pt x="129032" y="690880"/>
                  </a:lnTo>
                  <a:cubicBezTo>
                    <a:pt x="57785" y="690880"/>
                    <a:pt x="0" y="633095"/>
                    <a:pt x="0" y="561848"/>
                  </a:cubicBezTo>
                  <a:close/>
                </a:path>
              </a:pathLst>
            </a:custGeom>
            <a:solidFill>
              <a:srgbClr val="DADBF1"/>
            </a:solidFill>
            <a:ln w="9532" cap="sq">
              <a:solidFill>
                <a:srgbClr val="C0C1D7"/>
              </a:solidFill>
              <a:prstDash val="solid"/>
              <a:miter/>
            </a:ln>
          </p:spPr>
        </p:sp>
      </p:grpSp>
      <p:grpSp>
        <p:nvGrpSpPr>
          <p:cNvPr name="Group 60" id="60"/>
          <p:cNvGrpSpPr/>
          <p:nvPr/>
        </p:nvGrpSpPr>
        <p:grpSpPr>
          <a:xfrm rot="0">
            <a:off x="8981275" y="7659024"/>
            <a:ext cx="339138" cy="423901"/>
            <a:chOff x="0" y="0"/>
            <a:chExt cx="452183" cy="565201"/>
          </a:xfrm>
        </p:grpSpPr>
        <p:sp>
          <p:nvSpPr>
            <p:cNvPr name="Freeform 61" id="61"/>
            <p:cNvSpPr/>
            <p:nvPr/>
          </p:nvSpPr>
          <p:spPr>
            <a:xfrm flipH="false" flipV="false" rot="0">
              <a:off x="0" y="0"/>
              <a:ext cx="452183" cy="565196"/>
            </a:xfrm>
            <a:custGeom>
              <a:avLst/>
              <a:gdLst/>
              <a:ahLst/>
              <a:cxnLst/>
              <a:rect r="r" b="b" t="t" l="l"/>
              <a:pathLst>
                <a:path h="565196" w="452183">
                  <a:moveTo>
                    <a:pt x="0" y="0"/>
                  </a:moveTo>
                  <a:lnTo>
                    <a:pt x="452183" y="0"/>
                  </a:lnTo>
                  <a:lnTo>
                    <a:pt x="452183" y="565196"/>
                  </a:lnTo>
                  <a:lnTo>
                    <a:pt x="0" y="565196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-110371" t="0" r="-110371" b="0"/>
              </a:stretch>
            </a:blipFill>
          </p:spPr>
        </p:sp>
        <p:sp>
          <p:nvSpPr>
            <p:cNvPr name="TextBox 62" id="62"/>
            <p:cNvSpPr txBox="true"/>
            <p:nvPr/>
          </p:nvSpPr>
          <p:spPr>
            <a:xfrm>
              <a:off x="0" y="0"/>
              <a:ext cx="452183" cy="56520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152"/>
                </a:lnSpc>
              </a:pPr>
              <a:r>
                <a:rPr lang="en-US" b="true" sz="2627" spc="-79">
                  <a:solidFill>
                    <a:srgbClr val="272525"/>
                  </a:solidFill>
                  <a:latin typeface="Inter Bold"/>
                  <a:ea typeface="Inter Bold"/>
                  <a:cs typeface="Inter Bold"/>
                  <a:sym typeface="Inter Bold"/>
                </a:rPr>
                <a:t>6</a:t>
              </a:r>
            </a:p>
          </p:txBody>
        </p:sp>
      </p:grpSp>
      <p:sp>
        <p:nvSpPr>
          <p:cNvPr name="TextBox 63" id="63"/>
          <p:cNvSpPr txBox="true"/>
          <p:nvPr/>
        </p:nvSpPr>
        <p:spPr>
          <a:xfrm rot="0">
            <a:off x="10281380" y="7684799"/>
            <a:ext cx="7027469" cy="3628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16"/>
              </a:lnSpc>
            </a:pPr>
            <a:r>
              <a:rPr lang="en-US" b="true" sz="2176" spc="-66">
                <a:solidFill>
                  <a:srgbClr val="272525"/>
                </a:solidFill>
                <a:latin typeface="Inter Bold"/>
                <a:ea typeface="Inter Bold"/>
                <a:cs typeface="Inter Bold"/>
                <a:sym typeface="Inter Bold"/>
              </a:rPr>
              <a:t>Capstone</a:t>
            </a:r>
          </a:p>
        </p:txBody>
      </p:sp>
      <p:sp>
        <p:nvSpPr>
          <p:cNvPr name="TextBox 64" id="64"/>
          <p:cNvSpPr txBox="true"/>
          <p:nvPr/>
        </p:nvSpPr>
        <p:spPr>
          <a:xfrm rot="0">
            <a:off x="10281380" y="8117500"/>
            <a:ext cx="7027469" cy="6880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85"/>
              </a:lnSpc>
            </a:pPr>
            <a:r>
              <a:rPr lang="en-US" sz="1726" spc="-36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Industrial AI/GenAI Solution — full architecture, cloud deployment, CI/CD, monitoring</a:t>
            </a:r>
          </a:p>
        </p:txBody>
      </p:sp>
      <p:grpSp>
        <p:nvGrpSpPr>
          <p:cNvPr name="Group 65" id="65"/>
          <p:cNvGrpSpPr/>
          <p:nvPr/>
        </p:nvGrpSpPr>
        <p:grpSpPr>
          <a:xfrm rot="0">
            <a:off x="3325248" y="3538527"/>
            <a:ext cx="11896794" cy="3217985"/>
            <a:chOff x="0" y="0"/>
            <a:chExt cx="1549400" cy="419100"/>
          </a:xfrm>
        </p:grpSpPr>
        <p:sp>
          <p:nvSpPr>
            <p:cNvPr name="Freeform 66" id="66"/>
            <p:cNvSpPr/>
            <p:nvPr/>
          </p:nvSpPr>
          <p:spPr>
            <a:xfrm flipH="false" flipV="false" rot="0">
              <a:off x="0" y="0"/>
              <a:ext cx="1549400" cy="419100"/>
            </a:xfrm>
            <a:custGeom>
              <a:avLst/>
              <a:gdLst/>
              <a:ahLst/>
              <a:cxnLst/>
              <a:rect r="r" b="b" t="t" l="l"/>
              <a:pathLst>
                <a:path h="419100" w="1549400">
                  <a:moveTo>
                    <a:pt x="0" y="0"/>
                  </a:moveTo>
                  <a:lnTo>
                    <a:pt x="1549400" y="0"/>
                  </a:lnTo>
                  <a:lnTo>
                    <a:pt x="1549400" y="419100"/>
                  </a:lnTo>
                  <a:lnTo>
                    <a:pt x="0" y="4191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>
                <a:alphaModFix amt="6000"/>
              </a:blip>
              <a:stretch>
                <a:fillRect l="0" t="0" r="-8196" b="-66666"/>
              </a:stretch>
            </a:blipFill>
          </p:spPr>
        </p:sp>
      </p:grp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301840" cy="10295039"/>
            <a:chOff x="0" y="0"/>
            <a:chExt cx="24402453" cy="1372671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0241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F6F4F4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301840" cy="10295039"/>
            <a:chOff x="0" y="0"/>
            <a:chExt cx="24402453" cy="1372671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40241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16628307" y="9846183"/>
            <a:ext cx="1609020" cy="384353"/>
            <a:chOff x="0" y="0"/>
            <a:chExt cx="2145360" cy="512470"/>
          </a:xfrm>
        </p:grpSpPr>
        <p:sp>
          <p:nvSpPr>
            <p:cNvPr name="Freeform 7" id="7" descr="preencoded.png">
              <a:hlinkClick r:id="rId3" tooltip="https://gamma.app/?utm_source=made-with-gamma"/>
            </p:cNvPr>
            <p:cNvSpPr/>
            <p:nvPr/>
          </p:nvSpPr>
          <p:spPr>
            <a:xfrm flipH="false" flipV="false" rot="0">
              <a:off x="0" y="0"/>
              <a:ext cx="2145411" cy="512445"/>
            </a:xfrm>
            <a:custGeom>
              <a:avLst/>
              <a:gdLst/>
              <a:ahLst/>
              <a:cxnLst/>
              <a:rect r="r" b="b" t="t" l="l"/>
              <a:pathLst>
                <a:path h="512445" w="2145411">
                  <a:moveTo>
                    <a:pt x="0" y="0"/>
                  </a:moveTo>
                  <a:lnTo>
                    <a:pt x="2145411" y="0"/>
                  </a:lnTo>
                  <a:lnTo>
                    <a:pt x="2145411" y="512445"/>
                  </a:lnTo>
                  <a:lnTo>
                    <a:pt x="0" y="51244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2" b="-4"/>
              </a:stretch>
            </a:blipFill>
          </p:spPr>
        </p:sp>
      </p:grpSp>
      <p:sp>
        <p:nvSpPr>
          <p:cNvPr name="TextBox 8" id="8"/>
          <p:cNvSpPr txBox="true"/>
          <p:nvPr/>
        </p:nvSpPr>
        <p:spPr>
          <a:xfrm rot="0">
            <a:off x="992991" y="818617"/>
            <a:ext cx="16315868" cy="14108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620"/>
              </a:lnSpc>
            </a:pPr>
            <a:r>
              <a:rPr lang="en-US" b="true" sz="4503" spc="-136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MODULE 6: Industrial Training, Assessment &amp; Technology Stack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992991" y="2737171"/>
            <a:ext cx="7876727" cy="379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10"/>
              </a:lnSpc>
            </a:pPr>
            <a:r>
              <a:rPr lang="en-US" b="true" sz="2251" spc="-67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Industrial Training &amp; Assessment</a:t>
            </a:r>
          </a:p>
        </p:txBody>
      </p:sp>
      <p:grpSp>
        <p:nvGrpSpPr>
          <p:cNvPr name="Group 10" id="10"/>
          <p:cNvGrpSpPr/>
          <p:nvPr/>
        </p:nvGrpSpPr>
        <p:grpSpPr>
          <a:xfrm rot="0">
            <a:off x="1079449" y="3370164"/>
            <a:ext cx="345691" cy="432235"/>
            <a:chOff x="0" y="0"/>
            <a:chExt cx="460921" cy="576313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460922" cy="576316"/>
            </a:xfrm>
            <a:custGeom>
              <a:avLst/>
              <a:gdLst/>
              <a:ahLst/>
              <a:cxnLst/>
              <a:rect r="r" b="b" t="t" l="l"/>
              <a:pathLst>
                <a:path h="576316" w="460922">
                  <a:moveTo>
                    <a:pt x="0" y="0"/>
                  </a:moveTo>
                  <a:lnTo>
                    <a:pt x="460922" y="0"/>
                  </a:lnTo>
                  <a:lnTo>
                    <a:pt x="460922" y="576316"/>
                  </a:lnTo>
                  <a:lnTo>
                    <a:pt x="0" y="576316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-110424" t="0" r="-110424" b="0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0"/>
              <a:ext cx="460921" cy="57631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242"/>
                </a:lnSpc>
              </a:pPr>
              <a:r>
                <a:rPr lang="en-US" b="true" sz="2702" spc="-81">
                  <a:solidFill>
                    <a:srgbClr val="4950BC"/>
                  </a:solidFill>
                  <a:latin typeface="Inter Bold"/>
                  <a:ea typeface="Inter Bold"/>
                  <a:cs typeface="Inter Bold"/>
                  <a:sym typeface="Inter Bold"/>
                </a:rPr>
                <a:t>1</a:t>
              </a:r>
            </a:p>
          </p:txBody>
        </p:sp>
      </p:grpSp>
      <p:sp>
        <p:nvSpPr>
          <p:cNvPr name="TextBox 13" id="13"/>
          <p:cNvSpPr txBox="true"/>
          <p:nvPr/>
        </p:nvSpPr>
        <p:spPr>
          <a:xfrm rot="0">
            <a:off x="1698822" y="3387166"/>
            <a:ext cx="7170906" cy="10994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10"/>
              </a:lnSpc>
            </a:pPr>
            <a:r>
              <a:rPr lang="en-US" b="true" sz="2251" spc="-67">
                <a:solidFill>
                  <a:srgbClr val="272525"/>
                </a:solidFill>
                <a:latin typeface="Inter Bold"/>
                <a:ea typeface="Inter Bold"/>
                <a:cs typeface="Inter Bold"/>
                <a:sym typeface="Inter Bold"/>
              </a:rPr>
              <a:t>Requirement analysis, data lifecycle, model lifecycle, GenAI lifecycle, production readiness review, engineering standards</a:t>
            </a:r>
          </a:p>
        </p:txBody>
      </p:sp>
      <p:grpSp>
        <p:nvGrpSpPr>
          <p:cNvPr name="Group 14" id="14"/>
          <p:cNvGrpSpPr/>
          <p:nvPr/>
        </p:nvGrpSpPr>
        <p:grpSpPr>
          <a:xfrm rot="0">
            <a:off x="1079449" y="4904442"/>
            <a:ext cx="345691" cy="432235"/>
            <a:chOff x="0" y="0"/>
            <a:chExt cx="460921" cy="576313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460922" cy="576316"/>
            </a:xfrm>
            <a:custGeom>
              <a:avLst/>
              <a:gdLst/>
              <a:ahLst/>
              <a:cxnLst/>
              <a:rect r="r" b="b" t="t" l="l"/>
              <a:pathLst>
                <a:path h="576316" w="460922">
                  <a:moveTo>
                    <a:pt x="0" y="0"/>
                  </a:moveTo>
                  <a:lnTo>
                    <a:pt x="460922" y="0"/>
                  </a:lnTo>
                  <a:lnTo>
                    <a:pt x="460922" y="576316"/>
                  </a:lnTo>
                  <a:lnTo>
                    <a:pt x="0" y="576316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-110424" t="0" r="-110424" b="0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0"/>
              <a:ext cx="460921" cy="57631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242"/>
                </a:lnSpc>
              </a:pPr>
              <a:r>
                <a:rPr lang="en-US" b="true" sz="2702" spc="-81">
                  <a:solidFill>
                    <a:srgbClr val="4950BC"/>
                  </a:solidFill>
                  <a:latin typeface="Inter Bold"/>
                  <a:ea typeface="Inter Bold"/>
                  <a:cs typeface="Inter Bold"/>
                  <a:sym typeface="Inter Bold"/>
                </a:rPr>
                <a:t>2</a:t>
              </a:r>
            </a:p>
          </p:txBody>
        </p:sp>
      </p:grpSp>
      <p:sp>
        <p:nvSpPr>
          <p:cNvPr name="TextBox 17" id="17"/>
          <p:cNvSpPr txBox="true"/>
          <p:nvPr/>
        </p:nvSpPr>
        <p:spPr>
          <a:xfrm rot="0">
            <a:off x="1698822" y="4921434"/>
            <a:ext cx="7170906" cy="14596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10"/>
              </a:lnSpc>
            </a:pPr>
            <a:r>
              <a:rPr lang="en-US" b="true" sz="2251" spc="-67">
                <a:solidFill>
                  <a:srgbClr val="272525"/>
                </a:solidFill>
                <a:latin typeface="Inter Bold"/>
                <a:ea typeface="Inter Bold"/>
                <a:cs typeface="Inter Bold"/>
                <a:sym typeface="Inter Bold"/>
              </a:rPr>
              <a:t>Conceptual understanding of AI/ML/DL/GenAI; ability to clean/analyze data, select/train/tune models, build LLM applications, expose production APIs, containerize/deploy/monitor applications</a:t>
            </a:r>
          </a:p>
        </p:txBody>
      </p:sp>
      <p:grpSp>
        <p:nvGrpSpPr>
          <p:cNvPr name="Group 18" id="18"/>
          <p:cNvGrpSpPr/>
          <p:nvPr/>
        </p:nvGrpSpPr>
        <p:grpSpPr>
          <a:xfrm rot="0">
            <a:off x="1079449" y="6798869"/>
            <a:ext cx="345691" cy="432235"/>
            <a:chOff x="0" y="0"/>
            <a:chExt cx="460921" cy="576313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460922" cy="576316"/>
            </a:xfrm>
            <a:custGeom>
              <a:avLst/>
              <a:gdLst/>
              <a:ahLst/>
              <a:cxnLst/>
              <a:rect r="r" b="b" t="t" l="l"/>
              <a:pathLst>
                <a:path h="576316" w="460922">
                  <a:moveTo>
                    <a:pt x="0" y="0"/>
                  </a:moveTo>
                  <a:lnTo>
                    <a:pt x="460922" y="0"/>
                  </a:lnTo>
                  <a:lnTo>
                    <a:pt x="460922" y="576316"/>
                  </a:lnTo>
                  <a:lnTo>
                    <a:pt x="0" y="576316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-110424" t="0" r="-110424" b="0"/>
              </a:stretch>
            </a:blipFill>
          </p:spPr>
        </p:sp>
        <p:sp>
          <p:nvSpPr>
            <p:cNvPr name="TextBox 20" id="20"/>
            <p:cNvSpPr txBox="true"/>
            <p:nvPr/>
          </p:nvSpPr>
          <p:spPr>
            <a:xfrm>
              <a:off x="0" y="0"/>
              <a:ext cx="460921" cy="57631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242"/>
                </a:lnSpc>
              </a:pPr>
              <a:r>
                <a:rPr lang="en-US" b="true" sz="2702" spc="-81">
                  <a:solidFill>
                    <a:srgbClr val="4950BC"/>
                  </a:solidFill>
                  <a:latin typeface="Inter Bold"/>
                  <a:ea typeface="Inter Bold"/>
                  <a:cs typeface="Inter Bold"/>
                  <a:sym typeface="Inter Bold"/>
                </a:rPr>
                <a:t>3</a:t>
              </a:r>
            </a:p>
          </p:txBody>
        </p:sp>
      </p:grpSp>
      <p:sp>
        <p:nvSpPr>
          <p:cNvPr name="TextBox 21" id="21"/>
          <p:cNvSpPr txBox="true"/>
          <p:nvPr/>
        </p:nvSpPr>
        <p:spPr>
          <a:xfrm rot="0">
            <a:off x="1698822" y="6815861"/>
            <a:ext cx="7170906" cy="14596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10"/>
              </a:lnSpc>
            </a:pPr>
            <a:r>
              <a:rPr lang="en-US" b="true" sz="2251" spc="-67">
                <a:solidFill>
                  <a:srgbClr val="272525"/>
                </a:solidFill>
                <a:latin typeface="Inter Bold"/>
                <a:ea typeface="Inter Bold"/>
                <a:cs typeface="Inter Bold"/>
                <a:sym typeface="Inter Bold"/>
              </a:rPr>
              <a:t>Professional deliverables: architecture diagram, README, API docs, test report, model/LLM evaluation report, deployment guide, documented end-to-end capstone with reproducible code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9441656" y="2737171"/>
            <a:ext cx="7876727" cy="379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10"/>
              </a:lnSpc>
            </a:pPr>
            <a:r>
              <a:rPr lang="en-US" b="true" sz="2251" spc="-67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Recommended Technology Stack</a:t>
            </a:r>
          </a:p>
        </p:txBody>
      </p:sp>
      <p:grpSp>
        <p:nvGrpSpPr>
          <p:cNvPr name="Group 23" id="23"/>
          <p:cNvGrpSpPr/>
          <p:nvPr/>
        </p:nvGrpSpPr>
        <p:grpSpPr>
          <a:xfrm rot="0">
            <a:off x="9427359" y="3312671"/>
            <a:ext cx="3873351" cy="1762458"/>
            <a:chOff x="0" y="0"/>
            <a:chExt cx="5164468" cy="2349944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5164455" cy="2349881"/>
            </a:xfrm>
            <a:custGeom>
              <a:avLst/>
              <a:gdLst/>
              <a:ahLst/>
              <a:cxnLst/>
              <a:rect r="r" b="b" t="t" l="l"/>
              <a:pathLst>
                <a:path h="2349881" w="5164455">
                  <a:moveTo>
                    <a:pt x="0" y="131191"/>
                  </a:moveTo>
                  <a:cubicBezTo>
                    <a:pt x="0" y="58801"/>
                    <a:pt x="58801" y="0"/>
                    <a:pt x="131191" y="0"/>
                  </a:cubicBezTo>
                  <a:lnTo>
                    <a:pt x="5033264" y="0"/>
                  </a:lnTo>
                  <a:cubicBezTo>
                    <a:pt x="5105781" y="0"/>
                    <a:pt x="5164455" y="58801"/>
                    <a:pt x="5164455" y="131191"/>
                  </a:cubicBezTo>
                  <a:lnTo>
                    <a:pt x="5164455" y="2218690"/>
                  </a:lnTo>
                  <a:cubicBezTo>
                    <a:pt x="5164455" y="2291207"/>
                    <a:pt x="5105654" y="2349881"/>
                    <a:pt x="5033264" y="2349881"/>
                  </a:cubicBezTo>
                  <a:lnTo>
                    <a:pt x="131191" y="2349881"/>
                  </a:lnTo>
                  <a:cubicBezTo>
                    <a:pt x="58801" y="2350008"/>
                    <a:pt x="0" y="2291207"/>
                    <a:pt x="0" y="2218690"/>
                  </a:cubicBezTo>
                  <a:close/>
                </a:path>
              </a:pathLst>
            </a:custGeom>
            <a:solidFill>
              <a:srgbClr val="FFFFFF"/>
            </a:solidFill>
            <a:ln w="28597" cap="sq">
              <a:solidFill>
                <a:srgbClr val="C0C1D7"/>
              </a:solidFill>
              <a:prstDash val="solid"/>
              <a:miter/>
            </a:ln>
          </p:spPr>
        </p:sp>
      </p:grpSp>
      <p:sp>
        <p:nvSpPr>
          <p:cNvPr name="TextBox 25" id="25"/>
          <p:cNvSpPr txBox="true"/>
          <p:nvPr/>
        </p:nvSpPr>
        <p:spPr>
          <a:xfrm rot="0">
            <a:off x="9700660" y="3566941"/>
            <a:ext cx="3326740" cy="379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10"/>
              </a:lnSpc>
            </a:pPr>
            <a:r>
              <a:rPr lang="en-US" b="true" sz="2251" spc="-67">
                <a:solidFill>
                  <a:srgbClr val="272525"/>
                </a:solidFill>
                <a:latin typeface="Inter Bold"/>
                <a:ea typeface="Inter Bold"/>
                <a:cs typeface="Inter Bold"/>
                <a:sym typeface="Inter Bold"/>
              </a:rPr>
              <a:t>Core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9700660" y="4085730"/>
            <a:ext cx="3326740" cy="3818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15"/>
              </a:lnSpc>
            </a:pPr>
            <a:r>
              <a:rPr lang="en-US" sz="1801" spc="-36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Python · SQL · Git</a:t>
            </a:r>
          </a:p>
        </p:txBody>
      </p:sp>
      <p:grpSp>
        <p:nvGrpSpPr>
          <p:cNvPr name="Group 27" id="27"/>
          <p:cNvGrpSpPr/>
          <p:nvPr/>
        </p:nvGrpSpPr>
        <p:grpSpPr>
          <a:xfrm rot="0">
            <a:off x="13459330" y="3312671"/>
            <a:ext cx="3873351" cy="1762458"/>
            <a:chOff x="0" y="0"/>
            <a:chExt cx="5164468" cy="2349944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5164455" cy="2349881"/>
            </a:xfrm>
            <a:custGeom>
              <a:avLst/>
              <a:gdLst/>
              <a:ahLst/>
              <a:cxnLst/>
              <a:rect r="r" b="b" t="t" l="l"/>
              <a:pathLst>
                <a:path h="2349881" w="5164455">
                  <a:moveTo>
                    <a:pt x="0" y="131191"/>
                  </a:moveTo>
                  <a:cubicBezTo>
                    <a:pt x="0" y="58801"/>
                    <a:pt x="58801" y="0"/>
                    <a:pt x="131191" y="0"/>
                  </a:cubicBezTo>
                  <a:lnTo>
                    <a:pt x="5033264" y="0"/>
                  </a:lnTo>
                  <a:cubicBezTo>
                    <a:pt x="5105781" y="0"/>
                    <a:pt x="5164455" y="58801"/>
                    <a:pt x="5164455" y="131191"/>
                  </a:cubicBezTo>
                  <a:lnTo>
                    <a:pt x="5164455" y="2218690"/>
                  </a:lnTo>
                  <a:cubicBezTo>
                    <a:pt x="5164455" y="2291207"/>
                    <a:pt x="5105654" y="2349881"/>
                    <a:pt x="5033264" y="2349881"/>
                  </a:cubicBezTo>
                  <a:lnTo>
                    <a:pt x="131191" y="2349881"/>
                  </a:lnTo>
                  <a:cubicBezTo>
                    <a:pt x="58801" y="2350008"/>
                    <a:pt x="0" y="2291207"/>
                    <a:pt x="0" y="2218690"/>
                  </a:cubicBezTo>
                  <a:close/>
                </a:path>
              </a:pathLst>
            </a:custGeom>
            <a:solidFill>
              <a:srgbClr val="FFFFFF"/>
            </a:solidFill>
            <a:ln w="28597" cap="sq">
              <a:solidFill>
                <a:srgbClr val="C0C1D7"/>
              </a:solidFill>
              <a:prstDash val="solid"/>
              <a:miter/>
            </a:ln>
          </p:spPr>
        </p:sp>
      </p:grpSp>
      <p:sp>
        <p:nvSpPr>
          <p:cNvPr name="TextBox 29" id="29"/>
          <p:cNvSpPr txBox="true"/>
          <p:nvPr/>
        </p:nvSpPr>
        <p:spPr>
          <a:xfrm rot="0">
            <a:off x="13732640" y="3566941"/>
            <a:ext cx="3326740" cy="379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10"/>
              </a:lnSpc>
            </a:pPr>
            <a:r>
              <a:rPr lang="en-US" b="true" sz="2251" spc="-67">
                <a:solidFill>
                  <a:srgbClr val="272525"/>
                </a:solidFill>
                <a:latin typeface="Inter Bold"/>
                <a:ea typeface="Inter Bold"/>
                <a:cs typeface="Inter Bold"/>
                <a:sym typeface="Inter Bold"/>
              </a:rPr>
              <a:t>Data &amp; Viz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13732640" y="4085730"/>
            <a:ext cx="3326740" cy="7160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15"/>
              </a:lnSpc>
            </a:pPr>
            <a:r>
              <a:rPr lang="en-US" sz="1801" spc="-36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NumPy · Pandas · Matplotlib · Seaborn</a:t>
            </a:r>
          </a:p>
        </p:txBody>
      </p:sp>
      <p:grpSp>
        <p:nvGrpSpPr>
          <p:cNvPr name="Group 31" id="31"/>
          <p:cNvGrpSpPr/>
          <p:nvPr/>
        </p:nvGrpSpPr>
        <p:grpSpPr>
          <a:xfrm rot="0">
            <a:off x="9427359" y="5233759"/>
            <a:ext cx="3873351" cy="2430923"/>
            <a:chOff x="0" y="0"/>
            <a:chExt cx="5164468" cy="324123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5164455" cy="3241294"/>
            </a:xfrm>
            <a:custGeom>
              <a:avLst/>
              <a:gdLst/>
              <a:ahLst/>
              <a:cxnLst/>
              <a:rect r="r" b="b" t="t" l="l"/>
              <a:pathLst>
                <a:path h="3241294" w="5164455">
                  <a:moveTo>
                    <a:pt x="0" y="130683"/>
                  </a:moveTo>
                  <a:cubicBezTo>
                    <a:pt x="0" y="58547"/>
                    <a:pt x="58547" y="0"/>
                    <a:pt x="130683" y="0"/>
                  </a:cubicBezTo>
                  <a:lnTo>
                    <a:pt x="5033772" y="0"/>
                  </a:lnTo>
                  <a:cubicBezTo>
                    <a:pt x="5105908" y="0"/>
                    <a:pt x="5164455" y="58547"/>
                    <a:pt x="5164455" y="130683"/>
                  </a:cubicBezTo>
                  <a:lnTo>
                    <a:pt x="5164455" y="3110611"/>
                  </a:lnTo>
                  <a:cubicBezTo>
                    <a:pt x="5164455" y="3182747"/>
                    <a:pt x="5105908" y="3241294"/>
                    <a:pt x="5033772" y="3241294"/>
                  </a:cubicBezTo>
                  <a:lnTo>
                    <a:pt x="130683" y="3241294"/>
                  </a:lnTo>
                  <a:cubicBezTo>
                    <a:pt x="58547" y="3241167"/>
                    <a:pt x="0" y="3182747"/>
                    <a:pt x="0" y="3110611"/>
                  </a:cubicBezTo>
                  <a:close/>
                </a:path>
              </a:pathLst>
            </a:custGeom>
            <a:solidFill>
              <a:srgbClr val="FFFFFF"/>
            </a:solidFill>
            <a:ln w="28597" cap="sq">
              <a:solidFill>
                <a:srgbClr val="C0C1D7"/>
              </a:solidFill>
              <a:prstDash val="solid"/>
              <a:miter/>
            </a:ln>
          </p:spPr>
        </p:sp>
      </p:grpSp>
      <p:sp>
        <p:nvSpPr>
          <p:cNvPr name="TextBox 33" id="33"/>
          <p:cNvSpPr txBox="true"/>
          <p:nvPr/>
        </p:nvSpPr>
        <p:spPr>
          <a:xfrm rot="0">
            <a:off x="9700660" y="5488019"/>
            <a:ext cx="3326740" cy="379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10"/>
              </a:lnSpc>
            </a:pPr>
            <a:r>
              <a:rPr lang="en-US" b="true" sz="2251" spc="-67">
                <a:solidFill>
                  <a:srgbClr val="272525"/>
                </a:solidFill>
                <a:latin typeface="Inter Bold"/>
                <a:ea typeface="Inter Bold"/>
                <a:cs typeface="Inter Bold"/>
                <a:sym typeface="Inter Bold"/>
              </a:rPr>
              <a:t>ML &amp; DL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9700660" y="6006817"/>
            <a:ext cx="3326740" cy="13845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15"/>
              </a:lnSpc>
            </a:pPr>
            <a:r>
              <a:rPr lang="en-US" sz="1801" spc="-36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Scikit-learn · XGBoost/LightGBM · PyTorch/TensorFlow · Transformers</a:t>
            </a:r>
          </a:p>
        </p:txBody>
      </p:sp>
      <p:grpSp>
        <p:nvGrpSpPr>
          <p:cNvPr name="Group 35" id="35"/>
          <p:cNvGrpSpPr/>
          <p:nvPr/>
        </p:nvGrpSpPr>
        <p:grpSpPr>
          <a:xfrm rot="0">
            <a:off x="13459330" y="5233759"/>
            <a:ext cx="3873351" cy="2430923"/>
            <a:chOff x="0" y="0"/>
            <a:chExt cx="5164468" cy="3241230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5164455" cy="3241294"/>
            </a:xfrm>
            <a:custGeom>
              <a:avLst/>
              <a:gdLst/>
              <a:ahLst/>
              <a:cxnLst/>
              <a:rect r="r" b="b" t="t" l="l"/>
              <a:pathLst>
                <a:path h="3241294" w="5164455">
                  <a:moveTo>
                    <a:pt x="0" y="130683"/>
                  </a:moveTo>
                  <a:cubicBezTo>
                    <a:pt x="0" y="58547"/>
                    <a:pt x="58547" y="0"/>
                    <a:pt x="130683" y="0"/>
                  </a:cubicBezTo>
                  <a:lnTo>
                    <a:pt x="5033772" y="0"/>
                  </a:lnTo>
                  <a:cubicBezTo>
                    <a:pt x="5105908" y="0"/>
                    <a:pt x="5164455" y="58547"/>
                    <a:pt x="5164455" y="130683"/>
                  </a:cubicBezTo>
                  <a:lnTo>
                    <a:pt x="5164455" y="3110611"/>
                  </a:lnTo>
                  <a:cubicBezTo>
                    <a:pt x="5164455" y="3182747"/>
                    <a:pt x="5105908" y="3241294"/>
                    <a:pt x="5033772" y="3241294"/>
                  </a:cubicBezTo>
                  <a:lnTo>
                    <a:pt x="130683" y="3241294"/>
                  </a:lnTo>
                  <a:cubicBezTo>
                    <a:pt x="58547" y="3241167"/>
                    <a:pt x="0" y="3182747"/>
                    <a:pt x="0" y="3110611"/>
                  </a:cubicBezTo>
                  <a:close/>
                </a:path>
              </a:pathLst>
            </a:custGeom>
            <a:solidFill>
              <a:srgbClr val="FFFFFF"/>
            </a:solidFill>
            <a:ln w="28597" cap="sq">
              <a:solidFill>
                <a:srgbClr val="C0C1D7"/>
              </a:solidFill>
              <a:prstDash val="solid"/>
              <a:miter/>
            </a:ln>
          </p:spPr>
        </p:sp>
      </p:grpSp>
      <p:sp>
        <p:nvSpPr>
          <p:cNvPr name="TextBox 37" id="37"/>
          <p:cNvSpPr txBox="true"/>
          <p:nvPr/>
        </p:nvSpPr>
        <p:spPr>
          <a:xfrm rot="0">
            <a:off x="13732640" y="5488019"/>
            <a:ext cx="3326740" cy="379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10"/>
              </a:lnSpc>
            </a:pPr>
            <a:r>
              <a:rPr lang="en-US" b="true" sz="2251" spc="-67">
                <a:solidFill>
                  <a:srgbClr val="272525"/>
                </a:solidFill>
                <a:latin typeface="Inter Bold"/>
                <a:ea typeface="Inter Bold"/>
                <a:cs typeface="Inter Bold"/>
                <a:sym typeface="Inter Bold"/>
              </a:rPr>
              <a:t>Production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13732640" y="6006817"/>
            <a:ext cx="3326740" cy="7160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15"/>
              </a:lnSpc>
            </a:pPr>
            <a:r>
              <a:rPr lang="en-US" sz="1801" spc="-36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FastAPI · Docker · MLflow · PostgreSQL · Pytest</a:t>
            </a:r>
          </a:p>
        </p:txBody>
      </p:sp>
      <p:grpSp>
        <p:nvGrpSpPr>
          <p:cNvPr name="Group 39" id="39"/>
          <p:cNvGrpSpPr/>
          <p:nvPr/>
        </p:nvGrpSpPr>
        <p:grpSpPr>
          <a:xfrm rot="0">
            <a:off x="9427359" y="7823311"/>
            <a:ext cx="7905331" cy="1428226"/>
            <a:chOff x="0" y="0"/>
            <a:chExt cx="10540441" cy="1904302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10540365" cy="1904238"/>
            </a:xfrm>
            <a:custGeom>
              <a:avLst/>
              <a:gdLst/>
              <a:ahLst/>
              <a:cxnLst/>
              <a:rect r="r" b="b" t="t" l="l"/>
              <a:pathLst>
                <a:path h="1904238" w="10540365">
                  <a:moveTo>
                    <a:pt x="0" y="131699"/>
                  </a:moveTo>
                  <a:cubicBezTo>
                    <a:pt x="0" y="58928"/>
                    <a:pt x="58928" y="0"/>
                    <a:pt x="131699" y="0"/>
                  </a:cubicBezTo>
                  <a:lnTo>
                    <a:pt x="10408666" y="0"/>
                  </a:lnTo>
                  <a:cubicBezTo>
                    <a:pt x="10481437" y="0"/>
                    <a:pt x="10540365" y="58928"/>
                    <a:pt x="10540365" y="131699"/>
                  </a:cubicBezTo>
                  <a:lnTo>
                    <a:pt x="10540365" y="1772539"/>
                  </a:lnTo>
                  <a:cubicBezTo>
                    <a:pt x="10540365" y="1845310"/>
                    <a:pt x="10481437" y="1904238"/>
                    <a:pt x="10408666" y="1904238"/>
                  </a:cubicBezTo>
                  <a:lnTo>
                    <a:pt x="131699" y="1904238"/>
                  </a:lnTo>
                  <a:cubicBezTo>
                    <a:pt x="58928" y="1904365"/>
                    <a:pt x="0" y="1845310"/>
                    <a:pt x="0" y="1772539"/>
                  </a:cubicBezTo>
                  <a:close/>
                </a:path>
              </a:pathLst>
            </a:custGeom>
            <a:solidFill>
              <a:srgbClr val="FFFFFF"/>
            </a:solidFill>
            <a:ln w="28597" cap="sq">
              <a:solidFill>
                <a:srgbClr val="C0C1D7"/>
              </a:solidFill>
              <a:prstDash val="solid"/>
              <a:miter/>
            </a:ln>
          </p:spPr>
        </p:sp>
      </p:grpSp>
      <p:sp>
        <p:nvSpPr>
          <p:cNvPr name="TextBox 41" id="41"/>
          <p:cNvSpPr txBox="true"/>
          <p:nvPr/>
        </p:nvSpPr>
        <p:spPr>
          <a:xfrm rot="0">
            <a:off x="9700660" y="8077571"/>
            <a:ext cx="7358720" cy="379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10"/>
              </a:lnSpc>
            </a:pPr>
            <a:r>
              <a:rPr lang="en-US" b="true" sz="2251" spc="-67">
                <a:solidFill>
                  <a:srgbClr val="272525"/>
                </a:solidFill>
                <a:latin typeface="Inter Bold"/>
                <a:ea typeface="Inter Bold"/>
                <a:cs typeface="Inter Bold"/>
                <a:sym typeface="Inter Bold"/>
              </a:rPr>
              <a:t>Cloud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9700660" y="8596370"/>
            <a:ext cx="7358720" cy="3818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15"/>
              </a:lnSpc>
            </a:pPr>
            <a:r>
              <a:rPr lang="en-US" sz="1801" spc="-36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AWS / Azure / GCP</a:t>
            </a:r>
          </a:p>
        </p:txBody>
      </p:sp>
      <p:grpSp>
        <p:nvGrpSpPr>
          <p:cNvPr name="Group 43" id="43"/>
          <p:cNvGrpSpPr/>
          <p:nvPr/>
        </p:nvGrpSpPr>
        <p:grpSpPr>
          <a:xfrm rot="0">
            <a:off x="3325248" y="3538527"/>
            <a:ext cx="11896794" cy="3217985"/>
            <a:chOff x="0" y="0"/>
            <a:chExt cx="1549400" cy="419100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1549400" cy="419100"/>
            </a:xfrm>
            <a:custGeom>
              <a:avLst/>
              <a:gdLst/>
              <a:ahLst/>
              <a:cxnLst/>
              <a:rect r="r" b="b" t="t" l="l"/>
              <a:pathLst>
                <a:path h="419100" w="1549400">
                  <a:moveTo>
                    <a:pt x="0" y="0"/>
                  </a:moveTo>
                  <a:lnTo>
                    <a:pt x="1549400" y="0"/>
                  </a:lnTo>
                  <a:lnTo>
                    <a:pt x="1549400" y="419100"/>
                  </a:lnTo>
                  <a:lnTo>
                    <a:pt x="0" y="4191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>
                <a:alphaModFix amt="6000"/>
              </a:blip>
              <a:stretch>
                <a:fillRect l="0" t="0" r="-8196" b="-66666"/>
              </a:stretch>
            </a:blipFill>
          </p:spPr>
        </p:sp>
      </p:grp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301840" cy="10295039"/>
            <a:chOff x="0" y="0"/>
            <a:chExt cx="24402453" cy="1372671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0241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F6F4F4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28575" y="0"/>
            <a:ext cx="18301840" cy="10295039"/>
            <a:chOff x="0" y="0"/>
            <a:chExt cx="24402453" cy="1372671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40241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0" y="0"/>
            <a:ext cx="6863191" cy="10295039"/>
            <a:chOff x="0" y="0"/>
            <a:chExt cx="9150922" cy="13726719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9150858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9150858">
                  <a:moveTo>
                    <a:pt x="0" y="0"/>
                  </a:moveTo>
                  <a:lnTo>
                    <a:pt x="9150858" y="0"/>
                  </a:lnTo>
                  <a:lnTo>
                    <a:pt x="9150858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DADBF1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141789" y="760962"/>
            <a:ext cx="6579460" cy="8772982"/>
            <a:chOff x="0" y="0"/>
            <a:chExt cx="8772614" cy="11697310"/>
          </a:xfrm>
        </p:grpSpPr>
        <p:sp>
          <p:nvSpPr>
            <p:cNvPr name="Freeform 9" id="9" descr="preencoded.png"/>
            <p:cNvSpPr/>
            <p:nvPr/>
          </p:nvSpPr>
          <p:spPr>
            <a:xfrm flipH="false" flipV="false" rot="0">
              <a:off x="0" y="0"/>
              <a:ext cx="8772652" cy="11697335"/>
            </a:xfrm>
            <a:custGeom>
              <a:avLst/>
              <a:gdLst/>
              <a:ahLst/>
              <a:cxnLst/>
              <a:rect r="r" b="b" t="t" l="l"/>
              <a:pathLst>
                <a:path h="11697335" w="8772652">
                  <a:moveTo>
                    <a:pt x="0" y="0"/>
                  </a:moveTo>
                  <a:lnTo>
                    <a:pt x="8772652" y="0"/>
                  </a:lnTo>
                  <a:lnTo>
                    <a:pt x="8772652" y="11697335"/>
                  </a:lnTo>
                  <a:lnTo>
                    <a:pt x="0" y="1169733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13" r="0" b="-13"/>
              </a:stretch>
            </a:blip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7856182" y="1477108"/>
            <a:ext cx="9452677" cy="9152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931"/>
              </a:lnSpc>
            </a:pPr>
            <a:r>
              <a:rPr lang="en-US" b="true" sz="5554" spc="-168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Start Your Journey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7661358" y="2817886"/>
            <a:ext cx="4788894" cy="5971480"/>
            <a:chOff x="0" y="0"/>
            <a:chExt cx="6385192" cy="7961973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6385179" cy="7962011"/>
            </a:xfrm>
            <a:custGeom>
              <a:avLst/>
              <a:gdLst/>
              <a:ahLst/>
              <a:cxnLst/>
              <a:rect r="r" b="b" t="t" l="l"/>
              <a:pathLst>
                <a:path h="7962011" w="6385179">
                  <a:moveTo>
                    <a:pt x="0" y="272415"/>
                  </a:moveTo>
                  <a:cubicBezTo>
                    <a:pt x="0" y="121920"/>
                    <a:pt x="121920" y="0"/>
                    <a:pt x="272415" y="0"/>
                  </a:cubicBezTo>
                  <a:lnTo>
                    <a:pt x="6112764" y="0"/>
                  </a:lnTo>
                  <a:cubicBezTo>
                    <a:pt x="6263259" y="0"/>
                    <a:pt x="6385179" y="121920"/>
                    <a:pt x="6385179" y="272415"/>
                  </a:cubicBezTo>
                  <a:lnTo>
                    <a:pt x="6385179" y="7689596"/>
                  </a:lnTo>
                  <a:cubicBezTo>
                    <a:pt x="6385179" y="7840090"/>
                    <a:pt x="6263259" y="7962011"/>
                    <a:pt x="6112764" y="7962011"/>
                  </a:cubicBezTo>
                  <a:lnTo>
                    <a:pt x="272415" y="7962011"/>
                  </a:lnTo>
                  <a:cubicBezTo>
                    <a:pt x="121920" y="7962011"/>
                    <a:pt x="0" y="7839964"/>
                    <a:pt x="0" y="7689596"/>
                  </a:cubicBezTo>
                  <a:close/>
                </a:path>
              </a:pathLst>
            </a:custGeom>
            <a:solidFill>
              <a:srgbClr val="4950BC"/>
            </a:solidFill>
          </p:spPr>
        </p:sp>
      </p:grpSp>
      <p:sp>
        <p:nvSpPr>
          <p:cNvPr name="TextBox 13" id="13"/>
          <p:cNvSpPr txBox="true"/>
          <p:nvPr/>
        </p:nvSpPr>
        <p:spPr>
          <a:xfrm rot="0">
            <a:off x="7935563" y="3082566"/>
            <a:ext cx="4221432" cy="4623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65"/>
              </a:lnSpc>
            </a:pPr>
            <a:r>
              <a:rPr lang="en-US" b="true" sz="2777" spc="-84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Program Fee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7935563" y="3800046"/>
            <a:ext cx="4221432" cy="12522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554"/>
              </a:lnSpc>
            </a:pPr>
            <a:r>
              <a:rPr lang="en-US" b="true" sz="7656" spc="-231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₹35,000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7945088" y="5259886"/>
            <a:ext cx="4211907" cy="4048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74"/>
              </a:lnSpc>
            </a:pPr>
            <a:r>
              <a:rPr lang="en-US" sz="2176" spc="-45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EMI options available — 100% 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2938188" y="3082566"/>
            <a:ext cx="4380195" cy="4623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65"/>
              </a:lnSpc>
            </a:pPr>
            <a:r>
              <a:rPr lang="en-US" b="true" sz="2777" spc="-84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Get In Touch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2938189" y="3752421"/>
            <a:ext cx="3377967" cy="12811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74"/>
              </a:lnSpc>
            </a:pPr>
            <a:r>
              <a:rPr lang="en-US" sz="2176" spc="-45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📞</a:t>
            </a:r>
            <a:r>
              <a:rPr lang="en-US" sz="2176" spc="-45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b="true" sz="2176" spc="-45">
                <a:solidFill>
                  <a:srgbClr val="272525"/>
                </a:solidFill>
                <a:latin typeface="Inter Bold"/>
                <a:ea typeface="Inter Bold"/>
                <a:cs typeface="Inter Bold"/>
                <a:sym typeface="Inter Bold"/>
              </a:rPr>
              <a:t>+91-9545450677</a:t>
            </a:r>
            <a:r>
              <a:rPr lang="en-US" sz="2176" spc="-45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 /                    </a:t>
            </a:r>
            <a:r>
              <a:rPr lang="en-US" b="true" sz="2176" spc="-45">
                <a:solidFill>
                  <a:srgbClr val="272525"/>
                </a:solidFill>
                <a:latin typeface="Inter Bold"/>
                <a:ea typeface="Inter Bold"/>
                <a:cs typeface="Inter Bold"/>
                <a:sym typeface="Inter Bold"/>
              </a:rPr>
              <a:t>+91-9545450788 </a:t>
            </a:r>
          </a:p>
          <a:p>
            <a:pPr algn="l">
              <a:lnSpc>
                <a:spcPts val="3474"/>
              </a:lnSpc>
            </a:pPr>
            <a:r>
              <a:rPr lang="en-US" sz="2176" spc="-45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🌐</a:t>
            </a:r>
            <a:r>
              <a:rPr lang="en-US" sz="2176" spc="-45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b="true" sz="2176" spc="-45">
                <a:solidFill>
                  <a:srgbClr val="272525"/>
                </a:solidFill>
                <a:latin typeface="Inter Bold"/>
                <a:ea typeface="Inter Bold"/>
                <a:cs typeface="Inter Bold"/>
                <a:sym typeface="Inter Bold"/>
              </a:rPr>
              <a:t>www.nexusctc.com</a:t>
            </a:r>
          </a:p>
        </p:txBody>
      </p:sp>
      <p:grpSp>
        <p:nvGrpSpPr>
          <p:cNvPr name="Group 18" id="18"/>
          <p:cNvGrpSpPr/>
          <p:nvPr/>
        </p:nvGrpSpPr>
        <p:grpSpPr>
          <a:xfrm rot="0">
            <a:off x="12938188" y="5835939"/>
            <a:ext cx="4380195" cy="38129"/>
            <a:chOff x="0" y="0"/>
            <a:chExt cx="5840260" cy="50838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5840222" cy="50800"/>
            </a:xfrm>
            <a:custGeom>
              <a:avLst/>
              <a:gdLst/>
              <a:ahLst/>
              <a:cxnLst/>
              <a:rect r="r" b="b" t="t" l="l"/>
              <a:pathLst>
                <a:path h="50800" w="5840222">
                  <a:moveTo>
                    <a:pt x="0" y="25400"/>
                  </a:moveTo>
                  <a:cubicBezTo>
                    <a:pt x="0" y="11430"/>
                    <a:pt x="11430" y="0"/>
                    <a:pt x="25400" y="0"/>
                  </a:cubicBezTo>
                  <a:lnTo>
                    <a:pt x="5814822" y="0"/>
                  </a:lnTo>
                  <a:cubicBezTo>
                    <a:pt x="5828919" y="0"/>
                    <a:pt x="5840222" y="11430"/>
                    <a:pt x="5840222" y="25400"/>
                  </a:cubicBezTo>
                  <a:cubicBezTo>
                    <a:pt x="5840222" y="39497"/>
                    <a:pt x="5828792" y="50800"/>
                    <a:pt x="5814822" y="50800"/>
                  </a:cubicBezTo>
                  <a:lnTo>
                    <a:pt x="25400" y="50800"/>
                  </a:lnTo>
                  <a:cubicBezTo>
                    <a:pt x="11430" y="50800"/>
                    <a:pt x="0" y="39497"/>
                    <a:pt x="0" y="25400"/>
                  </a:cubicBezTo>
                  <a:close/>
                </a:path>
              </a:pathLst>
            </a:custGeom>
            <a:solidFill>
              <a:srgbClr val="272525">
                <a:alpha val="24706"/>
              </a:srgbClr>
            </a:solidFill>
          </p:spPr>
        </p:sp>
      </p:grpSp>
      <p:sp>
        <p:nvSpPr>
          <p:cNvPr name="TextBox 20" id="20"/>
          <p:cNvSpPr txBox="true"/>
          <p:nvPr/>
        </p:nvSpPr>
        <p:spPr>
          <a:xfrm rot="0">
            <a:off x="12938188" y="6187954"/>
            <a:ext cx="4380195" cy="23461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74"/>
              </a:lnSpc>
            </a:pPr>
            <a:r>
              <a:rPr lang="en-US" sz="2176" spc="-45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Join </a:t>
            </a:r>
            <a:r>
              <a:rPr lang="en-US" b="true" sz="2176" spc="-45">
                <a:solidFill>
                  <a:srgbClr val="272525"/>
                </a:solidFill>
                <a:latin typeface="Inter Bold"/>
                <a:ea typeface="Inter Bold"/>
                <a:cs typeface="Inter Bold"/>
                <a:sym typeface="Inter Bold"/>
              </a:rPr>
              <a:t>2.5 lakh+</a:t>
            </a:r>
            <a:r>
              <a:rPr lang="en-US" sz="2176" spc="-45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 successful Nexus students who have transformed their careers. Your placement-guaranteed Power BI journey starts today.</a:t>
            </a:r>
          </a:p>
        </p:txBody>
      </p:sp>
      <p:grpSp>
        <p:nvGrpSpPr>
          <p:cNvPr name="Group 21" id="21"/>
          <p:cNvGrpSpPr/>
          <p:nvPr/>
        </p:nvGrpSpPr>
        <p:grpSpPr>
          <a:xfrm rot="0">
            <a:off x="15994363" y="305662"/>
            <a:ext cx="2042156" cy="552386"/>
            <a:chOff x="0" y="0"/>
            <a:chExt cx="1549400" cy="41910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1549400" cy="419100"/>
            </a:xfrm>
            <a:custGeom>
              <a:avLst/>
              <a:gdLst/>
              <a:ahLst/>
              <a:cxnLst/>
              <a:rect r="r" b="b" t="t" l="l"/>
              <a:pathLst>
                <a:path h="419100" w="1549400">
                  <a:moveTo>
                    <a:pt x="0" y="0"/>
                  </a:moveTo>
                  <a:lnTo>
                    <a:pt x="1549400" y="0"/>
                  </a:lnTo>
                  <a:lnTo>
                    <a:pt x="1549400" y="419100"/>
                  </a:lnTo>
                  <a:lnTo>
                    <a:pt x="0" y="4191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-8196" b="-66666"/>
              </a:stretch>
            </a:blipFill>
          </p:spPr>
        </p:sp>
      </p:grpSp>
      <p:grpSp>
        <p:nvGrpSpPr>
          <p:cNvPr name="Group 23" id="23"/>
          <p:cNvGrpSpPr/>
          <p:nvPr/>
        </p:nvGrpSpPr>
        <p:grpSpPr>
          <a:xfrm rot="0">
            <a:off x="3325248" y="3538527"/>
            <a:ext cx="11896794" cy="3217985"/>
            <a:chOff x="0" y="0"/>
            <a:chExt cx="1549400" cy="41910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1549400" cy="419100"/>
            </a:xfrm>
            <a:custGeom>
              <a:avLst/>
              <a:gdLst/>
              <a:ahLst/>
              <a:cxnLst/>
              <a:rect r="r" b="b" t="t" l="l"/>
              <a:pathLst>
                <a:path h="419100" w="1549400">
                  <a:moveTo>
                    <a:pt x="0" y="0"/>
                  </a:moveTo>
                  <a:lnTo>
                    <a:pt x="1549400" y="0"/>
                  </a:lnTo>
                  <a:lnTo>
                    <a:pt x="1549400" y="419100"/>
                  </a:lnTo>
                  <a:lnTo>
                    <a:pt x="0" y="4191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6000"/>
              </a:blip>
              <a:stretch>
                <a:fillRect l="0" t="0" r="-8196" b="-66666"/>
              </a:stretch>
            </a:blipFill>
          </p:spPr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DAHWCcxD9pc</dc:identifier>
  <dcterms:modified xsi:type="dcterms:W3CDTF">2011-08-01T06:04:30Z</dcterms:modified>
  <cp:revision>1</cp:revision>
  <dc:title>Nexus-AI-and-ML-Mastery-Program.pptx</dc:title>
</cp:coreProperties>
</file>